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osanRobotics/doosan-robot2" TargetMode="External"/><Relationship Id="rId3" Type="http://schemas.openxmlformats.org/officeDocument/2006/relationships/hyperlink" Target="https://github.com/DoosanRobotics/doosan-robot-isaac-driver" TargetMode="External"/><Relationship Id="rId4" Type="http://schemas.openxmlformats.org/officeDocument/2006/relationships/hyperlink" Target="https://www.smcusa.com/products/lehr-electric-gripper-for-collaborative-robots~176140" TargetMode="External"/><Relationship Id="rId5" Type="http://schemas.openxmlformats.org/officeDocument/2006/relationships/hyperlink" Target="https://static.smc.eu/binaries/content/assets/smc_global/product-documentation/operation-manuals/en/om_lehr_doc1061274en-1.pdf" TargetMode="External"/><Relationship Id="rId6" Type="http://schemas.openxmlformats.org/officeDocument/2006/relationships/hyperlink" Target="https://github.com/humarobotics-france/doosan-robotiq-modbus" TargetMode="External"/><Relationship Id="rId7" Type="http://schemas.openxmlformats.org/officeDocument/2006/relationships/hyperlink" Target="https://docs.isaacsim.omniverse.nvidia.com/5.1.0/assets/usd_assets_robots.html" TargetMode="External"/><Relationship Id="rId8" Type="http://schemas.openxmlformats.org/officeDocument/2006/relationships/hyperlink" Target="https://www.doosanrobotics.com/en/product-solutions/product/m-series/m1013/" TargetMode="External"/><Relationship Id="rId9" Type="http://schemas.openxmlformats.org/officeDocument/2006/relationships/hyperlink" Target="https://github.com/dlcodnjs817/M1013" TargetMode="External"/><Relationship Id="rId10" Type="http://schemas.openxmlformats.org/officeDocument/2006/relationships/hyperlink" Target="https://github.com/dlcodnjs817/tx90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2000" y="1800000"/>
            <a:ext cx="10620000" cy="3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맑은 고딕"/>
              </a:rPr>
              <a:t>OMX → Doosan M1013 전이</a:t>
            </a:r>
          </a:p>
          <a:p>
            <a:pPr>
              <a:spcBef>
                <a:spcPts val="600"/>
              </a:spcBef>
            </a:pPr>
            <a:r>
              <a:rPr sz="1900" b="0">
                <a:solidFill>
                  <a:srgbClr val="B9C2F0"/>
                </a:solidFill>
                <a:latin typeface="맑은 고딕"/>
              </a:rPr>
              <a:t>Isaac Sim 트랙 B 1일차 — 에셋 검증부터 정책 물리 실행 성공까지</a:t>
            </a:r>
          </a:p>
          <a:p>
            <a:pPr>
              <a:spcBef>
                <a:spcPts val="2800"/>
              </a:spcBef>
            </a:pPr>
            <a:r>
              <a:rPr sz="1400" b="0">
                <a:solidFill>
                  <a:srgbClr val="B9C2F0"/>
                </a:solidFill>
                <a:latin typeface="맑은 고딕"/>
              </a:rPr>
              <a:t>2026-08-20  ·  이채원 (한국생산기술연구원 현장실습)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2100" b="1">
                <a:solidFill>
                  <a:srgbClr val="FFFFFF"/>
                </a:solidFill>
                <a:latin typeface="맑은 고딕"/>
              </a:rPr>
              <a:t>오늘의 한 장 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000" y="900000"/>
            <a:ext cx="11520000" cy="3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15181D"/>
                </a:solidFill>
                <a:latin typeface="맑은 고딕"/>
              </a:rPr>
              <a:t>▪  배경: M1013 실물 도착까지 ~1달 → 그 전에 Isaac Sim 으로 전이 파이프라인 전체를 구축·검증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1F6B4A"/>
                </a:solidFill>
                <a:latin typeface="맑은 고딕"/>
              </a:rPr>
              <a:t>▪  결과: OMX 시연 159ep → M1013 관절 데이터셋 → ACT 학습 → 정책이 시뮬 물리에서 실제로 큐브를 집어 옮김 (놓기 오차 7.8mm)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5181D"/>
                </a:solidFill>
                <a:latin typeface="맑은 고딕"/>
              </a:rPr>
              <a:t>▪  핵심 결정 ① 독립 IK — MoveIt/ROS 없이 자체 DLS 구현 → 159ep 변환 수십 분 → 5.9초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5181D"/>
                </a:solidFill>
                <a:latin typeface="맑은 고딕"/>
              </a:rPr>
              <a:t>▪  핵심 결정 ② 손목 45° 보정 — “그리퍼는 일자로 달자” 결정이 특이점 여유 10°→50° + 파지 실패까지 동시 해결 (오늘의 MVP)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5181D"/>
                </a:solidFill>
                <a:latin typeface="맑은 고딕"/>
              </a:rPr>
              <a:t>▪  트러블슈팅: 35mm 큐브 파지 실패 12회 → 원인 3겹 규명(테이블 관통 / 빔 길이 / 측면 스윕 플라우) → 손목 보정으로 종결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4000" y="4428000"/>
          <a:ext cx="11520000" cy="51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000"/>
                <a:gridCol w="1920000"/>
                <a:gridCol w="1920000"/>
                <a:gridCol w="1920000"/>
                <a:gridCol w="1920000"/>
                <a:gridCol w="1920000"/>
              </a:tblGrid>
              <a:tr h="259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IK 셀프테스트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변환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학습 loss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open-loop 관절오차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GT 물리재생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정책 물리재생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1000/1000 (≤0.1mm)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159/159, 5.9s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0.054 (100k)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0.62° (TX90 의 절반)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6/8 성공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성공 · 7.8mm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OMX→M1013 · 2026-08-20 · 1일차 요약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2100" b="1">
                <a:solidFill>
                  <a:srgbClr val="FFFFFF"/>
                </a:solidFill>
                <a:latin typeface="맑은 고딕"/>
              </a:rPr>
              <a:t>전체 파이프라인 — 본선(전이 사슬)과 비계(Isaac Sim)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000" y="827999"/>
            <a:ext cx="11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15181D"/>
                </a:solidFill>
                <a:latin typeface="맑은 고딕"/>
              </a:rPr>
              <a:t>▪  본선 (데이터가 흐르는 길)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4000" y="1152000"/>
            <a:ext cx="1764000" cy="936000"/>
          </a:xfrm>
          <a:prstGeom prst="roundRect">
            <a:avLst/>
          </a:prstGeom>
          <a:solidFill>
            <a:srgbClr val="2F3D9E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</a:rPr>
              <a:t>OMX 시연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맑은 고딕"/>
              </a:rPr>
              <a:t>v5 EE 159ep (실측)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106000" y="1530000"/>
            <a:ext cx="216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376000" y="1152000"/>
            <a:ext cx="1764000" cy="936000"/>
          </a:xfrm>
          <a:prstGeom prst="roundRect">
            <a:avLst/>
          </a:prstGeom>
          <a:solidFill>
            <a:srgbClr val="2F3D9E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</a:rPr>
              <a:t>기구학 변환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맑은 고딕"/>
              </a:rPr>
              <a:t>Umeyama+오프셋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맑은 고딕"/>
              </a:rPr>
              <a:t>+TCP+손목45°+IK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158000" y="1530000"/>
            <a:ext cx="216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28000" y="1152000"/>
            <a:ext cx="1764000" cy="936000"/>
          </a:xfrm>
          <a:prstGeom prst="roundRect">
            <a:avLst/>
          </a:prstGeom>
          <a:solidFill>
            <a:srgbClr val="2F3D9E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</a:rPr>
              <a:t>M1013 데이터셋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맑은 고딕"/>
              </a:rPr>
              <a:t>v6 joint 76,345fr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210000" y="1530000"/>
            <a:ext cx="216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80000" y="1152000"/>
            <a:ext cx="1764000" cy="936000"/>
          </a:xfrm>
          <a:prstGeom prst="roundRect">
            <a:avLst/>
          </a:prstGeom>
          <a:solidFill>
            <a:srgbClr val="2F3D9E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</a:rPr>
              <a:t>ACT 학습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맑은 고딕"/>
              </a:rPr>
              <a:t>100k, loss 0.054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262000" y="1530000"/>
            <a:ext cx="216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532000" y="1152000"/>
            <a:ext cx="1764000" cy="936000"/>
          </a:xfrm>
          <a:prstGeom prst="roundRect">
            <a:avLst/>
          </a:prstGeom>
          <a:solidFill>
            <a:srgbClr val="626B78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</a:rPr>
              <a:t>(도착 후) 실기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맑은 고딕"/>
              </a:rPr>
              <a:t>+ v7 이어학습 30~50ep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000" y="2376000"/>
            <a:ext cx="11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15181D"/>
                </a:solidFill>
                <a:latin typeface="맑은 고딕"/>
              </a:rPr>
              <a:t>▪  비계 (Isaac Sim — 사슬의 단계가 아니라 검증·리허설 도구)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000" y="2700000"/>
            <a:ext cx="1764000" cy="792000"/>
          </a:xfrm>
          <a:prstGeom prst="roundRect">
            <a:avLst/>
          </a:prstGeom>
          <a:solidFill>
            <a:srgbClr val="EDEFF3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200" b="1">
                <a:solidFill>
                  <a:srgbClr val="15181D"/>
                </a:solidFill>
                <a:latin typeface="맑은 고딕"/>
              </a:rPr>
              <a:t>배치 스윕 검증</a:t>
            </a:r>
          </a:p>
          <a:p>
            <a:pPr algn="ctr"/>
            <a:r>
              <a:rPr sz="1000" b="0">
                <a:solidFill>
                  <a:srgbClr val="15181D"/>
                </a:solidFill>
                <a:latin typeface="맑은 고딕"/>
              </a:rPr>
              <a:t>54후보→d 확정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76000" y="2700000"/>
            <a:ext cx="1764000" cy="792000"/>
          </a:xfrm>
          <a:prstGeom prst="roundRect">
            <a:avLst/>
          </a:prstGeom>
          <a:solidFill>
            <a:srgbClr val="EDEFF3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200" b="1">
                <a:solidFill>
                  <a:srgbClr val="15181D"/>
                </a:solidFill>
                <a:latin typeface="맑은 고딕"/>
              </a:rPr>
              <a:t>특이점·충돌 검사</a:t>
            </a:r>
          </a:p>
          <a:p>
            <a:pPr algn="ctr"/>
            <a:r>
              <a:rPr sz="1000" b="0">
                <a:solidFill>
                  <a:srgbClr val="15181D"/>
                </a:solidFill>
                <a:latin typeface="맑은 고딕"/>
              </a:rPr>
              <a:t>min|q5| 49.7°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28000" y="2700000"/>
            <a:ext cx="1764000" cy="792000"/>
          </a:xfrm>
          <a:prstGeom prst="roundRect">
            <a:avLst/>
          </a:prstGeom>
          <a:solidFill>
            <a:srgbClr val="EDEFF3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200" b="1">
                <a:solidFill>
                  <a:srgbClr val="15181D"/>
                </a:solidFill>
                <a:latin typeface="맑은 고딕"/>
              </a:rPr>
              <a:t>물리 파지 검증</a:t>
            </a:r>
          </a:p>
          <a:p>
            <a:pPr algn="ctr"/>
            <a:r>
              <a:rPr sz="1000" b="0">
                <a:solidFill>
                  <a:srgbClr val="15181D"/>
                </a:solidFill>
                <a:latin typeface="맑은 고딕"/>
              </a:rPr>
              <a:t>GT 6/8 성공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80000" y="2700000"/>
            <a:ext cx="1764000" cy="792000"/>
          </a:xfrm>
          <a:prstGeom prst="roundRect">
            <a:avLst/>
          </a:prstGeom>
          <a:solidFill>
            <a:srgbClr val="EDEFF3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200" b="1">
                <a:solidFill>
                  <a:srgbClr val="15181D"/>
                </a:solidFill>
                <a:latin typeface="맑은 고딕"/>
              </a:rPr>
              <a:t>정책 rollout 실행</a:t>
            </a:r>
          </a:p>
          <a:p>
            <a:pPr algn="ctr"/>
            <a:r>
              <a:rPr sz="1000" b="0">
                <a:solidFill>
                  <a:srgbClr val="15181D"/>
                </a:solidFill>
                <a:latin typeface="맑은 고딕"/>
              </a:rPr>
              <a:t>7.8mm 성공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32000" y="2700000"/>
            <a:ext cx="1764000" cy="792000"/>
          </a:xfrm>
          <a:prstGeom prst="roundRect">
            <a:avLst/>
          </a:prstGeom>
          <a:solidFill>
            <a:srgbClr val="EDEFF3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200" b="1">
                <a:solidFill>
                  <a:srgbClr val="15181D"/>
                </a:solidFill>
                <a:latin typeface="맑은 고딕"/>
              </a:rPr>
              <a:t>(선택) 렌더 증강</a:t>
            </a:r>
          </a:p>
          <a:p>
            <a:pPr algn="ctr"/>
            <a:r>
              <a:rPr sz="1000" b="0">
                <a:solidFill>
                  <a:srgbClr val="15181D"/>
                </a:solidFill>
                <a:latin typeface="맑은 고딕"/>
              </a:rPr>
              <a:t>co-train A/B 로 결정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4000" y="3816000"/>
          <a:ext cx="11520000" cy="51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714"/>
                <a:gridCol w="1645714"/>
                <a:gridCol w="1645714"/>
                <a:gridCol w="1645714"/>
                <a:gridCol w="1645714"/>
                <a:gridCol w="1645714"/>
                <a:gridCol w="1645716"/>
              </a:tblGrid>
              <a:tr h="259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단계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STEP 1 IK·배치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STEP 2 데이터셋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STEP 3 물리재생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STEP 4 학습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STEP 5 closed-loop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STEP 6 실기(v7)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상태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6B4A"/>
                          </a:solidFill>
                          <a:latin typeface="맑은 고딕"/>
                        </a:rPr>
                        <a:t>완료 ✓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6B4A"/>
                          </a:solidFill>
                          <a:latin typeface="맑은 고딕"/>
                        </a:rPr>
                        <a:t>완료 ✓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6B4A"/>
                          </a:solidFill>
                          <a:latin typeface="맑은 고딕"/>
                        </a:rPr>
                        <a:t>완료 ✓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6B4A"/>
                          </a:solidFill>
                          <a:latin typeface="맑은 고딕"/>
                        </a:rPr>
                        <a:t>완료 ✓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F3D9E"/>
                          </a:solidFill>
                          <a:latin typeface="맑은 고딕"/>
                        </a:rPr>
                        <a:t>다음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로봇 도착 후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324000" y="4680000"/>
            <a:ext cx="1152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50" b="0">
                <a:solidFill>
                  <a:srgbClr val="15181D"/>
                </a:solidFill>
                <a:latin typeface="맑은 고딕"/>
              </a:rPr>
              <a:t>▪  왜 이 구조: 프로젝트 주제 = 시연 자산 재사용 (타겟 로봇에선 30~50ep 이어학습만으로 완성 목표)</a:t>
            </a:r>
          </a:p>
          <a:p>
            <a:pPr>
              <a:spcAft>
                <a:spcPts val="500"/>
              </a:spcAft>
            </a:pPr>
            <a:r>
              <a:rPr sz="1350" b="0">
                <a:solidFill>
                  <a:srgbClr val="15181D"/>
                </a:solidFill>
                <a:latin typeface="맑은 고딕"/>
              </a:rPr>
              <a:t>▪  사슬 최소화 원칙: sim 학습 데이터 투입(co-training)은 closed-loop A/B 로 이득이 증명될 때만 채택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본선은 2단(변환+이어학습)으로 유지 — sim 은 검증용 기본, 학습용은 조건부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2100" b="1">
                <a:solidFill>
                  <a:srgbClr val="FFFFFF"/>
                </a:solidFill>
                <a:latin typeface="맑은 고딕"/>
              </a:rPr>
              <a:t>Isaac Sim — 오늘 한 것 · 앞으로 해볼 수 있는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000" y="864000"/>
            <a:ext cx="5616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2F3D9E"/>
                </a:solidFill>
                <a:latin typeface="맑은 고딕"/>
              </a:rPr>
              <a:t>▪  오늘 한 것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m1013.usd 로드 검증 (관절 리밋 실스펙 일치)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씬 구축: 로봇+테이블(z=0.375m)+35mm 큐브+LEHR 근사 그리퍼 (USD 물리 프리미티브 직접 조립)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GT/정책 궤적 30Hz 물리 재생 (PhysX 60Hz, position drive)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성공 자동판정 + 영상 렌더 + GUI 실시간 관람 모드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파지 접촉물리 디버깅 (갭 실측·핑거 궤적 기록·기하 분석)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92000" y="864000"/>
            <a:ext cx="5616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2F3D9E"/>
                </a:solidFill>
                <a:latin typeface="맑은 고딕"/>
              </a:rPr>
              <a:t>▪  앞으로 해볼 수 있는 것</a:t>
            </a:r>
          </a:p>
          <a:p>
            <a:pPr lvl="1">
              <a:spcAft>
                <a:spcPts val="500"/>
              </a:spcAft>
            </a:pPr>
            <a:r>
              <a:rPr sz="1300" b="1">
                <a:solidFill>
                  <a:srgbClr val="15181D"/>
                </a:solidFill>
                <a:latin typeface="맑은 고딕"/>
              </a:rPr>
              <a:t>–  손목캠+정면캠 추가 → closed-loop (정책이 sim 영상을 보고 실시간 제어) ← 다음 단계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159ep 재렌더 → ‘M1013 외형’ 학습 데이터 → co-training A/B (시각 도메인 갭 공략)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도메인 랜덤화 (조명·질감·카메라 지터)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합성 에피소드 증폭 — pick/place 랜덤 샘플 + 자동 성공판정 필터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Isaac Lab 강화학습 (잔차 보정) — 장기 카드</a:t>
            </a:r>
          </a:p>
        </p:txBody>
      </p:sp>
      <p:pic>
        <p:nvPicPr>
          <p:cNvPr id="5" name="Picture 4" descr="02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0000" y="3960000"/>
            <a:ext cx="3968000" cy="223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스냅샷: 정책 재생 중 운반 장면 (sim_out/frames_straight_ok)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사전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M1013 에셋 검증 — 임포트가 필요 없었다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000" y="900000"/>
            <a:ext cx="1152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5181D"/>
                </a:solidFill>
                <a:latin typeface="맑은 고딕"/>
              </a:rPr>
              <a:t>▪  Isaac Sim 5.1.0 로컬 설치 확인 (/home/kim/isaacsim, RTX 5070 Ti 16GB)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5181D"/>
                </a:solidFill>
                <a:latin typeface="맑은 고딕"/>
              </a:rPr>
              <a:t>▪  doosan-robot2 (humble) 클론 → dsr_description2/usd/m1013.usd 가 동봉돼 있어 URDF 임포트 불필요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5181D"/>
                </a:solidFill>
                <a:latin typeface="맑은 고딕"/>
              </a:rPr>
              <a:t>▪  헤드리스 로드 검증: articulation 정상, 관절 리밋 = 실스펙 (±360°, J3 ±160°)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A9331D"/>
                </a:solidFill>
                <a:latin typeface="맑은 고딕"/>
              </a:rPr>
              <a:t>▪  함정: urdf/m1013_isaac_sim.urdf 는 리밋 축소(J1 ±120°) + 0.45m 받침대 → IK/변환은 표준 m1013.urdf 사용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5181D"/>
                </a:solidFill>
                <a:latin typeface="맑은 고딕"/>
              </a:rPr>
              <a:t>▪  FK 스모크: 수평 리치 1.3005m = 공식 1300mm 일치 · 링크/조인트 명명 TX90 과 동일 규약 → v6 파이프라인 이식 용이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5181D"/>
                </a:solidFill>
                <a:latin typeface="맑은 고딕"/>
              </a:rPr>
              <a:t>▪  실기 대비: doosan-robot-isaac-driver (두산 공식 CuRobo RT 제어) 존재 — v7 단계 후보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소요: 오전 ~1시간 (검증까지)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STEP 1a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독립 IK 솔버 — m1013_kin.py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000" y="864000"/>
            <a:ext cx="11520000" cy="2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5181D"/>
                </a:solidFill>
                <a:latin typeface="맑은 고딕"/>
              </a:rPr>
              <a:t>▪  알고리즘: 적응감쇠 DLS(감쇠최소제곱) 반복 IK — 자코비안 기반, λ 를 오차에 비례시켜 특이점 근방 안정화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5181D"/>
                </a:solidFill>
                <a:latin typeface="맑은 고딕"/>
              </a:rPr>
              <a:t>▪  체인 규약 (TX90 convert_v6 계승): 직전 해 시드 → 2π 등가각 접기 → 90° 초과 브랜치 거부 → 섭동 6종+무작위 6종 재시도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5181D"/>
                </a:solidFill>
                <a:latin typeface="맑은 고딕"/>
              </a:rPr>
              <a:t>▪  검증: 과제형 포즈 1000/1000 수렴 (≤0.1mm/0.06°) · 전역 무작위 999/1000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4000" y="2736000"/>
          <a:ext cx="11520000" cy="12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000"/>
                <a:gridCol w="2880000"/>
                <a:gridCol w="2880000"/>
                <a:gridCol w="2880000"/>
              </a:tblGrid>
              <a:tr h="259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대안 (TX90 방식)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채택 (자체 구현)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선택 이유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IK 백엔드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MoveIt /compute_ik (KDL)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적응감쇠 DLS + 시드체인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ROS 의존 제거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159ep 변환 시간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수십 분 (서비스 왕복)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6B4A"/>
                          </a:solidFill>
                          <a:latin typeface="맑은 고딕"/>
                        </a:rPr>
                        <a:t>5.9초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반복 실험 가능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재현성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무작위 재시작 (비결정)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결정론적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디버깅·고정점 보정 가능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Isaac 연동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컨테이너 밖 별도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동일 파이썬에서 직접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일관성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m1013_kin.py — FK/자코비안/DLS/orient_corr(손목보정) 포함, 단독 실행 시 셀프테스트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STEP 1b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작업 사각형 배치 스윕 — sweep_m1013.py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000" y="864000"/>
            <a:ext cx="1152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5181D"/>
                </a:solidFill>
                <a:latin typeface="맑은 고딕"/>
              </a:rPr>
              <a:t>▪  왜: OMX 사각형(241×361mm)을 어디 둘지가 도달성·특이점·자기충돌을 좌우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5181D"/>
                </a:solidFill>
                <a:latin typeface="맑은 고딕"/>
              </a:rPr>
              <a:t>▪  방법: 오프셋 54후보(6×3×3 격자) × 8ep 선별 → 통과 후보만 159ep 전체 재검증 → min|q5|·J3 여유·Δq 채점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15181D"/>
                </a:solidFill>
                <a:latin typeface="맑은 고딕"/>
              </a:rPr>
              <a:t>▪  IK 에 충돌검사가 없으므로 상위 후보는 별도 기하검사 (팔꿈치/손목/TCP 의 베이스 기둥 접근·테이블 하강) → 점수 1위가 아닌 균형점 채택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1F6B4A"/>
                </a:solidFill>
                <a:latin typeface="맑은 고딕"/>
              </a:rPr>
              <a:t>▪  최종: d = (+0.05, −0.15, +0.10) m — 53/54 통과, min|q5| 49.7°, J3 여유 67.6°, 기둥 여유 0.63m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5181D"/>
                </a:solidFill>
                <a:latin typeface="맑은 고딕"/>
              </a:rPr>
              <a:t>▪  참고: TX90 은 28곳 중 1곳만 통과했었음 → 리치 1.3m 의 여유 실감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결과 기록: m1013/sweep_result_wrist45.json (이전 2회 스윕 json 도 보존)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STEP 2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v6-M1013 관절 데이터셋 — convert_v6_m1013.py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4000" y="864000"/>
          <a:ext cx="11520000" cy="18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000"/>
                <a:gridCol w="3840000"/>
                <a:gridCol w="3840000"/>
              </a:tblGrid>
              <a:tr h="259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변환 규약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값 / 방식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근거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평활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7프레임 이동평균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시연 지터 저역 필터 (TX90 동일)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앵커 IK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6Hz + 30Hz 관절 선형보간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전 프레임 IK 는 특이점 드리프트 (TX90 실측)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state 정의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state[t] = action[t−1]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OMX 측정 지터 배제 (완전 추종 가정)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TCP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0.12 m (잠정 — 실물 실측 후 갱신)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OMX 접근 틸트 44° → 무시 시 수평 84mm 오차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손목 보정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R' = R_data @ A (45°)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일자 장착 + 특이점 탈출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오프셋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(+0.05, −0.15, +0.10) m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스윕 + 기하검사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4000" y="3348000"/>
            <a:ext cx="1152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50" b="1">
                <a:solidFill>
                  <a:srgbClr val="1F6B4A"/>
                </a:solidFill>
                <a:latin typeface="맑은 고딕"/>
              </a:rPr>
              <a:t>▪  결과: 159/159 · 프레임당 최대 관절이동 2.94° (임계 30°) · TCP FK 역검증 ≤4.85mm/1.03° · kNN 다봉성 0/4770 · 5.9초</a:t>
            </a:r>
          </a:p>
          <a:p>
            <a:pPr>
              <a:spcAft>
                <a:spcPts val="500"/>
              </a:spcAft>
            </a:pPr>
            <a:r>
              <a:rPr sz="1450" b="0">
                <a:solidFill>
                  <a:srgbClr val="15181D"/>
                </a:solidFill>
                <a:latin typeface="맑은 고딕"/>
              </a:rPr>
              <a:t>▪  VLA 대비: tasks.jsonl 자연어 교체 — “Pick up the blue cube and place it in the place zone.” (컨테이너 lerobot 에 smolvla 포함 → 추후 파인튜닝 가능)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5181D"/>
                </a:solidFill>
                <a:latin typeface="Consolas"/>
              </a:rPr>
              <a:t>▪  데이터셋: dlcodnjs/m1013_act_pick_and_place_v6_joint (159ep / 76,345fr, lerobot 로드 검증)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재생성 절차: convert(6초) → knn → 컨테이너 assemble — TCP/오프셋 변경 시 1분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STEP 3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Isaac 씬 구성 — 기하 발견 3가지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000" y="864000"/>
            <a:ext cx="810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50" b="0">
                <a:solidFill>
                  <a:srgbClr val="15181D"/>
                </a:solidFill>
                <a:latin typeface="맑은 고딕"/>
              </a:rPr>
              <a:t>▪  발견 ① v5 의 ‘테이블 높이’ = 상판이 아니라 집는 순간 손목 기준점 높이 → 실물 상판은 z=0.3746m, 기준점은 그 위 ~10cm (OMX 핑거 길이만큼)</a:t>
            </a:r>
          </a:p>
          <a:p>
            <a:pPr>
              <a:spcAft>
                <a:spcPts val="500"/>
              </a:spcAft>
            </a:pPr>
            <a:r>
              <a:rPr sz="1450" b="0">
                <a:solidFill>
                  <a:srgbClr val="15181D"/>
                </a:solidFill>
                <a:latin typeface="맑은 고딕"/>
              </a:rPr>
              <a:t>▪  발견 ② 접근 틸트로 큐브 실위치는 기준점에서 수평 ~7cm 비낌 → 회전행렬로 핑거끝 위치 계산해 배치</a:t>
            </a:r>
          </a:p>
          <a:p>
            <a:pPr>
              <a:spcAft>
                <a:spcPts val="500"/>
              </a:spcAft>
            </a:pPr>
            <a:r>
              <a:rPr sz="1450" b="0">
                <a:solidFill>
                  <a:srgbClr val="A9331D"/>
                </a:solidFill>
                <a:latin typeface="맑은 고딕"/>
              </a:rPr>
              <a:t>▪  발견 ③ 큐브 실측 35mm (사용자 정정 — 내 눈대중 6cm 오류). 이 정정이 파지 난이도를 크게 올림</a:t>
            </a:r>
          </a:p>
          <a:p>
            <a:pPr>
              <a:spcAft>
                <a:spcPts val="500"/>
              </a:spcAft>
            </a:pPr>
            <a:r>
              <a:rPr sz="1450" b="0">
                <a:solidFill>
                  <a:srgbClr val="15181D"/>
                </a:solidFill>
                <a:latin typeface="맑은 고딕"/>
              </a:rPr>
              <a:t>▪  그리퍼: LEHR 대역을 박스 프리미티브로 조립 — 본체 + 평행 핑거 2개 (PrismaticJoint + position drive), 개폐는 그리퍼값 [−0.02, 0.695] 를 개구폭에 선형 매핑</a:t>
            </a:r>
          </a:p>
          <a:p>
            <a:pPr>
              <a:spcAft>
                <a:spcPts val="500"/>
              </a:spcAft>
            </a:pPr>
            <a:r>
              <a:rPr sz="1450" b="0">
                <a:solidFill>
                  <a:srgbClr val="1F6B4A"/>
                </a:solidFill>
                <a:latin typeface="맑은 고딕"/>
              </a:rPr>
              <a:t>▪  6cm 구성으로 pick&amp;place 전 과정 물리 성공 (놓기 48mm) → 파이프라인 건전성 먼저 확인</a:t>
            </a:r>
          </a:p>
        </p:txBody>
      </p:sp>
      <p:pic>
        <p:nvPicPr>
          <p:cNvPr id="4" name="Picture 3" descr="01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0000" y="1152000"/>
            <a:ext cx="3456000" cy="1944000"/>
          </a:xfrm>
          <a:prstGeom prst="rect">
            <a:avLst/>
          </a:prstGeom>
        </p:spPr>
      </p:pic>
      <p:pic>
        <p:nvPicPr>
          <p:cNvPr id="5" name="Picture 4" descr="02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000" y="3311999"/>
            <a:ext cx="3456000" cy="194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위: 6cm 성공 장면 · 아래: 35mm 실패 장면 (빈손으로 닫힘, 큐브는 옆에 밀려남)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트러블슈팅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35mm 파지 실패 12회의 기록 (1/2)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4000" y="864000"/>
          <a:ext cx="11520000" cy="273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/>
                <a:gridCol w="3960000"/>
                <a:gridCol w="7200000"/>
              </a:tblGrid>
              <a:tr h="342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#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시도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결과 / 밝혀낸 것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6cm 구성에 35mm 만 적용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실패 — 접촉 밴드 부족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핑거 연장(팁=테이블+12mm) + 닫힘 개구 축소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실패. 갭 실측 로깅 도입 → 핑거가 목표보다 8mm 밀림 발견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테이블-큐브 마찰 분리(2.0→0.6) + 유연접촉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실패. 큐브 정렬 차단 문제는 개선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열림 개구 100→70mm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실패. 밀림 방향 데이터 확보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고정점 반복 배치 보정 (결정론적 sim 활용)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닫힘 시점 오차 0.2mm 수렴 — 그래도 안 들림 → 위치 문제 아님을 증명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6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핑거 팁 상향(+22mm, 모서리 관통 회피)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테이블 관통 해결. 그러나 큐브 위 3mm 허공에서 닫힘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7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45° 꺾인 어태치먼트 (파지 시 빔 수직화)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기하 개선. 빔 길이 재측정 필요(0.148m) 발견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진단 도구: 갭 실측 로깅 · 핑거 궤적 npz + 오프라인 기하 분석 · 클로즈업 슬로모션 영상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트러블슈팅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근본 원인과 해결 (2/2)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4000" y="864000"/>
          <a:ext cx="11520000" cy="103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/>
                <a:gridCol w="4320000"/>
                <a:gridCol w="6480000"/>
              </a:tblGrid>
              <a:tr h="259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#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시도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결과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8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빔 길이 실측 기반 0.148m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접촉 재개 — 그러나 52mm 밀어냄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9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그리퍼 개폐 지연 (−8프레임)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실패. 타이밍 문제 아님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10~12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좁은 날(30→12mm)·배치 재보정 등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밀림 감소했으나 여전히 실패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4000" y="2232000"/>
            <a:ext cx="1152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50" b="1">
                <a:solidFill>
                  <a:srgbClr val="A9331D"/>
                </a:solidFill>
                <a:latin typeface="맑은 고딕"/>
              </a:rPr>
              <a:t>▪  근본 원인 (기하 분석으로 확정): 접근의 수평 이동 방향이 그리퍼 슬롯 개구와 거의 수직(내적 0.13) → 패들 옆면이 큐브를 불도저처럼 쓸어냄</a:t>
            </a:r>
          </a:p>
          <a:p>
            <a:pPr>
              <a:spcAft>
                <a:spcPts val="500"/>
              </a:spcAft>
            </a:pPr>
            <a:r>
              <a:rPr sz="1450" b="0">
                <a:solidFill>
                  <a:srgbClr val="15181D"/>
                </a:solidFill>
                <a:latin typeface="맑은 고딕"/>
              </a:rPr>
              <a:t>▪  실물 OMX 가 됐던 이유: 폼 큐브가 눌리며 슬롯 안으로 ‘팝인’ — 강체 근사가 재현 못 하는 부분</a:t>
            </a:r>
          </a:p>
          <a:p>
            <a:pPr>
              <a:spcAft>
                <a:spcPts val="500"/>
              </a:spcAft>
            </a:pPr>
            <a:r>
              <a:rPr sz="1450" b="0">
                <a:solidFill>
                  <a:srgbClr val="15181D"/>
                </a:solidFill>
                <a:latin typeface="맑은 고딕"/>
              </a:rPr>
              <a:t>▪  검토한 해법: PhysX FEM 소프트바디 (폼 재현) — 정공법이지만 복잡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F6B4A"/>
                </a:solidFill>
                <a:latin typeface="맑은 고딕"/>
              </a:rPr>
              <a:t>▪  실제 해법: 손목 45° 보정 (다음 장) — 접근 기하 자체를 바꿔 문제를 소멸시킴. 소프트바디 불채택</a:t>
            </a:r>
          </a:p>
          <a:p>
            <a:pPr>
              <a:spcAft>
                <a:spcPts val="500"/>
              </a:spcAft>
            </a:pPr>
            <a:r>
              <a:rPr sz="1450" b="0">
                <a:solidFill>
                  <a:srgbClr val="15181D"/>
                </a:solidFill>
                <a:latin typeface="맑은 고딕"/>
              </a:rPr>
              <a:t>▪  실물 시사점: 어태치먼트 접촉면은 연질(TPU/폼 패드) 권장 — 강체 팁은 같은 실패 위험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실패 과정 영상: sim_out/grasp_fail_35mm.mp4 (슬로모션) — 문제 이해·발표용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핵심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전환점 — 손목 45° 보정 (오늘의 최고 결정)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000" y="864000"/>
            <a:ext cx="702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50" b="0">
                <a:solidFill>
                  <a:srgbClr val="15181D"/>
                </a:solidFill>
                <a:latin typeface="맑은 고딕"/>
              </a:rPr>
              <a:t>▪  발단: “그리퍼는 흔한 코봇처럼 플랜지에 일자로 달고 싶다” (사용자 요구)</a:t>
            </a:r>
          </a:p>
          <a:p>
            <a:pPr>
              <a:spcAft>
                <a:spcPts val="500"/>
              </a:spcAft>
            </a:pPr>
            <a:r>
              <a:rPr sz="1450" b="0">
                <a:solidFill>
                  <a:srgbClr val="15181D"/>
                </a:solidFill>
                <a:latin typeface="맑은 고딕"/>
              </a:rPr>
              <a:t>▪  방법: OMX 접근축(로컬 [0.705,−0.027,0.708], 45°)을 상수 회전 A 로 상쇄 — 플랜지 목표 = R_data @ A. 6자유도 M1013 은 손목이 45° 를 대신 돔</a:t>
            </a:r>
          </a:p>
          <a:p>
            <a:pPr>
              <a:spcAft>
                <a:spcPts val="500"/>
              </a:spcAft>
            </a:pPr>
            <a:r>
              <a:rPr sz="1450" b="0">
                <a:solidFill>
                  <a:srgbClr val="15181D"/>
                </a:solidFill>
                <a:latin typeface="맑은 고딕"/>
              </a:rPr>
              <a:t>▪  효과 ① 파지 시 플랜지 세계 수직(±11°) → 일자 장착 + 일자 어태치먼트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F6B4A"/>
                </a:solidFill>
                <a:latin typeface="맑은 고딕"/>
              </a:rPr>
              <a:t>▪  효과 ② min|q5| 10°→49.7° — 기울인 손목이 내내 특이점 옆이었음. TX90 부터의 고질병 소멸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1F6B4A"/>
                </a:solidFill>
                <a:latin typeface="맑은 고딕"/>
              </a:rPr>
              <a:t>▪  효과 ③ 수직 하강 접근 → 플라우 소멸 → 35mm 파지 첫 시도 성공</a:t>
            </a:r>
          </a:p>
          <a:p>
            <a:pPr>
              <a:spcAft>
                <a:spcPts val="500"/>
              </a:spcAft>
            </a:pPr>
            <a:r>
              <a:rPr sz="1450" b="0">
                <a:solidFill>
                  <a:srgbClr val="15181D"/>
                </a:solidFill>
                <a:latin typeface="맑은 고딕"/>
              </a:rPr>
              <a:t>▪  정당성: 전 프레임 동일 상수 회전 = 관측-액션 일관성 유지 (TX90 tool 90° 보정과 동류)</a:t>
            </a:r>
          </a:p>
          <a:p>
            <a:pPr>
              <a:spcAft>
                <a:spcPts val="500"/>
              </a:spcAft>
            </a:pPr>
            <a:r>
              <a:rPr sz="1450" b="0">
                <a:solidFill>
                  <a:srgbClr val="15181D"/>
                </a:solidFill>
                <a:latin typeface="맑은 고딕"/>
              </a:rPr>
              <a:t>▪  대가: 데이터셋 재생성 + 학습 재시작 (1시간 학습분 폐기) — 결과가 압도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668000" y="1080000"/>
          <a:ext cx="4212000" cy="155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4000"/>
                <a:gridCol w="1404000"/>
                <a:gridCol w="1404000"/>
              </a:tblGrid>
              <a:tr h="259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지표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보정 전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보정 후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min|q5| (특이점 여유)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10.5°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6B4A"/>
                          </a:solidFill>
                          <a:latin typeface="맑은 고딕"/>
                        </a:rPr>
                        <a:t>49.7°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프레임당 최대 Δq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5.1°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2.9°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35mm 파지 (GT)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실패×12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6B4A"/>
                          </a:solidFill>
                          <a:latin typeface="맑은 고딕"/>
                        </a:rPr>
                        <a:t>5.5mm 성공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접근 중 큐브 밀림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30~50mm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4mm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정책 물리 실행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―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6B4A"/>
                          </a:solidFill>
                          <a:latin typeface="맑은 고딕"/>
                        </a:rPr>
                        <a:t>7.8mm 성공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성공 영상: sim_out/replay_35mm_success.mp4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2100" b="1">
                <a:solidFill>
                  <a:srgbClr val="FFFFFF"/>
                </a:solidFill>
                <a:latin typeface="맑은 고딕"/>
              </a:rPr>
              <a:t>알고리즘/방법 선택 총괄 — 시도 vs 채택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4000" y="864000"/>
          <a:ext cx="11520000" cy="273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/>
                <a:gridCol w="3240000"/>
                <a:gridCol w="3240000"/>
                <a:gridCol w="3420000"/>
              </a:tblGrid>
              <a:tr h="342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문제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후보 (시도/검토)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채택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이유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역기구학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MoveIt /compute_ik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적응감쇠 DLS + 시드체인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의존 제거·5.9초·결정론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배치 결정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단일 기준 최적화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2단계 격자 스윕 + 다기준 + 기하검사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IK 무충돌검사 보완, 균형점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파지 자세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45° 꺾인 어태치먼트 (HW 보정)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손목 45° 보정 (SW 보정)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특이점 해결 겸, 표준 장착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폼 접촉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PhysX FEM 소프트바디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불채택 (손목 보정으로 불필요)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복잡도 회피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큐브 배치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해석 계산 → 고정점 반복 보정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수직 파지 후 해석 계산으로 충분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높이-수평 결합 소멸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그리퍼 제어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이진 개폐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연속 개구 매핑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원본 개폐 타이밍 보존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학습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(sim RL 검토)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ACT 모방학습 (joint 출력)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시연 보유 시 정석, RL 은 장기 카드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각 선택의 상세 근거는 해당 STEP 슬라이드 참조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STEP 4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ACT 학습 + 평가 — TX90 대비 전 지표 개선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4000" y="864000"/>
          <a:ext cx="7740000" cy="155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0000"/>
                <a:gridCol w="2580000"/>
                <a:gridCol w="2580000"/>
              </a:tblGrid>
              <a:tr h="259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지표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TX90 v6 (기존)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M1013 v6 (오늘)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학습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100k, loss 0.052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100k, loss 0.054 (2.8h)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open-loop 관절오차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0.93~1.55°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6B4A"/>
                          </a:solidFill>
                          <a:latin typeface="맑은 고딕"/>
                        </a:rPr>
                        <a:t>0.62~0.67°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그리퍼 일치율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96.8~99.2%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95.5~99.7%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청크 경계 연속성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점프 30.5° (필터 필요)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6B4A"/>
                          </a:solidFill>
                          <a:latin typeface="맑은 고딕"/>
                        </a:rPr>
                        <a:t>최대 4.7° — 문제없음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정책 궤적 물리 실행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D"/>
                          </a:solidFill>
                          <a:latin typeface="맑은 고딕"/>
                        </a:rPr>
                        <a:t>(RViz 시각화까지)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6B4A"/>
                          </a:solidFill>
                          <a:latin typeface="맑은 고딕"/>
                        </a:rPr>
                        <a:t>Isaac 물리 성공 7.8mm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4000" y="3384000"/>
            <a:ext cx="77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15181D"/>
                </a:solidFill>
                <a:latin typeface="맑은 고딕"/>
              </a:rPr>
              <a:t>▪  개선 원인 추정: 손목 보정 → 특이점에서 먼 부드러운 궤적 → 배우기 쉬운 액션 분포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5181D"/>
                </a:solidFill>
                <a:latin typeface="맑은 고딕"/>
              </a:rPr>
              <a:t>▪  GT 일괄 물리재생 (8ep): 6/8 성공 (오차 2.1~10.8mm). 실패 ep80·158 = 파지 미성립 → 후속 분석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15181D"/>
                </a:solidFill>
                <a:latin typeface="Consolas"/>
              </a:rPr>
              <a:t>▪  평가: 컨테이너 /root/eval_m1013_v6.py · 예측 /root/policy_rollouts/</a:t>
            </a:r>
          </a:p>
        </p:txBody>
      </p:sp>
      <p:pic>
        <p:nvPicPr>
          <p:cNvPr id="5" name="Picture 4" descr="02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8000" y="1080000"/>
            <a:ext cx="3583998" cy="20159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체크포인트: 컨테이너 /root/train_m1013_act_v6/checkpoints (10k 간격 + last)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2100" b="1">
                <a:solidFill>
                  <a:srgbClr val="FFFFFF"/>
                </a:solidFill>
                <a:latin typeface="맑은 고딕"/>
              </a:rPr>
              <a:t>생성 파일 카탈로그 ① 코드 — /home/kim/m1013/ (GitHub: dlcodnjs817/M1013)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4000" y="864000"/>
          <a:ext cx="11520000" cy="291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5040000"/>
                <a:gridCol w="4680000"/>
              </a:tblGrid>
              <a:tr h="324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파일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역할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사용법 요점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m1013_kin.py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FK/자코비안/DLS IK + 손목보정 orient_corr()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단독 실행 = 셀프테스트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sweep_m1013.py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배치 오프셋 2단계 스윕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--out 결과 json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convert_v6_m1013.py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v5→v6 변환 + 검증 (OFFSET/TCP/CORR 상수)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TCP 실측 후 상수 수정 → 6초 재실행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knn_check_m1013.py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다봉성 검사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staging 대상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assemble_v6_m1013.py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staging → LeRobot 데이터셋 조립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HF 캐시 root 소유 → 컨테이너 안에서 실행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prep_replay_ep.py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재생 npz 준비 (큐브 위치·핑거 길이 계산)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--ep N (기본 tip-mode=straight)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replay_isaac.py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Isaac 물리 재생·판정·영상·GUI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--gui / --video / --pred-npz / --calibrate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fit_cube_position.py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큐브 배치 고정점 보정 (구식 — 기록 보존)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손목 보정 후 불필요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tx90 루트: make_report_pptx_0820.py (본 PPT 재생성)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2100" b="1">
                <a:solidFill>
                  <a:srgbClr val="FFFFFF"/>
                </a:solidFill>
                <a:latin typeface="맑은 고딕"/>
              </a:rPr>
              <a:t>생성 파일 카탈로그 ② 데이터셋 · 모델 · 영상 · 결과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4000" y="864000"/>
          <a:ext cx="11520000" cy="32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/>
                <a:gridCol w="6120000"/>
              </a:tblGrid>
              <a:tr h="324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위치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L="54000" marR="54000" marT="14400" marB="14400">
                    <a:solidFill>
                      <a:srgbClr val="2F3D9E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(컨테이너) dlcodnjs/m1013_act_pick_and_place_v6_joint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최종 데이터셋 — 159ep/76,345fr, 손목보정판, 자연어 task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(컨테이너) /root/train_m1013_act_v6/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ACT 체크포인트 + 로그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(컨테이너) /root/policy_rollouts/epXXX_pred_m1013v6.npz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open-loop 예측 (ep0/80/130)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m1013/v6_staging/ + report.json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변환 parquet + 에피소드별 검증 리포트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m1013/sweep_result_wrist45.json 외 2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배치 스윕 채점 전체 기록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m1013/sim_out/replay_35mm_success.mp4  ★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35mm GT 파지 성공 영상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m1013/sim_out/grasp_fail_35mm.mp4  ★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파지 실패(플라우) 슬로모션 — 발표용 대비쌍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m1013/sim_out/replay_cube6cm·cube35mm.mp4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6cm 성공 / 35mm 구버전 실패 (비교)</a:t>
                      </a:r>
                    </a:p>
                  </a:txBody>
                  <a:tcPr marL="54000" marR="54000" marT="14400" marB="14400">
                    <a:solidFill>
                      <a:srgbClr val="EDEFF3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m1013/sim_out/*_result.json · fingertraj_*.npz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</a:rPr>
                        <a:t>재생 판정·핑거 궤적 (분석 재료)</a:t>
                      </a:r>
                    </a:p>
                  </a:txBody>
                  <a:tcPr marL="54000" marR="54000" marT="14400" marB="14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영상 프레임 원본(frames_*/, 447MB)은 git 제외 — replay --video 로 재생성 가능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2100" b="1">
                <a:solidFill>
                  <a:srgbClr val="FFFFFF"/>
                </a:solidFill>
                <a:latin typeface="맑은 고딕"/>
              </a:rPr>
              <a:t>직접 보는 법 — Isaac Sim GUI 실시간 관람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000" y="900000"/>
            <a:ext cx="1152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15181D"/>
                </a:solidFill>
                <a:latin typeface="맑은 고딕"/>
              </a:rPr>
              <a:t>▪  정책(ACT) 예측 궤적 재생 — 모니터 연결된 터미널에서:</a:t>
            </a:r>
          </a:p>
          <a:p>
            <a:pPr lvl="1">
              <a:spcAft>
                <a:spcPts val="500"/>
              </a:spcAft>
            </a:pPr>
            <a:r>
              <a:rPr sz="1250" b="0">
                <a:solidFill>
                  <a:srgbClr val="15181D"/>
                </a:solidFill>
                <a:latin typeface="Consolas"/>
              </a:rPr>
              <a:t>–  cd ~/isaacsim &amp;&amp; ./python.sh ~/m1013/replay_isaac.py --ep 0 --gui --pred-npz ~/m1013/ep000_pred_m1013v6.npz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5181D"/>
                </a:solidFill>
                <a:latin typeface="맑은 고딕"/>
              </a:rPr>
              <a:t>▪  GT(정답) 궤적: 위 명령에서 --pred-npz 부분 제거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5181D"/>
                </a:solidFill>
                <a:latin typeface="맑은 고딕"/>
              </a:rPr>
              <a:t>▪  다른 에피소드: python3 ~/m1013/prep_replay_ep.py --ep 130 먼저 실행 후 --ep 130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5181D"/>
                </a:solidFill>
                <a:latin typeface="맑은 고딕"/>
              </a:rPr>
              <a:t>▪  시점 조작: Alt+왼클릭 드래그 = 궤도 회전 · 휠 = 줌 · 휠클릭 드래그 = 이동 · 물체 클릭 후 F = 추적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2F3D9E"/>
                </a:solidFill>
                <a:latin typeface="맑은 고딕"/>
              </a:rPr>
              <a:t>▪  관전 포인트: 시작 ~8초 파지 순간 — 핑거가 수직으로 서서 내려와 큐브를 무는 장면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5181D"/>
                </a:solidFill>
                <a:latin typeface="맑은 고딕"/>
              </a:rPr>
              <a:t>▪  주의: GPU 대형 작업(학습 등)과 동시 실행 시 느려질 수 있음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GUI 모드는 replay_isaac.py --gui 플래그 (재생 후 창 유지, 자유 관찰)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2100" b="1">
                <a:solidFill>
                  <a:srgbClr val="FFFFFF"/>
                </a:solidFill>
                <a:latin typeface="맑은 고딕"/>
              </a:rPr>
              <a:t>고려사항 — 열린 결정과 리스크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000" y="864000"/>
            <a:ext cx="1152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50" b="1">
                <a:solidFill>
                  <a:srgbClr val="15181D"/>
                </a:solidFill>
                <a:latin typeface="맑은 고딕"/>
              </a:rPr>
              <a:t>▪  LEHR 실물: 모델명 확정 → 카탈로그 치수로 어태치먼트(일자+연질 TPU 접촉면) 사전 설계 가능. 도착 후 플랜지→핑거끝 실측 → TCP 상수 갱신 → 재변환(1분)+재학습(~3h) 필요</a:t>
            </a:r>
          </a:p>
          <a:p>
            <a:pPr>
              <a:spcAft>
                <a:spcPts val="500"/>
              </a:spcAft>
            </a:pPr>
            <a:r>
              <a:rPr sz="1450" b="0">
                <a:solidFill>
                  <a:srgbClr val="15181D"/>
                </a:solidFill>
                <a:latin typeface="맑은 고딕"/>
              </a:rPr>
              <a:t>▪  테이블 접촉 방침: ‘안 닿게’가 아니라 ‘닿아도 무해하게’ — sim 은 핑거 길이 여유, 실물은 짧은 어태치먼트+연질 팁+협동로봇 힘제한</a:t>
            </a:r>
          </a:p>
          <a:p>
            <a:pPr>
              <a:spcAft>
                <a:spcPts val="500"/>
              </a:spcAft>
            </a:pPr>
            <a:r>
              <a:rPr sz="1450" b="0">
                <a:solidFill>
                  <a:srgbClr val="15181D"/>
                </a:solidFill>
                <a:latin typeface="맑은 고딕"/>
              </a:rPr>
              <a:t>▪  파지 실패 ep80·158: 원인 분석 대기 (파지 프레임 선정/자세 잔차 편차 추정) — 실기 전 정리 권장</a:t>
            </a:r>
          </a:p>
          <a:p>
            <a:pPr>
              <a:spcAft>
                <a:spcPts val="500"/>
              </a:spcAft>
            </a:pPr>
            <a:r>
              <a:rPr sz="1450" b="0">
                <a:solidFill>
                  <a:srgbClr val="15181D"/>
                </a:solidFill>
                <a:latin typeface="맑은 고딕"/>
              </a:rPr>
              <a:t>▪  시각 도메인 갭: 학습 영상은 OMX 팔 — closed-loop 에서 실측. 대응 = sim 재렌더 co-training(A/B) + v7 실기 이어학습(최종)</a:t>
            </a:r>
          </a:p>
          <a:p>
            <a:pPr>
              <a:spcAft>
                <a:spcPts val="500"/>
              </a:spcAft>
            </a:pPr>
            <a:r>
              <a:rPr sz="1450" b="0">
                <a:solidFill>
                  <a:srgbClr val="15181D"/>
                </a:solidFill>
                <a:latin typeface="맑은 고딕"/>
              </a:rPr>
              <a:t>▪  실물 배치: 상판 = 로봇 장착면 +0.432m, 사각형 = 로봇 앞 0.46~0.70m — 실배치가 다르면 실측 후 오프셋 갱신(재변환 1분)</a:t>
            </a:r>
          </a:p>
          <a:p>
            <a:pPr>
              <a:spcAft>
                <a:spcPts val="500"/>
              </a:spcAft>
            </a:pPr>
            <a:r>
              <a:rPr sz="1450" b="0">
                <a:solidFill>
                  <a:srgbClr val="15181D"/>
                </a:solidFill>
                <a:latin typeface="맑은 고딕"/>
              </a:rPr>
              <a:t>▪  실기 카메라: 손목캠 마운트(프린팅)+정면캠, camera1=손목/camera2=정면 일관성 유지 (ep0 뒤바뀜 사고 재발 방지)</a:t>
            </a:r>
          </a:p>
          <a:p>
            <a:pPr>
              <a:spcAft>
                <a:spcPts val="500"/>
              </a:spcAft>
            </a:pPr>
            <a:r>
              <a:rPr sz="1450" b="0">
                <a:solidFill>
                  <a:srgbClr val="15181D"/>
                </a:solidFill>
                <a:latin typeface="맑은 고딕"/>
              </a:rPr>
              <a:t>▪  sim 데이터 투입 원칙: 전이 사슬 최소 유지 — 검증용 기본, 학습용은 A/B 증명 시에만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각 항목 결정 시점: LEHR·배치 = 발주/도착 전후 · 나머지 = STEP 5 진행 중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2100" b="1">
                <a:solidFill>
                  <a:srgbClr val="FFFFFF"/>
                </a:solidFill>
                <a:latin typeface="맑은 고딕"/>
              </a:rPr>
              <a:t>다음 단계 (권장 순서)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4000" y="936000"/>
            <a:ext cx="1800000" cy="1152000"/>
          </a:xfrm>
          <a:prstGeom prst="roundRect">
            <a:avLst/>
          </a:prstGeom>
          <a:solidFill>
            <a:srgbClr val="2F3D9E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1. 카메라 정합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씬에 손목캠+정면캠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데이터셋 영상과 구도 비교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131199" y="1422000"/>
            <a:ext cx="180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322000" y="936000"/>
            <a:ext cx="1800000" cy="1152000"/>
          </a:xfrm>
          <a:prstGeom prst="roundRect">
            <a:avLst/>
          </a:prstGeom>
          <a:solidFill>
            <a:srgbClr val="2F3D9E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2. closed-loop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정책이 sim 영상 관측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도메인 갭 정량 측정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129199" y="1422000"/>
            <a:ext cx="180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20000" y="936000"/>
            <a:ext cx="1800000" cy="1152000"/>
          </a:xfrm>
          <a:prstGeom prst="roundRect">
            <a:avLst/>
          </a:prstGeom>
          <a:solidFill>
            <a:srgbClr val="626B78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3. co-train A/B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159ep 재렌더 혼합학습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효과 증명 시 채택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127199" y="1422000"/>
            <a:ext cx="180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18000" y="936000"/>
            <a:ext cx="1800000" cy="1152000"/>
          </a:xfrm>
          <a:prstGeom prst="roundRect">
            <a:avLst/>
          </a:prstGeom>
          <a:solidFill>
            <a:srgbClr val="626B78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4. 잔여 이슈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ep80/158 분석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랜덤화·합성 ep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125199" y="1422000"/>
            <a:ext cx="180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16000" y="936000"/>
            <a:ext cx="1800000" cy="1152000"/>
          </a:xfrm>
          <a:prstGeom prst="roundRect">
            <a:avLst/>
          </a:prstGeom>
          <a:solidFill>
            <a:srgbClr val="626B78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5. 실물 준비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LEHR/어태치먼트 설계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손목캠 마운트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0123199" y="1422000"/>
            <a:ext cx="180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314000" y="936000"/>
            <a:ext cx="1800000" cy="1152000"/>
          </a:xfrm>
          <a:prstGeom prst="roundRect">
            <a:avLst/>
          </a:prstGeom>
          <a:solidFill>
            <a:srgbClr val="1F6B4A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6. 로봇 도착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dsr ROS2 연동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v7 수집·이어학습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000" y="2448000"/>
            <a:ext cx="1152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15181D"/>
                </a:solidFill>
                <a:latin typeface="맑은 고딕"/>
              </a:rPr>
              <a:t>▪  랩미팅 대비: 본 PPT + 영상 4편 — ‘같은 궤적, 접촉 물리가 승패를 가른다’ 실패/성공 대비쌍이 스토리라인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5181D"/>
                </a:solidFill>
                <a:latin typeface="맑은 고딕"/>
              </a:rPr>
              <a:t>▪  일정 감각: 로봇 도착까지 ~1달, 1일차에 STEP 1~4 완주 → closed-loop 와 증강 실험에 시간 충분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다음 세션 시작점: STEP 5 카메라 정합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100800"/>
          <a:lstStyle/>
          <a:p>
            <a:pPr algn="ctr"/>
            <a:r>
              <a:rPr sz="2100" b="1">
                <a:solidFill>
                  <a:srgbClr val="FFFFFF"/>
                </a:solidFill>
                <a:latin typeface="맑은 고딕"/>
              </a:rPr>
              <a:t>참고 링크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000" y="900000"/>
            <a:ext cx="1152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>
                <a:solidFill>
                  <a:srgbClr val="2F3D9E"/>
                </a:solidFill>
                <a:latin typeface="맑은 고딕"/>
                <a:hlinkClick r:id="rId2"/>
              </a:rPr>
              <a:t>▪  doosan-robot2 (URDF/USD/MoveIt)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F3D9E"/>
                </a:solidFill>
                <a:latin typeface="맑은 고딕"/>
                <a:hlinkClick r:id="rId3"/>
              </a:rPr>
              <a:t>▪  doosan-robot-isaac-driver (실기 RT 제어)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F3D9E"/>
                </a:solidFill>
                <a:latin typeface="맑은 고딕"/>
                <a:hlinkClick r:id="rId4"/>
              </a:rPr>
              <a:t>▪  SMC LEHR 제품 페이지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F3D9E"/>
                </a:solidFill>
                <a:latin typeface="맑은 고딕"/>
                <a:hlinkClick r:id="rId5"/>
              </a:rPr>
              <a:t>▪  LEHR 운영 매뉴얼 (PDF)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F3D9E"/>
                </a:solidFill>
                <a:latin typeface="맑은 고딕"/>
                <a:hlinkClick r:id="rId6"/>
              </a:rPr>
              <a:t>▪  두산-Robotiq Modbus 연동 선례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F3D9E"/>
                </a:solidFill>
                <a:latin typeface="맑은 고딕"/>
                <a:hlinkClick r:id="rId7"/>
              </a:rPr>
              <a:t>▪  Isaac Sim 5.1 로봇 에셋 목록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F3D9E"/>
                </a:solidFill>
                <a:latin typeface="맑은 고딕"/>
                <a:hlinkClick r:id="rId8"/>
              </a:rPr>
              <a:t>▪  M1013 스펙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F3D9E"/>
                </a:solidFill>
                <a:latin typeface="맑은 고딕"/>
                <a:hlinkClick r:id="rId9"/>
              </a:rPr>
              <a:t>▪  M1013 프로젝트 저장소 (오늘 작업, 비공개)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F3D9E"/>
                </a:solidFill>
                <a:latin typeface="맑은 고딕"/>
                <a:hlinkClick r:id="rId10"/>
              </a:rPr>
              <a:t>▪  TX90 프로젝트 저장소 (기존, 비공개)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4000" y="6498000"/>
            <a:ext cx="11544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OMX→M1013 · 2026-08-20 · 작성 보조: Claude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