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1655999"/>
            <a:ext cx="1062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맑은 고딕"/>
              </a:rPr>
              <a:t>STEP 5-1 · 5-2 — 카메라 구도 정합</a:t>
            </a:r>
          </a:p>
          <a:p>
            <a:pPr>
              <a:spcBef>
                <a:spcPts val="1000"/>
              </a:spcBef>
            </a:pPr>
            <a:r>
              <a:rPr sz="1900" b="0">
                <a:solidFill>
                  <a:srgbClr val="B9C2F0"/>
                </a:solidFill>
                <a:latin typeface="맑은 고딕"/>
              </a:rPr>
              <a:t>OMX 학습 영상(손목캠+정면캠)과 같은 구도의 카메라 2대를 Isaac M1013 씬에 장착</a:t>
            </a:r>
          </a:p>
          <a:p>
            <a:pPr>
              <a:spcBef>
                <a:spcPts val="24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산출물:  cameras_v6match.json (확정 파라미터) · cam_match_v1.png (실물 vs sim 비교시트)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범위 조정:  v7 실기 이어학습 경로 확정 → closed-loop 우선순위 하향, 실물 도착(9/20) 준비 선행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6246000"/>
            <a:ext cx="86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B9C2F0"/>
                </a:solidFill>
                <a:latin typeface="맑은 고딕"/>
              </a:rPr>
              <a:t>2026-08-24 (월) · 이채원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00 파이프라인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전체 로드맵에서 오늘의 위치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4000" y="1044000"/>
            <a:ext cx="1692000" cy="756000"/>
          </a:xfrm>
          <a:prstGeom prst="roundRect">
            <a:avLst/>
          </a:prstGeom>
          <a:solidFill>
            <a:srgbClr val="1F6B4A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STEP 1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에셋·IK·배치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" y="1836000"/>
            <a:ext cx="16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6B4A"/>
                </a:solidFill>
                <a:latin typeface="맑은 고딕"/>
              </a:rPr>
              <a:t>8/20 완료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26800" y="1332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86000" y="1044000"/>
            <a:ext cx="1692000" cy="756000"/>
          </a:xfrm>
          <a:prstGeom prst="roundRect">
            <a:avLst/>
          </a:prstGeom>
          <a:solidFill>
            <a:srgbClr val="1F6B4A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STEP 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v6-M1013 데이터셋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36000"/>
            <a:ext cx="16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6B4A"/>
                </a:solidFill>
                <a:latin typeface="맑은 고딕"/>
              </a:rPr>
              <a:t>8/20 완료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88800" y="1332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48000" y="1044000"/>
            <a:ext cx="1692000" cy="756000"/>
          </a:xfrm>
          <a:prstGeom prst="roundRect">
            <a:avLst/>
          </a:prstGeom>
          <a:solidFill>
            <a:srgbClr val="1F6B4A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STEP 3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Isaac 물리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0" y="1836000"/>
            <a:ext cx="16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6B4A"/>
                </a:solidFill>
                <a:latin typeface="맑은 고딕"/>
              </a:rPr>
              <a:t>8/20 완료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50800" y="1332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000" y="1044000"/>
            <a:ext cx="1692000" cy="756000"/>
          </a:xfrm>
          <a:prstGeom prst="roundRect">
            <a:avLst/>
          </a:prstGeom>
          <a:solidFill>
            <a:srgbClr val="1F6B4A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STEP 4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ACT 학습·평가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000" y="1836000"/>
            <a:ext cx="16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6B4A"/>
                </a:solidFill>
                <a:latin typeface="맑은 고딕"/>
              </a:rPr>
              <a:t>8/20 완료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12800" y="1332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72000" y="1044000"/>
            <a:ext cx="1692000" cy="756000"/>
          </a:xfrm>
          <a:prstGeom prst="roundRect">
            <a:avLst/>
          </a:prstGeom>
          <a:solidFill>
            <a:srgbClr val="B45F06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STEP 5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카메라·closed-loop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2000" y="1836000"/>
            <a:ext cx="16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B45F06"/>
                </a:solidFill>
                <a:latin typeface="맑은 고딕"/>
              </a:rPr>
              <a:t>◀ 오늘 (진행 중)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74800" y="1332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134000" y="1044000"/>
            <a:ext cx="1692000" cy="756000"/>
          </a:xfrm>
          <a:prstGeom prst="roundRect">
            <a:avLst/>
          </a:prstGeom>
          <a:solidFill>
            <a:srgbClr val="626B78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STEP 6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실기 전이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000" y="1836000"/>
            <a:ext cx="16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26B78"/>
                </a:solidFill>
                <a:latin typeface="맑은 고딕"/>
              </a:rPr>
              <a:t>9/20 도착 예정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000" y="22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181D"/>
                </a:solidFill>
                <a:latin typeface="맑은 고딕"/>
              </a:rPr>
              <a:t>STEP 5 내부 분해 — 오늘은 5-1 · 5-2 완료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000" y="2556000"/>
            <a:ext cx="2700000" cy="936000"/>
          </a:xfrm>
          <a:prstGeom prst="roundRect">
            <a:avLst/>
          </a:prstGeom>
          <a:solidFill>
            <a:srgbClr val="1F6B4A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5-1  씬에 카메라 추가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정면캠(월드 고정)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손목캠(link_6 부착)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000" y="3528000"/>
            <a:ext cx="27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6B4A"/>
                </a:solidFill>
                <a:latin typeface="맑은 고딕"/>
              </a:rPr>
              <a:t>완료 ✔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034800" y="2934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294000" y="2556000"/>
            <a:ext cx="2700000" cy="936000"/>
          </a:xfrm>
          <a:prstGeom prst="roundRect">
            <a:avLst/>
          </a:prstGeom>
          <a:solidFill>
            <a:srgbClr val="1F6B4A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5-2  구도 정합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원본 영상과 위치·각도·FOV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일치 + 비교시트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4000" y="3528000"/>
            <a:ext cx="27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6B4A"/>
                </a:solidFill>
                <a:latin typeface="맑은 고딕"/>
              </a:rPr>
              <a:t>완료 ✔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04800" y="2934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4000" y="2556000"/>
            <a:ext cx="2700000" cy="936000"/>
          </a:xfrm>
          <a:prstGeom prst="roundRect">
            <a:avLst/>
          </a:prstGeom>
          <a:solidFill>
            <a:srgbClr val="626B78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5-3  closed-loop 가동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렌더 관측 → 정책 → 제어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시각 도메인 갭 측정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4000" y="3528000"/>
            <a:ext cx="27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626B78"/>
                </a:solidFill>
                <a:latin typeface="맑은 고딕"/>
              </a:rPr>
              <a:t>우선순위 하향 (13장)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974800" y="2934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234000" y="2556000"/>
            <a:ext cx="2700000" cy="936000"/>
          </a:xfrm>
          <a:prstGeom prst="roundRect">
            <a:avLst/>
          </a:prstGeom>
          <a:solidFill>
            <a:srgbClr val="626B78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5-4  (조건부) co-training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159ep 재렌더 A/B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갭이 크면 채택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4000" y="3528000"/>
            <a:ext cx="27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626B78"/>
                </a:solidFill>
                <a:latin typeface="맑은 고딕"/>
              </a:rPr>
              <a:t>보류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000" y="4031999"/>
            <a:ext cx="11520000" cy="23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5181D"/>
                </a:solidFill>
                <a:latin typeface="맑은 고딕"/>
              </a:rPr>
              <a:t>▪  왜 카메라 정합이 먼저인가: ACT 정책의 관측 = 두 카메라 영상. closed-loop 은 sim 렌더가 그 자리를 대신하므로,</a:t>
            </a:r>
          </a:p>
          <a:p>
            <a:pPr lvl="1">
              <a:spcAft>
                <a:spcPts val="600"/>
              </a:spcAft>
            </a:pPr>
            <a:r>
              <a:rPr sz="1350" b="0">
                <a:solidFill>
                  <a:srgbClr val="15181D"/>
                </a:solidFill>
                <a:latin typeface="맑은 고딕"/>
              </a:rPr>
              <a:t>–  학습 때 본 화면과 구도가 다르면 '시각 도메인 갭'과 '구도 불일치'가 섞여서 실패 원인을 분리할 수 없음</a:t>
            </a:r>
          </a:p>
          <a:p>
            <a:pPr lvl="1">
              <a:spcAft>
                <a:spcPts val="600"/>
              </a:spcAft>
            </a:pPr>
            <a:r>
              <a:rPr sz="1350" b="1">
                <a:solidFill>
                  <a:srgbClr val="15181D"/>
                </a:solidFill>
                <a:latin typeface="맑은 고딕"/>
              </a:rPr>
              <a:t>–  구도를 먼저 못박아 두면 남는 차이 = 순수 도메인 갭(로봇 외형·배경·질감) → 5-3 에서 정량 측정 가능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5181D"/>
                </a:solidFill>
                <a:latin typeface="맑은 고딕"/>
              </a:rPr>
              <a:t>▪  제약: 원본은 OMX(소형)·sim 은 M1013(대형) — '로봇 기준'이 아닌 작업 공간(큐브·그리퍼·테이블) 기준 정합을 선택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00 파이프라인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오늘 작업 파이프라인 — 5단계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4000" y="972000"/>
            <a:ext cx="2106000" cy="900000"/>
          </a:xfrm>
          <a:prstGeom prst="roundRect">
            <a:avLst/>
          </a:prstGeom>
          <a:solidFill>
            <a:srgbClr val="2F3D9E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① 원본 영상 확보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호스트 심링크 깨짐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→ 컨테이너 HF 캐시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430000" y="1332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681999" y="972000"/>
            <a:ext cx="2106000" cy="900000"/>
          </a:xfrm>
          <a:prstGeom prst="roundRect">
            <a:avLst/>
          </a:prstGeom>
          <a:solidFill>
            <a:srgbClr val="2F3D9E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② 카메라 구성 분석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camera1=손목캠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camera2=정면캠 판별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87999" y="1332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39998" y="972000"/>
            <a:ext cx="2106000" cy="900000"/>
          </a:xfrm>
          <a:prstGeom prst="roundRect">
            <a:avLst/>
          </a:prstGeom>
          <a:solidFill>
            <a:srgbClr val="2F3D9E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③ 정면캠 탐색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3라운드 × 후보 3~4개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위치·FOV 수렴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45998" y="1332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97997" y="972000"/>
            <a:ext cx="2106000" cy="900000"/>
          </a:xfrm>
          <a:prstGeom prst="roundRect">
            <a:avLst/>
          </a:prstGeom>
          <a:solidFill>
            <a:srgbClr val="2F3D9E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④ 손목캠 탐색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부착·롤 실증 3라운드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장착 오프셋 확정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03997" y="1332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55996" y="972000"/>
            <a:ext cx="2106000" cy="900000"/>
          </a:xfrm>
          <a:prstGeom prst="roundRect">
            <a:avLst/>
          </a:prstGeom>
          <a:solidFill>
            <a:srgbClr val="1F6B4A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⑤ 확정·산출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cameras_v6match.json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맑은 고딕"/>
              </a:rPr>
              <a:t>cam_match_v1.png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000" y="205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181D"/>
                </a:solidFill>
                <a:latin typeface="맑은 고딕"/>
              </a:rPr>
              <a:t>③④ 내부의 반복 단위 — Isaac 부팅이 느려서(회당 ~1분) 이렇게 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000" y="2376000"/>
            <a:ext cx="2628000" cy="684000"/>
          </a:xfrm>
          <a:prstGeom prst="roundRect">
            <a:avLst/>
          </a:prstGeom>
          <a:solidFill>
            <a:srgbClr val="EDEFF3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00" b="1">
                <a:solidFill>
                  <a:srgbClr val="15181D"/>
                </a:solidFill>
                <a:latin typeface="맑은 고딕"/>
              </a:rPr>
              <a:t>실측 역산으로</a:t>
            </a:r>
          </a:p>
          <a:p>
            <a:pPr algn="ctr"/>
            <a:r>
              <a:rPr sz="1000" b="0">
                <a:solidFill>
                  <a:srgbClr val="15181D"/>
                </a:solidFill>
                <a:latin typeface="맑은 고딕"/>
              </a:rPr>
              <a:t>초기값·범위 산출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52000" y="2627999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03999" y="2376000"/>
            <a:ext cx="2628000" cy="684000"/>
          </a:xfrm>
          <a:prstGeom prst="roundRect">
            <a:avLst/>
          </a:prstGeom>
          <a:solidFill>
            <a:srgbClr val="EDEFF3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00" b="1">
                <a:solidFill>
                  <a:srgbClr val="15181D"/>
                </a:solidFill>
                <a:latin typeface="맑은 고딕"/>
              </a:rPr>
              <a:t>Isaac 1회 부팅에</a:t>
            </a:r>
          </a:p>
          <a:p>
            <a:pPr algn="ctr"/>
            <a:r>
              <a:rPr sz="1000" b="0">
                <a:solidFill>
                  <a:srgbClr val="15181D"/>
                </a:solidFill>
                <a:latin typeface="맑은 고딕"/>
              </a:rPr>
              <a:t>후보 3~4개 동시 렌더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31999" y="2627999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3998" y="2376000"/>
            <a:ext cx="2628000" cy="684000"/>
          </a:xfrm>
          <a:prstGeom prst="roundRect">
            <a:avLst/>
          </a:prstGeom>
          <a:solidFill>
            <a:srgbClr val="EDEFF3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00" b="1">
                <a:solidFill>
                  <a:srgbClr val="15181D"/>
                </a:solidFill>
                <a:latin typeface="맑은 고딕"/>
              </a:rPr>
              <a:t>원본과 픽셀 정량 비교</a:t>
            </a:r>
          </a:p>
          <a:p>
            <a:pPr algn="ctr"/>
            <a:r>
              <a:rPr sz="1000" b="0">
                <a:solidFill>
                  <a:srgbClr val="15181D"/>
                </a:solidFill>
                <a:latin typeface="맑은 고딕"/>
              </a:rPr>
              <a:t>(주사위 위치·크기 %)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11998" y="2627999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3997" y="2376000"/>
            <a:ext cx="2628000" cy="684000"/>
          </a:xfrm>
          <a:prstGeom prst="roundRect">
            <a:avLst/>
          </a:prstGeom>
          <a:solidFill>
            <a:srgbClr val="EDEFF3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00" b="1">
                <a:solidFill>
                  <a:srgbClr val="15181D"/>
                </a:solidFill>
                <a:latin typeface="맑은 고딕"/>
              </a:rPr>
              <a:t>차이의 원인 해석</a:t>
            </a:r>
          </a:p>
          <a:p>
            <a:pPr algn="ctr"/>
            <a:r>
              <a:rPr sz="1000" b="0">
                <a:solidFill>
                  <a:srgbClr val="15181D"/>
                </a:solidFill>
                <a:latin typeface="맑은 고딕"/>
              </a:rPr>
              <a:t>→ 다음 후보 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000" y="3096000"/>
            <a:ext cx="11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626B78"/>
                </a:solidFill>
                <a:latin typeface="맑은 고딕"/>
              </a:rPr>
              <a:t>↺ 3라운드 반복 후 수렴 — 정면캠(A~D → E~H → F1~F3), 손목캠(W1~4 → 롤 스윕 → V1~3)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4000" y="3420000"/>
          <a:ext cx="11555997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3592"/>
                <a:gridCol w="3272495"/>
                <a:gridCol w="4192884"/>
                <a:gridCol w="3477026"/>
              </a:tblGrid>
              <a:tr h="4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사용 도구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v6 심링크(깨짐)·컨테이너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omx v4 원본 mp4 (159ep×2뷰)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docker exec + 컨테이너 ffmpeg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원본 mp4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카메라 역할·스펙·이상 에피소드 판별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프레임 그리드 추출·육안+픽셀 분석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③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기준 프레임(정면 홈·파지)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F1 확정: pos·look_at·f15mm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frontcam_probe.py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④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기준 프레임(손목 홈·파지)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V3 확정: local_pos·롤·f18mm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wristcam_probe.py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⑤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③④ 확정값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cameras_v6match.json · cam_match_v1.png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JSON 직렬화·비교시트 합성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01 분석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원본(OMX v6) 카메라 구성 — 손목캠 + 정면캠</a:t>
            </a:r>
          </a:p>
        </p:txBody>
      </p:sp>
      <p:pic>
        <p:nvPicPr>
          <p:cNvPr id="3" name="Picture 2" descr="ref_c2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900000"/>
            <a:ext cx="3888000" cy="2916000"/>
          </a:xfrm>
          <a:prstGeom prst="rect">
            <a:avLst/>
          </a:prstGeom>
        </p:spPr>
      </p:pic>
      <p:pic>
        <p:nvPicPr>
          <p:cNvPr id="4" name="Picture 3" descr="wrist_ref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000" y="900000"/>
            <a:ext cx="3888000" cy="291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4000" y="3844800"/>
            <a:ext cx="38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5181D"/>
                </a:solidFill>
                <a:latin typeface="맑은 고딕"/>
              </a:rPr>
              <a:t>camera2 = 정면 고정캠 — 낮은 앵글 · pick 좌 · place 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92000" y="3844800"/>
            <a:ext cx="38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5181D"/>
                </a:solidFill>
                <a:latin typeface="맑은 고딕"/>
              </a:rPr>
              <a:t>camera1 = 손목캠 — 주사위 위→아래 진입, 파지 시 하단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4000" y="4212000"/>
          <a:ext cx="11555999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6145"/>
                <a:gridCol w="9349854"/>
              </a:tblGrid>
              <a:tr h="39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해상도·FPS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640×480 · 30fps (두 뷰 동일) · 에피소드당 ~460프레임(≈15초)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camera1 (손목캠)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그리퍼 장착 하향 시점 · 이미지 위 = 접근 방향 · 파지점은 화면 하단 중앙 · 핑거가 모서리에 걸림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camera2 (정면캠)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테이블 상판 높이+약 10cm · 주사위와 25~30cm (픽셀 크기로 역산) · HFOV 60~70° 추정 · 배경에 사람·파티션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에피소드 변주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place 쪽 주사위 색·개수가 에피소드마다 다름 (흰1/노1/초·주·빨3 …) — 자연 도메인 랜덤화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4000" y="6263999"/>
            <a:ext cx="115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B45F06"/>
                </a:solidFill>
                <a:latin typeface="맑은 고딕"/>
              </a:rPr>
              <a:t>▪  부수 발견: v4 ep0 은 카메라 매핑 불량(정면↔먹통 회색) — v6 는 심링크 리매핑(v6 ep0→v4 ep1)으로 이미 제외되어 있었음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02 트러블슈팅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트러블슈팅 ①② — 원본 영상이 호스트에 없다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4000" y="936000"/>
          <a:ext cx="11555998" cy="16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2191"/>
                <a:gridCol w="3265826"/>
                <a:gridCol w="3667773"/>
                <a:gridCol w="4170208"/>
              </a:tblGrid>
              <a:tr h="5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증상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원인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해결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v6 videos/ 의 mp4 가 전부 열리지 않음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전부 심링크인데 목적지 폴더(modeldataset/datasets/omx_…_v4_162)가 삭제됨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컨테이너 physical_ai_server 의 HF 캐시에서 원본 발견 → docker cp 로 추출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호스트에 ffmpeg 없음 + cv2 는 NumPy 2.x 충돌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호스트 파이썬 환경이 렌더/ML 용으로만 구성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컨테이너 안 ffmpeg 로 프레임 추출 후 꺼내오는 우회 (docker exec + docker cp)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24000" y="2736000"/>
            <a:ext cx="115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5181D"/>
                </a:solidFill>
                <a:latin typeface="맑은 고딕"/>
              </a:rPr>
              <a:t>▪  원본 실체 경로 (이후에도 필요 — 재렌더·co-training 시):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5181D"/>
                </a:solidFill>
                <a:latin typeface="Consolas"/>
              </a:rPr>
              <a:t>–  physical_ai_server:/root/.cache/huggingface/lerobot/dlcodnjs/omx_act_pick_and_place_v4_162/videos/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5181D"/>
                </a:solidFill>
                <a:latin typeface="맑은 고딕"/>
              </a:rPr>
              <a:t>▪  교훈: 깨진 심링크는 '데이터 소실'이 아니라 '참조 대상 이동'일 수 있음 — readlink -f 로 목적지부터 확인</a:t>
            </a:r>
          </a:p>
        </p:txBody>
      </p:sp>
      <p:pic>
        <p:nvPicPr>
          <p:cNvPr id="5" name="Picture 4" descr="c2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3960000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000" y="6148800"/>
            <a:ext cx="57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5181D"/>
                </a:solidFill>
                <a:latin typeface="맑은 고딕"/>
              </a:rPr>
              <a:t>v4 ep0 의 camera2 — 에피소드 내내 동일한 회색 정지화면 (매핑 불량의 증거, v6 에서 제외됨)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8000" y="4031999"/>
            <a:ext cx="5472000" cy="20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15181D"/>
                </a:solidFill>
                <a:latin typeface="맑은 고딕"/>
              </a:rPr>
              <a:t>▪  ep0 이상 판별 과정: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–  f0/f240/f420 세 프레임이 픽셀 동일 → 고정 먹통 캠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–  ep10~150 은 camera1 이 움직이는 손목캠으로 정상</a:t>
            </a:r>
          </a:p>
          <a:p>
            <a:pPr lvl="1">
              <a:spcAft>
                <a:spcPts val="600"/>
              </a:spcAft>
            </a:pPr>
            <a:r>
              <a:rPr sz="1250" b="1">
                <a:solidFill>
                  <a:srgbClr val="1F6B4A"/>
                </a:solidFill>
                <a:latin typeface="맑은 고딕"/>
              </a:rPr>
              <a:t>–  v6 심링크가 ep 번호를 리매핑(ep0→v4 ep1)함을 확인 → 학습 데이터는 무결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03 방법 선택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카메라 정합 방법 — 채택한 접근과 검토한 대안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4000" y="864000"/>
            <a:ext cx="11520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1F6B4A"/>
                </a:solidFill>
                <a:latin typeface="맑은 고딕"/>
              </a:rPr>
              <a:t>▪  채택: 실측 역산(초기값) + 후보 스윕(배치 렌더) + 픽셀 정량 비교 — '수동 좌표하강'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초기값: 원본 주사위 픽셀 크기(88px)→카메라-주사위 거리 25~30cm 역산, 웹캠 FOV 통념(60~70°)으로 범위 한정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1회 Isaac 부팅에 후보 3~4개 동시 렌더 → 주사위 화면 좌표(%)로 정량 채점 → 3라운드에 수렴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4000" y="2015999"/>
          <a:ext cx="11555999" cy="30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648"/>
                <a:gridCol w="3790367"/>
                <a:gridCol w="5361984"/>
              </a:tblGrid>
              <a:tr h="61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기각 이유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PnP / 체커보드 캘리브레이션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대응점으로 카메라 외부·내부 파라미터를 해석적으로 풀기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A9331D"/>
                          </a:solidFill>
                          <a:latin typeface="맑은 고딕"/>
                        </a:rPr>
                        <a:t>당시 '타깃 없음'으로 기각 — 그러나 오판. 큐브 파지 위치가 곧 타깃이었음 (13장에서 정정)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미분가능 렌더링 최적화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렌더-원본 픽셀 손실을 경사하강으로 자동 최소화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씬 내용이 달라(사람·로봇 외형) 픽셀 손실이 의미 없음 + 구축 비용 과다 — 7개 파라미터에 과한 도구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Isaac GUI 수동 시점 조작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창을 띄워 마우스로 맞추고 파라미터 읽기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재현성 없음 · 정량 기록 안 남음 · FOV(내부 파라미터) 조정 불가에 가까움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손목캠 롤 해석적 유도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Camera 클래스 축 관례로 up 벡터를 수식으로 계산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45F06"/>
                          </a:solidFill>
                          <a:latin typeface="맑은 고딕"/>
                        </a:rPr>
                        <a:t>시도했으나 실패 — up 인자와 실효 이미지-up 매핑이 관례와 달랐음 → 90° 스윕 실증으로 전환 (T/S ④)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4000" y="5400000"/>
            <a:ext cx="115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5181D"/>
                </a:solidFill>
                <a:latin typeface="맑은 고딕"/>
              </a:rPr>
              <a:t>▪  선택 기준: 완전 자동화가 불가능한 문제(정답 구도가 애초에 존재하지 않음)에서는, 사람이 판단 루프에 남되</a:t>
            </a:r>
          </a:p>
          <a:p>
            <a:pPr lvl="1">
              <a:spcAft>
                <a:spcPts val="600"/>
              </a:spcAft>
            </a:pPr>
            <a:r>
              <a:rPr sz="1350" b="1">
                <a:solidFill>
                  <a:srgbClr val="15181D"/>
                </a:solidFill>
                <a:latin typeface="맑은 고딕"/>
              </a:rPr>
              <a:t>–  렌더 배치·정량 채점·기록을 자동화해 반복 비용을 최소화하는 절충이 가장 빠르고 재현 가능했음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04 정면캠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정면캠 탐색 — 3라운드 수렴 과정</a:t>
            </a:r>
          </a:p>
        </p:txBody>
      </p:sp>
      <p:pic>
        <p:nvPicPr>
          <p:cNvPr id="3" name="Picture 2" descr="prob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900000"/>
            <a:ext cx="3744000" cy="18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4000" y="2800800"/>
            <a:ext cx="374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5181D"/>
                </a:solidFill>
                <a:latin typeface="맑은 고딕"/>
              </a:rPr>
              <a:t>R1 (A~D): 너무 멀다 — 상판 옆면·바닥 노출</a:t>
            </a:r>
          </a:p>
        </p:txBody>
      </p:sp>
      <p:pic>
        <p:nvPicPr>
          <p:cNvPr id="5" name="Picture 4" descr="probe_gri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000" y="900000"/>
            <a:ext cx="3744000" cy="18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284000" y="2800800"/>
            <a:ext cx="374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5181D"/>
                </a:solidFill>
                <a:latin typeface="맑은 고딕"/>
              </a:rPr>
              <a:t>R2 (E~H): 테이블 앞으로 당김 — F 채택</a:t>
            </a:r>
          </a:p>
        </p:txBody>
      </p:sp>
      <p:pic>
        <p:nvPicPr>
          <p:cNvPr id="7" name="Picture 6" descr="probe_gri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4000" y="900000"/>
            <a:ext cx="2496000" cy="18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44000" y="2800800"/>
            <a:ext cx="249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5181D"/>
                </a:solidFill>
                <a:latin typeface="맑은 고딕"/>
              </a:rPr>
              <a:t>R3 (F1~F3): 흰벽+회색 테이블 — F1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000" y="3131999"/>
            <a:ext cx="11520000" cy="165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▪  R1→R2 판단: 원본은 카메라가 상판 바로 위(+10cm)에서 표면을 스치듯 봄 — 렌더는 멀어서 옆면·바닥까지 보임 → x 2.2→1.2~1.4m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▪  R2→R3 판단: 구도는 맞았으나 배경(파란 격자 바닥)·테이블색(갈색)이 실물(흰 벽·회색)과 상이 → 씬 보정 (도메인 갭 직접 감소)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5181D"/>
                </a:solidFill>
                <a:latin typeface="맑은 고딕"/>
              </a:rPr>
              <a:t>▪  정량 채점 (주사위 화면 가로 위치): 원본 파랑 19% · 노랑 84%  →  F1 파랑 29% · 노랑 79% (후보 중 최근접)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6B4A"/>
                </a:solidFill>
                <a:latin typeface="Consolas"/>
              </a:rPr>
              <a:t>▪  확정 F1: pos (1.20, −0.25, 0.46) · look_at (0.45, −0.15, 0.52) · focal 15mm (HFOV 69.9°) · 640×480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4932000"/>
          <a:ext cx="11555999" cy="1241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927"/>
                <a:gridCol w="9770072"/>
              </a:tblGrid>
              <a:tr h="413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트러블슈팅 ③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증상: 1차 프로브 전멸 (zero-norm quaternion 예외)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원인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look-at→쿼터니언 단순 공식(w=√(1+trace)/2 로 나눔)은 카메라가 정확히 −x 를 볼 때 180° 회전 → w=0 → 0-나눗셈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해결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scipy Rotation.from_matrix 로 교체 (특이점 안전) — 기존 capture_m1013.py 는 카메라가 비스듬해 우연히 안 걸렸던 것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05 손목캠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손목캠 — 실물 거동 분석 → 장착 기하 역산</a:t>
            </a:r>
          </a:p>
        </p:txBody>
      </p:sp>
      <p:pic>
        <p:nvPicPr>
          <p:cNvPr id="3" name="Picture 2" descr="c1ep80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900000"/>
            <a:ext cx="5040000" cy="25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4000" y="3448800"/>
            <a:ext cx="50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5181D"/>
                </a:solidFill>
                <a:latin typeface="맑은 고딕"/>
              </a:rPr>
              <a:t>ep80 camera1 시간축 (80프레임 간격) — 주사위가 위에서 진입해 하단에서 커짐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16000" y="900000"/>
            <a:ext cx="6263999" cy="29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5181D"/>
                </a:solidFill>
                <a:latin typeface="맑은 고딕"/>
              </a:rPr>
              <a:t>▪  실물 프레임에서 읽어낸 3가지 (역산의 근거):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① 하향 시점 + 이미지 위 = 이동(접근) 방향 — 주사위가 위에서 진입하므로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② 파지점이 화면 하단 중앙 → 카메라가 파지축에서 접근 방향으로 ~6.5cm 오프셋 장착 (거리×tan 편차각 역산)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③ 파지 시 주사위 폭 ~250px → 카메라-주사위 6~10cm (OMX 는 캠이 핑거 근처)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5181D"/>
                </a:solidFill>
                <a:latin typeface="맑은 고딕"/>
              </a:rPr>
              <a:t>▪  sim 이식 (플랜지 로컬 좌표로 환산):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Consolas"/>
              </a:rPr>
              <a:t>–  접근 방향 = 플랜지 로컬 (−0.655, −0.755, 0) — flange0 궤적에서 역산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전방 = 로컬 +z (손목 45° 보정 덕에 파지 시 세계 수직 하향)</a:t>
            </a:r>
          </a:p>
          <a:p>
            <a:pPr lvl="1">
              <a:spcAft>
                <a:spcPts val="600"/>
              </a:spcAft>
            </a:pPr>
            <a:r>
              <a:rPr sz="1300" b="1">
                <a:solidFill>
                  <a:srgbClr val="15181D"/>
                </a:solidFill>
                <a:latin typeface="맑은 고딕"/>
              </a:rPr>
              <a:t>–  부착 = link_6 의 자식 prim → USD 변환 상속으로 물리를 자동 추종 (조인트 불필요)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" y="4176000"/>
            <a:ext cx="11520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5181D"/>
                </a:solidFill>
                <a:latin typeface="맑은 고딕"/>
              </a:rPr>
              <a:t>▪  M1013 스케일 제약: 그리퍼가 길어(플랜지→팁 0.21m) 실물만큼 주사위를 크게 볼 수 없음 → FOV 60°로 절충 (실물 대비 약 70% 크기)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5181D"/>
                </a:solidFill>
                <a:latin typeface="맑은 고딕"/>
              </a:rPr>
              <a:t>▪  라운드 구성: R1 (W1~4: 오프셋·FOV 스윕) → R2 (롤 90° 단위 실증) → R3 (V1~3: 롤 미세보정 +40°/55° · 오프셋 40/60mm)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05 손목캠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트러블슈팅 ④ — 이미지 롤이 90° 틀어짐 → 실증 스윕으로 보정</a:t>
            </a:r>
          </a:p>
        </p:txBody>
      </p:sp>
      <p:pic>
        <p:nvPicPr>
          <p:cNvPr id="3" name="Picture 2" descr="wprobe_gra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900000"/>
            <a:ext cx="4752000" cy="23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4000" y="3304800"/>
            <a:ext cx="47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5181D"/>
                </a:solidFill>
                <a:latin typeface="맑은 고딕"/>
              </a:rPr>
              <a:t>R1: 큐브가 하단이 아닌 오른쪽에 — up 축 매핑이 가정과 다름</a:t>
            </a:r>
          </a:p>
        </p:txBody>
      </p:sp>
      <p:pic>
        <p:nvPicPr>
          <p:cNvPr id="5" name="Picture 4" descr="wprobe2_gra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000" y="3708000"/>
            <a:ext cx="4752000" cy="237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000" y="6112800"/>
            <a:ext cx="47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5181D"/>
                </a:solidFill>
                <a:latin typeface="맑은 고딕"/>
              </a:rPr>
              <a:t>R2: up 인자 90° 단위 스윕 — 화면이 함께 회전함을 실증 (L90 우상 → 180 좌상 → R90 좌하)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8000" y="900000"/>
            <a:ext cx="6552000" cy="5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5181D"/>
                </a:solidFill>
                <a:latin typeface="맑은 고딕"/>
              </a:rPr>
              <a:t>▪  증상: 오프셋을 '이미지 위' 방향으로 줬는데 큐브가 순수하게 '오른쪽'으로 밀림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5181D"/>
                </a:solidFill>
                <a:latin typeface="맑은 고딕"/>
              </a:rPr>
              <a:t>▪  진단 논리 (기하로 모순 증명):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–  오프셋 o 를 up 방향으로 주면 파지점의 화면 변위는 up 성분만 가질 수 있음 (right 성분 = o·(f×up) = 0)</a:t>
            </a:r>
          </a:p>
          <a:p>
            <a:pPr lvl="1">
              <a:spcAft>
                <a:spcPts val="600"/>
              </a:spcAft>
            </a:pPr>
            <a:r>
              <a:rPr sz="1250" b="1">
                <a:solidFill>
                  <a:srgbClr val="15181D"/>
                </a:solidFill>
                <a:latin typeface="맑은 고딕"/>
              </a:rPr>
              <a:t>–  그런데 순수 right 변위가 관측됨 → 실효 이미지-up 이 지정한 up 과 90° 어긋났다는 뜻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▪  원인(추정): Isaac Camera 의 world-axes 규약에서 up 인자→실효 롤 매핑이 look-at 축 조합에 따라 문서 통념과 다름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6B4A"/>
                </a:solidFill>
                <a:latin typeface="맑은 고딕"/>
              </a:rPr>
              <a:t>▪  해결: 해석 포기 → 실증 캘리브레이션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–  R2: up 인자를 90° 단위로 4방향 렌더 → 'up 인자 +90° = 화면 +90° 회전' 관계와 현재 오차각(215° vs 목표 270°)을 실측</a:t>
            </a:r>
          </a:p>
          <a:p>
            <a:pPr lvl="1">
              <a:spcAft>
                <a:spcPts val="600"/>
              </a:spcAft>
            </a:pPr>
            <a:r>
              <a:rPr sz="1250" b="1">
                <a:solidFill>
                  <a:srgbClr val="15181D"/>
                </a:solidFill>
                <a:latin typeface="맑은 고딕"/>
              </a:rPr>
              <a:t>–  R3: 부족분 +40°/+55° 후보로 미세보정 → +55°(R145)가 하단 중앙 적중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B45F06"/>
                </a:solidFill>
                <a:latin typeface="맑은 고딕"/>
              </a:rPr>
              <a:t>▪  기록: 확정 up_arg 는 '보정된 값'이므로 JSON 에 경고 주석과 함께 저장 — 재유도 금지, 그대로 쓸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05 손목캠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손목캠 확정 (V3) + 트러블슈팅 ⑤ 테이블 확대</a:t>
            </a:r>
          </a:p>
        </p:txBody>
      </p:sp>
      <p:pic>
        <p:nvPicPr>
          <p:cNvPr id="3" name="Picture 2" descr="wprobe3_gra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900000"/>
            <a:ext cx="3888000" cy="291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4000" y="3844800"/>
            <a:ext cx="38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5181D"/>
                </a:solidFill>
                <a:latin typeface="맑은 고딕"/>
              </a:rPr>
              <a:t>R3 파지 컷 — V3: 큐브가 실물처럼 하단(38%, 86%)에서 프레임에 걸림</a:t>
            </a:r>
          </a:p>
        </p:txBody>
      </p:sp>
      <p:pic>
        <p:nvPicPr>
          <p:cNvPr id="5" name="Picture 4" descr="wprobe3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000" y="900000"/>
            <a:ext cx="3888000" cy="291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92000" y="3844800"/>
            <a:ext cx="38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5181D"/>
                </a:solidFill>
                <a:latin typeface="맑은 고딕"/>
              </a:rPr>
              <a:t>R3 홈 컷 — 회색 표면 + 핑거 가장자리 (실물 f0 과 같은 구성)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24000" y="900000"/>
            <a:ext cx="3456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6B4A"/>
                </a:solidFill>
                <a:latin typeface="맑은 고딕"/>
              </a:rPr>
              <a:t>▪  확정 V3: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5181D"/>
                </a:solidFill>
                <a:latin typeface="Consolas"/>
              </a:rPr>
              <a:t>–  local_pos (−0.039, −0.045, 0.05)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5181D"/>
                </a:solidFill>
                <a:latin typeface="Consolas"/>
              </a:rPr>
              <a:t>–  forward = 로컬 +z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5181D"/>
                </a:solidFill>
                <a:latin typeface="Consolas"/>
              </a:rPr>
              <a:t>–  up_arg (−0.970, −0.243, 0)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5181D"/>
                </a:solidFill>
                <a:latin typeface="Consolas"/>
              </a:rPr>
              <a:t>–  focal 18mm (HFOV 60.3°)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▪  정량: 파지 컷 큐브 중심 (0.38, 0.86) · 폭 170px — 실물 (~0.33, ~0.9) · ~250px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4000" y="4464000"/>
          <a:ext cx="11555999" cy="1241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927"/>
                <a:gridCol w="9770072"/>
              </a:tblGrid>
              <a:tr h="413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트러블슈팅 ⑤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증상: 파지 컷에 실물에 없는 테이블 모서리·파란 바닥이 보임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원인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M1013 파지점이 테이블 구석에서 13~14cm — 하향 60~70° 시야에 모서리 진입 (실물은 시야 대비 테이블이 큼)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해결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렌더용 테이블만 (0.49,0.60)→(0.85,1.10)m 확대, 상판 z 동일 — 물리 검증 씬은 원치수 유지. 결과: 모서리 완전 소거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4000" y="5868000"/>
            <a:ext cx="1152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B45F06"/>
                </a:solidFill>
                <a:latin typeface="맑은 고딕"/>
              </a:rPr>
              <a:t>▪  확대는 물리에 무해: 큐브 pick/place 는 테이블 중앙부라 지지면 변화 없음 — 단, 5-3 씬 조립 시 이 값(scene_render)을 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06 결과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최종 결과 — 실물 vs sim 4쌍 비교 (cam_match_v1.png)</a:t>
            </a:r>
          </a:p>
        </p:txBody>
      </p:sp>
      <p:pic>
        <p:nvPicPr>
          <p:cNvPr id="3" name="Picture 2" descr="cam_match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827999"/>
            <a:ext cx="3762720" cy="561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74720" y="972000"/>
            <a:ext cx="7493399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5181D"/>
                </a:solidFill>
                <a:latin typeface="맑은 고딕"/>
              </a:rPr>
              <a:t>▪  왼쪽 열 = OMX 실물 학습 영상, 오른쪽 열 = M1013 Isaac 렌더 (같은 시점: 홈 / 파지)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6B4A"/>
                </a:solidFill>
                <a:latin typeface="맑은 고딕"/>
              </a:rPr>
              <a:t>▪  정합된 것 (구도):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정면캠: 낮은 앵글 · 테이블이 하단 채움 · pick 좌 / place+노랑 우 · 그리퍼 중앙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손목캠: 하향 + 이미지 위=접근 방향 · 파지점 하단 중앙 · 핑거 가장자리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배경: 흰 벽 · 회색 테이블 (실물 근사)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45F06"/>
                </a:solidFill>
                <a:latin typeface="맑은 고딕"/>
              </a:rPr>
              <a:t>▪  남는 차이 = 5-3 에서 측정할 순수 도메인 갭: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로봇 외형 (검정 OMX ↔ 흰색 M1013 · 크기)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사람·의자·파티션 등 배경 사물 없음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질감·조명 (실사 노이즈 ↔ 클린 렌더)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주사위 외형 (둥근 폼 주사위 ↔ 각진 큐브)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5181D"/>
                </a:solidFill>
                <a:latin typeface="맑은 고딕"/>
              </a:rPr>
              <a:t>▪  이 차이들이 closed-loop 성능에 주는 영향이 크면 → 5-4 co-training(159ep 재렌더 혼합)으로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07 산출물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오늘 생성한 파일 전체 — 무엇이 무엇인지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4000" y="936000"/>
          <a:ext cx="11555999" cy="437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1963"/>
                <a:gridCol w="1155600"/>
                <a:gridCol w="6618436"/>
              </a:tblGrid>
              <a:tr h="48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파일 (BASE=/home/kim/m1013)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내용 · 용도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Consolas"/>
                        </a:rPr>
                        <a:t>cameras_v6match.json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확정값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★ 카메라 2대 확정 파라미터 + 렌더 씬 설정(확대 테이블·벽) — 5-3 렌더러가 읽을 단일 소스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frontcam_probe.py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코드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정면캠 후보 배치 렌더 (CANDS 리스트 수정→재실행). 확정 F1 후보가 코드에 남아있음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wristcam_probe.py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코드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손목캠 후보 배치 렌더 — link_6 부착·롤 실증·홈/파지 2포즈. 확정 V3 = V3_r145_off60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Consolas"/>
                        </a:rPr>
                        <a:t>sim_out/cam_match_v1.png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★ 실물 vs sim 4쌍 비교시트 — 보고·랩미팅용 최종 결과물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sim_out/frontcam_probe/*.png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정면캠 후보별 렌더 (R1 A~D · R2 E~H · R3 F1~F3)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sim_out/wristcam_probe/*.png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손목캠 후보별 렌더 (이름_home / 이름_grasp 2포즈씩)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대화록 및 PPT/img_0824/*.png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분석 근거 자료 — 원본 프레임(ref_*)·거동 그리드(wrist_ref, c1ep80)·라운드별 비교(probe_grid*, wprobe*)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make_report_pptx_0824.py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코드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이 PPT 생성 스크립트 (남색 바+flowbox 체계)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24000" y="5616000"/>
            <a:ext cx="11520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Consolas"/>
              </a:rPr>
              <a:t>▪  재실행 (프로브): cd /home/kim/isaacsim &amp;&amp; ./python.sh /home/kim/m1013/frontcam_probe.py  (wristcam 동일 — 회당 ~1분)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Consolas"/>
              </a:rPr>
              <a:t>▪  실물 기준 프레임 재추출: docker exec physical_ai_server ffmpeg … (경로는 T/S ①② 슬라이드 참조)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08 목적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왜 카메라를 설치했나 — 목적과 검사 가능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4000" y="864000"/>
            <a:ext cx="1152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5181D"/>
                </a:solidFill>
                <a:latin typeface="맑은 고딕"/>
              </a:rPr>
              <a:t>▪  ① 정책 관측 확보 — ACT 정책의 입력은 손목캠·정면캠 이미지 2장. sim 안에서 정책을 구동하려면 매 스텝 관측 화면을 렌더로 생성해야 함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기존 검증(open-loop 평가 · 정책 궤적 물리 재생)은 모두 실제 OMX 영상을 먹인 것 — 정책이 sim 을 본 적은 한 번도 없었음. 지금까지 시뮬레이션은 '재생 장치'였음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5181D"/>
                </a:solidFill>
                <a:latin typeface="맑은 고딕"/>
              </a:rPr>
              <a:t>▪  ② 실물 준비 자산 확보 — 확정 파라미터·탐색 도구는 실물 손목캠 부품/마운트 선정 시 '해당 FOV·위치에서 시야가 충분한가'를 프린팅 전에 검증하는 데 재사용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관측 → 추론 → 관절명령 파이프라인 구조는 실물에서도 동일 — 도착 후 시간 절약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4000" y="2592000"/>
          <a:ext cx="11555999" cy="2015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927"/>
                <a:gridCol w="2311200"/>
                <a:gridCol w="1996036"/>
                <a:gridCol w="5462836"/>
              </a:tblGrid>
              <a:tr h="50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시점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이미지 출처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로봇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무엇을 알 수 있나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지금까지 (STEP 4)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실제 OMX 영상 파일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없음 (예측만 비교)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정책이 학습 분포를 재현하는가 (open-loop 0.62~0.67°)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STEP 5-3 (가능해짐)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Isaac 렌더 ← 오늘 작업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Isaac 안 가상 M1013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예상 못 한 상황에 반응하는가 — 큐브 위치 변경 · 파지 어긋남 복구 · 초기자세 교란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로봇 도착 후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실물 카메라 사진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진짜 M1013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실제 성능 (Isaac 은 루프에서 빠짐)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4000" y="4752000"/>
            <a:ext cx="1152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B45F06"/>
                </a:solidFill>
                <a:latin typeface="맑은 고딕"/>
              </a:rPr>
              <a:t>▪  한계 — 결론이 비대칭임을 명시할 것: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sim 에서 성공해도 실물 성공의 보장이 아님 (렌더 화면 ≠ 실물 사진)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sim 에서 실패해도 정책 결함인지 sim 이 안 닮은 탓인지 구분 불가</a:t>
            </a:r>
          </a:p>
          <a:p>
            <a:pPr lvl="1">
              <a:spcAft>
                <a:spcPts val="600"/>
              </a:spcAft>
            </a:pPr>
            <a:r>
              <a:rPr sz="1300" b="1">
                <a:solidFill>
                  <a:srgbClr val="15181D"/>
                </a:solidFill>
                <a:latin typeface="맑은 고딕"/>
              </a:rPr>
              <a:t>–  따라서 closed-loop 성공률 숫자 자체의 증명력은 약함 — 가치는 '파이프라인 리허설'과 '반응성 관찰'에 있음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09 실물 연결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가상 카메라와 실물 카메라는 어떻게 이어지나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4000" y="827999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181D"/>
                </a:solidFill>
                <a:latin typeface="맑은 고딕"/>
              </a:rPr>
              <a:t>정책에는 '640×480 이미지를 꽂는 구멍'이 2개 — 무엇을 꽂든 정책은 구분하지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" y="1152000"/>
            <a:ext cx="2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D9E"/>
                </a:solidFill>
                <a:latin typeface="맑은 고딕"/>
              </a:rPr>
              <a:t>지금 (로봇 없음)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000" y="1440000"/>
            <a:ext cx="2376000" cy="648000"/>
          </a:xfrm>
          <a:prstGeom prst="roundRect">
            <a:avLst/>
          </a:prstGeom>
          <a:solidFill>
            <a:srgbClr val="EDEFF3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15181D"/>
                </a:solidFill>
                <a:latin typeface="맑은 고딕"/>
              </a:rPr>
              <a:t>Isaac 렌더 이미지</a:t>
            </a:r>
          </a:p>
          <a:p>
            <a:pPr algn="ctr"/>
            <a:r>
              <a:rPr sz="1050" b="0">
                <a:solidFill>
                  <a:srgbClr val="15181D"/>
                </a:solidFill>
                <a:latin typeface="맑은 고딕"/>
              </a:rPr>
              <a:t>+ 관절 상태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36000" y="1674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24000" y="1440000"/>
            <a:ext cx="2376000" cy="648000"/>
          </a:xfrm>
          <a:prstGeom prst="roundRect">
            <a:avLst/>
          </a:prstGeom>
          <a:solidFill>
            <a:srgbClr val="2F3D9E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ACT 정책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436000" y="1674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724000" y="1440000"/>
            <a:ext cx="2376000" cy="648000"/>
          </a:xfrm>
          <a:prstGeom prst="roundRect">
            <a:avLst/>
          </a:prstGeom>
          <a:solidFill>
            <a:srgbClr val="EDEFF3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15181D"/>
                </a:solidFill>
                <a:latin typeface="맑은 고딕"/>
              </a:rPr>
              <a:t>관절 명령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136000" y="1674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4000" y="1440000"/>
            <a:ext cx="2376000" cy="648000"/>
          </a:xfrm>
          <a:prstGeom prst="roundRect">
            <a:avLst/>
          </a:prstGeom>
          <a:solidFill>
            <a:srgbClr val="EDEFF3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15181D"/>
                </a:solidFill>
                <a:latin typeface="맑은 고딕"/>
              </a:rPr>
              <a:t>Isaac 안 가상 M1013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000" y="2304000"/>
            <a:ext cx="64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6B4A"/>
                </a:solidFill>
                <a:latin typeface="맑은 고딕"/>
              </a:rPr>
              <a:t>로봇 도착 후 (9/20~) — Isaac 은 루프에서 빠짐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000" y="2592000"/>
            <a:ext cx="2376000" cy="648000"/>
          </a:xfrm>
          <a:prstGeom prst="roundRect">
            <a:avLst/>
          </a:prstGeom>
          <a:solidFill>
            <a:srgbClr val="EDEFF3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15181D"/>
                </a:solidFill>
                <a:latin typeface="맑은 고딕"/>
              </a:rPr>
              <a:t>실물 카메라 사진</a:t>
            </a:r>
          </a:p>
          <a:p>
            <a:pPr algn="ctr"/>
            <a:r>
              <a:rPr sz="1050" b="0">
                <a:solidFill>
                  <a:srgbClr val="15181D"/>
                </a:solidFill>
                <a:latin typeface="맑은 고딕"/>
              </a:rPr>
              <a:t>+ 실물 관절 상태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736000" y="2826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24000" y="2592000"/>
            <a:ext cx="2376000" cy="648000"/>
          </a:xfrm>
          <a:prstGeom prst="roundRect">
            <a:avLst/>
          </a:prstGeom>
          <a:solidFill>
            <a:srgbClr val="2F3D9E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ACT 정책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36000" y="2826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24000" y="2592000"/>
            <a:ext cx="2376000" cy="648000"/>
          </a:xfrm>
          <a:prstGeom prst="roundRect">
            <a:avLst/>
          </a:prstGeom>
          <a:solidFill>
            <a:srgbClr val="EDEFF3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15181D"/>
                </a:solidFill>
                <a:latin typeface="맑은 고딕"/>
              </a:rPr>
              <a:t>관절 명령 (ROS2 dsr)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136000" y="2826000"/>
            <a:ext cx="251999" cy="180000"/>
          </a:xfrm>
          <a:prstGeom prst="rightArrow">
            <a:avLst/>
          </a:prstGeom>
          <a:solidFill>
            <a:srgbClr val="62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24000" y="2592000"/>
            <a:ext cx="2376000" cy="648000"/>
          </a:xfrm>
          <a:prstGeom prst="roundRect">
            <a:avLst/>
          </a:prstGeom>
          <a:solidFill>
            <a:srgbClr val="1F6B4A"/>
          </a:solidFill>
          <a:ln w="9525">
            <a:solidFill>
              <a:srgbClr val="C6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진짜 M1013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000" y="3420000"/>
            <a:ext cx="1152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5181D"/>
                </a:solidFill>
                <a:latin typeface="맑은 고딕"/>
              </a:rPr>
              <a:t>▪  가상 카메라가 실물 카메라로 '변신'하는 것이 아님 — 같은 자리에 번갈아 꽂히는 서로 다른 두 장치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5181D"/>
                </a:solidFill>
                <a:latin typeface="맑은 고딕"/>
              </a:rPr>
              <a:t>▪  오늘 값의 두 가지 쓰임:</a:t>
            </a:r>
          </a:p>
          <a:p>
            <a:pPr lvl="1">
              <a:spcAft>
                <a:spcPts val="600"/>
              </a:spcAft>
            </a:pPr>
            <a:r>
              <a:rPr sz="1300" b="1">
                <a:solidFill>
                  <a:srgbClr val="15181D"/>
                </a:solidFill>
                <a:latin typeface="맑은 고딕"/>
              </a:rPr>
              <a:t>–  ㉠ 실물 마운트 설계의 출발점 — 단, 그대로 복사는 불가</a:t>
            </a:r>
          </a:p>
          <a:p>
            <a:pPr lvl="2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·  FOV 는 마운트가 아니라 카메라 부품이 결정 (오늘 60°는 절충값) → 부품 확정 후 위치 재계산</a:t>
            </a:r>
          </a:p>
          <a:p>
            <a:pPr lvl="2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·  기구 제약 우선 — LEHR 본체·케이블 회피, 파지 시 테이블 충돌 없어야</a:t>
            </a:r>
          </a:p>
          <a:p>
            <a:pPr lvl="2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·  OMX 화면의 완전 재현은 애초 불가 (M1013 그리퍼가 길어 실물 대비 약 70% 크기)</a:t>
            </a:r>
          </a:p>
          <a:p>
            <a:pPr lvl="1">
              <a:spcAft>
                <a:spcPts val="600"/>
              </a:spcAft>
            </a:pPr>
            <a:r>
              <a:rPr sz="1300" b="1">
                <a:solidFill>
                  <a:srgbClr val="15181D"/>
                </a:solidFill>
                <a:latin typeface="맑은 고딕"/>
              </a:rPr>
              <a:t>–  ㉡ 설치 후 실측값으로 sim 갱신 → 이후에도 실물 대신 위험한 시도를 먼저 해보는 연습장으로 유지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6B4A"/>
                </a:solidFill>
                <a:latin typeface="맑은 고딕"/>
              </a:rPr>
              <a:t>▪  권장 순서:  카메라 부품 결정 → 기구적으로 가능한 마운트 설계 → sim 에서 시야 검증(프린팅 전) → 설치 후 실측 → JSON 갱신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10 재평가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방법 재평가 — 다시 정밀도가 필요해지면 이 경로로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4000" y="864000"/>
            <a:ext cx="115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5181D"/>
                </a:solidFill>
                <a:latin typeface="맑은 고딕"/>
              </a:rPr>
              <a:t>▪  오늘 방식(겉보기 정합)은 상황상 합리적이었으나 교과서적 방법은 아니었음 — 아래는 검토 후 확인한 더 나은 접근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4000" y="1440000"/>
          <a:ext cx="11555998" cy="41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0981"/>
                <a:gridCol w="4412290"/>
                <a:gridCol w="5252727"/>
              </a:tblGrid>
              <a:tr h="68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평가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</a:tr>
              <a:tr h="684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실물 리그 실측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OMX 정면캠 위치를 베이스 기준으로 자로 재고, 웹캠 모델명으로 FOV 스펙 확인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A9331D"/>
                          </a:solidFill>
                          <a:latin typeface="맑은 고딕"/>
                        </a:rPr>
                        <a:t>가장 싸고 확실 — 3라운드 탐색을 5분에 대체 가능했음 (미제안은 실수)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684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정면캠 solvePnP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에피소드별 큐브 파지 위치(3D, 그리퍼 닫힘 시점 EE) ↔ 영상 속 큐브 픽셀(2D) 159쌍으로 포즈 복원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81D"/>
                          </a:solidFill>
                          <a:latin typeface="맑은 고딕"/>
                        </a:rPr>
                        <a:t>★ 타깃이 없던 게 아니라 큐브가 곧 타깃이었음. 비스듬한 시선이라 초점거리 추정 조건도 양호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684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손목캠 hand-eye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FK 플랜지 포즈 + 큐브 관측의 재투영 오차 최소화로 '플랜지→카메라' 변환 유도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81D"/>
                          </a:solidFill>
                          <a:latin typeface="맑은 고딕"/>
                        </a:rPr>
                        <a:t>표준 알고리즘(cv2.calibrateHandEye 계열). 이 방식이면 +55° 경험적 보정 자체가 불필요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684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정책 액션 오차 지표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GT 궤적 재생 → 렌더 관측을 정책에 투입 → 실제 영상 투입 시 예측과 비교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픽셀 눈대중 대신 '목적에 직접 맞는' 채점. 제어 루프 없이 반나절 — 다만 실물 갭 예측력은 낮음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684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카메라 포즈 랜덤화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재렌더 시 카메라 포즈를 ±범위로 흔들어 학습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181D"/>
                          </a:solidFill>
                          <a:latin typeface="맑은 고딕"/>
                        </a:rPr>
                        <a:t>sim2real 표준 관행 — 잔여 오정합에 정책이 둔감해짐 (co-training 채택 시 함께 적용)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4000" y="5616000"/>
            <a:ext cx="1152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A9331D"/>
                </a:solidFill>
                <a:latin typeface="맑은 고딕"/>
              </a:rPr>
              <a:t>▪  정정 사항: 6장에서 PnP 를 '캘리브레이션 타깃 없음'으로 기각했으나 오판 — 데이터셋에 이미 159쌍의 3D↔2D 대응이 존재했음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▪  단, 이 정밀 경로는 v7 이어학습 여부에 따라 필요성이 달라짐 (다음 장) — 실물 마운트 설계 시점에 재검토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11 계획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범위 조정과 4주 준비 계획 — 실물 도착 2026-09-20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4000" y="864000"/>
            <a:ext cx="115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5181D"/>
                </a:solidFill>
                <a:latin typeface="맑은 고딕"/>
              </a:rPr>
              <a:t>▪  범위 조정 근거 — v7 실기 수집(30~50ep) · 이어학습 경로가 확정됨: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5181D"/>
                </a:solidFill>
                <a:latin typeface="맑은 고딕"/>
              </a:rPr>
              <a:t>–  새 데이터가 새 카메라 시점으로 수집되므로 'OMX 화면 정밀 재현'의 가치 하락 → 마운트는 기구적으로 튼튼하고 시야 좋은 자리면 충분</a:t>
            </a:r>
          </a:p>
          <a:p>
            <a:pPr lvl="1">
              <a:spcAft>
                <a:spcPts val="600"/>
              </a:spcAft>
            </a:pPr>
            <a:r>
              <a:rPr sz="1300" b="1">
                <a:solidFill>
                  <a:srgbClr val="B45F06"/>
                </a:solidFill>
                <a:latin typeface="맑은 고딕"/>
              </a:rPr>
              <a:t>–  sim 도메인 갭은 실물 갭의 예측력이 낮음 (렌더와 실물 사진은 서로 다른 방식으로 OMX 영상과 다름) → STEP 5-3 · 5-4 우선순위 하향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5181D"/>
                </a:solidFill>
                <a:latin typeface="맑은 고딕"/>
              </a:rPr>
              <a:t>▪  원칙: 도착 후에만 할 수 있는 일을 최소화 — 도착 당일부터 v6 궤적 실행 + v7 수집이 돌아가야 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4000" y="2160000"/>
          <a:ext cx="11555998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999"/>
                <a:gridCol w="7703999"/>
                <a:gridCol w="2354000"/>
              </a:tblGrid>
              <a:tr h="5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주차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핵심 작업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1주 (8/25~29)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LEHR 모델 확정·실측 → TCP 상수 확정 → 재변환(1분)+재학습(~3h) / 카메라 부품 선정·발주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9331D"/>
                          </a:solidFill>
                          <a:latin typeface="맑은 고딕"/>
                        </a:rPr>
                        <a:t>★ 최우선 병목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2주 (9/1~5)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손목캠 마운트 + 그리퍼 어태치먼트(일자·연질 팁) 설계·프린팅 / doosan-robot2 가상 모드로 ROS2 환경 선구축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카메라 실물 도착 후 치수 확정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3주 (9/8~12)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맑은 고딕"/>
                        </a:rPr>
                        <a:t>v7 수집 스크립트 (LeRobot 포맷 · 카메라 2대+관절 30Hz 동기) / v6 궤적 실행 스크립트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도착 당일 쓸 도구 · 가상 모드로 검증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4주 (9/15~19)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통합 리허설 · 도착 당일 절차서 · 버퍼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Isaac 을 실물 대역으로 사용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4000" y="4968000"/>
            <a:ext cx="5616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A9331D"/>
                </a:solidFill>
                <a:latin typeface="맑은 고딕"/>
              </a:rPr>
              <a:t>▪  LEHR 확정이 최우선인 이유 — 3가지를 동시에 막고 있음: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–  TCP 0.12m 잠정값 확정 불가 (→ 데이터셋 미확정)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–  그리퍼 어태치먼트 설계 불가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–  손목캠 마운트 설계 불가 (카메라가 그리퍼를 피해야 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2000" y="4968000"/>
            <a:ext cx="568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15181D"/>
                </a:solidFill>
                <a:latin typeface="맑은 고딕"/>
              </a:rPr>
              <a:t>▪  카메라 선정 기준: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15181D"/>
                </a:solidFill>
                <a:latin typeface="맑은 고딕"/>
              </a:rPr>
              <a:t>–  FOV 60~70° 대역 · 소형(그리퍼 옆 장착) · USB UVC(기존 수집 코드 재사용)</a:t>
            </a:r>
          </a:p>
          <a:p>
            <a:pPr lvl="1">
              <a:spcAft>
                <a:spcPts val="600"/>
              </a:spcAft>
            </a:pPr>
            <a:r>
              <a:rPr sz="1250" b="1">
                <a:solidFill>
                  <a:srgbClr val="1F6B4A"/>
                </a:solidFill>
                <a:latin typeface="맑은 고딕"/>
              </a:rPr>
              <a:t>–  정면캠은 OMX 리그의 것을 그대로 옮겨 쓰는 것이 최선 — 같은 카메라면 화질·색감·왜곡이 일치해 도메인 갭이 줄어듦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2F3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4000" tIns="93600"/>
          <a:lstStyle/>
          <a:p>
            <a:pPr algn="ctr"/>
            <a:r>
              <a:rPr sz="1500" b="1">
                <a:solidFill>
                  <a:srgbClr val="B9C2F0"/>
                </a:solidFill>
                <a:latin typeface="맑은 고딕"/>
              </a:rPr>
              <a:t>12 참조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링크 · 참조 경로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4000" y="972000"/>
          <a:ext cx="11555999" cy="4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6472"/>
                <a:gridCol w="8719527"/>
              </a:tblGrid>
              <a:tr h="4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자원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위치 / URL</a:t>
                      </a:r>
                    </a:p>
                  </a:txBody>
                  <a:tcPr marL="57600" marR="57600" marT="18000" marB="18000" anchor="ctr">
                    <a:solidFill>
                      <a:srgbClr val="2F3D9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학습 데이터셋 (M1013 v6)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https://huggingface.co/datasets/dlcodnjs/m1013_act_pick_and_place_v6_joint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원본 OMX 영상 (실체)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physical_ai_server 컨테이너: /root/.cache/huggingface/lerobot/dlcodnjs/omx_act_pick_and_place_v4_162/videos/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M1013 코드 저장소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https://github.com/dlcodnjs817/M1013  (비공개 — 오늘 파일 커밋 예정)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TX90 저장소 (선행 작업)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https://github.com/dlcodnjs817/tx90  (비공개)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M1013 USD·URDF 출처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https://github.com/DoosanRobotics/doosan-robot2  (dsr_description2/usd/m1013.usd)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씬 좌표 단일 소스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/home/kim/m1013/replay_ep000.npz  (cube_pick/place · table_top_z · flange0 · t_close=226)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카메라 확정값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81D"/>
                          </a:solidFill>
                          <a:latin typeface="Consolas"/>
                        </a:rPr>
                        <a:t>/home/kim/m1013/cameras_v6match.json</a:t>
                      </a:r>
                    </a:p>
                  </a:txBody>
                  <a:tcPr marL="57600" marR="57600" marT="18000" marB="18000"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맑은 고딕"/>
                        </a:rPr>
                        <a:t>지난 보고 (선행 맥락)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81D"/>
                          </a:solidFill>
                          <a:latin typeface="Consolas"/>
                        </a:rPr>
                        <a:t>tx90/대화록 및 PPT/업무보고_20260820.md · M1013_20260820.pptx · 랩미팅 make_labmeeting_pptx_0824.py</a:t>
                      </a:r>
                    </a:p>
                  </a:txBody>
                  <a:tcPr marL="57600" marR="57600" marT="18000" marB="18000" anchor="ctr"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24000" y="5112000"/>
            <a:ext cx="11520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5181D"/>
                </a:solidFill>
                <a:latin typeface="맑은 고딕"/>
              </a:rPr>
              <a:t>▪  한 줄 요약: 정책이 학습 때 본 두 화면(손목캠·정면캠)을 Isaac 에 복원 완료 — 파라미터는 JSON 에 고정,</a:t>
            </a:r>
          </a:p>
          <a:p>
            <a:pPr lvl="1">
              <a:spcAft>
                <a:spcPts val="600"/>
              </a:spcAft>
            </a:pPr>
            <a:r>
              <a:rPr sz="1350" b="1">
                <a:solidFill>
                  <a:srgbClr val="15181D"/>
                </a:solidFill>
                <a:latin typeface="맑은 고딕"/>
              </a:rPr>
              <a:t>–  다음은 closed-loop 이 아니라 실물 도착(9/20) 준비 — LEHR 확정 · 카메라 발주 · v7 수집 스크립트 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6598800"/>
            <a:ext cx="1154411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26B78"/>
                </a:solidFill>
                <a:latin typeface="맑은 고딕"/>
              </a:rPr>
              <a:t>M1013 전이 · STEP 5 카메라 정합 · 2026-08-24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