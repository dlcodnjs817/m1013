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265555-E82F-407D-8CCB-E04122C441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7BA79-A44F-4808-9BA3-76B8D56E12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25C915-3A86-416E-B6A6-49E4BFD599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D6F228-4F60-4A9E-AA80-6FE988497A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84BEC5-A556-47AF-B77F-54DD430D9B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38828-E923-414F-B301-339CC0BF4F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D44980-4283-4B18-A7DD-B46A848FD9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0DA6A-5D29-47C2-A54C-FDC7C918FF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6EAEC-B81E-406D-937D-D4BB6D03F7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8BD98-2D60-4FAC-AF99-85DA522098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CA2427-CF76-4834-8BC4-270868695F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C9A14-D384-4202-B13C-3CF4463A7B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56B5C3-8E3E-4BC8-943B-2E635158881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792000" y="1656000"/>
            <a:ext cx="10619640" cy="165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맑은 고딕"/>
              </a:rPr>
              <a:t>OMX </a:t>
            </a:r>
            <a:r>
              <a:rPr b="1" lang="zh-CN" sz="3600" spc="-1" strike="noStrike">
                <a:solidFill>
                  <a:srgbClr val="ffffff"/>
                </a:solidFill>
                <a:latin typeface="맑은 고딕"/>
              </a:rPr>
              <a:t>시연의 두산 </a:t>
            </a:r>
            <a:r>
              <a:rPr b="1" lang="en-US" sz="3600" spc="-1" strike="noStrike">
                <a:solidFill>
                  <a:srgbClr val="ffffff"/>
                </a:solidFill>
                <a:latin typeface="맑은 고딕"/>
              </a:rPr>
              <a:t>M1013 </a:t>
            </a:r>
            <a:r>
              <a:rPr b="1" lang="zh-CN" sz="3600" spc="-1" strike="noStrike">
                <a:solidFill>
                  <a:srgbClr val="ffffff"/>
                </a:solidFill>
                <a:latin typeface="맑은 고딕"/>
              </a:rPr>
              <a:t>전이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2000" spc="-1" strike="noStrike">
                <a:solidFill>
                  <a:srgbClr val="b9c2f0"/>
                </a:solidFill>
                <a:latin typeface="맑은 고딕"/>
              </a:rPr>
              <a:t>Isaac Sim </a:t>
            </a:r>
            <a:r>
              <a:rPr b="0" lang="zh-CN" sz="2000" spc="-1" strike="noStrike">
                <a:solidFill>
                  <a:srgbClr val="b9c2f0"/>
                </a:solidFill>
                <a:latin typeface="맑은 고딕"/>
              </a:rPr>
              <a:t>시뮬레이션 트랙 — 하루 만에 데이터 변환부터 정책 물리 실행까지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999"/>
              </a:spcBef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159/159 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변환 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(5.7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초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)   |   ACT 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관절오차 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0.62~0.67°   |   35mm 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큐브 파지 성공   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|   </a:t>
            </a:r>
            <a:r>
              <a:rPr b="1" lang="zh-CN" sz="1500" spc="-1" strike="noStrike">
                <a:solidFill>
                  <a:srgbClr val="ffffff"/>
                </a:solidFill>
                <a:latin typeface="맑은 고딕"/>
              </a:rPr>
              <a:t>정책 물리 실행 놓기 오차 </a:t>
            </a:r>
            <a:r>
              <a:rPr b="1" lang="en-US" sz="1500" spc="-1" strike="noStrike">
                <a:solidFill>
                  <a:srgbClr val="ffffff"/>
                </a:solidFill>
                <a:latin typeface="맑은 고딕"/>
              </a:rPr>
              <a:t>7.8mm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92000" y="6246000"/>
            <a:ext cx="8639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b9c2f0"/>
                </a:solidFill>
                <a:latin typeface="맑은 고딕"/>
              </a:rPr>
              <a:t>랩미팅 </a:t>
            </a:r>
            <a:r>
              <a:rPr b="0" lang="en-US" sz="1300" spc="-1" strike="noStrike">
                <a:solidFill>
                  <a:srgbClr val="b9c2f0"/>
                </a:solidFill>
                <a:latin typeface="맑은 고딕"/>
              </a:rPr>
              <a:t>· 2026-08-24 (</a:t>
            </a:r>
            <a:r>
              <a:rPr b="0" lang="zh-CN" sz="1300" spc="-1" strike="noStrike">
                <a:solidFill>
                  <a:srgbClr val="b9c2f0"/>
                </a:solidFill>
                <a:latin typeface="맑은 고딕"/>
              </a:rPr>
              <a:t>월</a:t>
            </a:r>
            <a:r>
              <a:rPr b="0" lang="en-US" sz="1300" spc="-1" strike="noStrike">
                <a:solidFill>
                  <a:srgbClr val="b9c2f0"/>
                </a:solidFill>
                <a:latin typeface="맑은 고딕"/>
              </a:rPr>
              <a:t>) · </a:t>
            </a:r>
            <a:r>
              <a:rPr b="0" lang="zh-CN" sz="1300" spc="-1" strike="noStrike">
                <a:solidFill>
                  <a:srgbClr val="b9c2f0"/>
                </a:solidFill>
                <a:latin typeface="맑은 고딕"/>
              </a:rPr>
              <a:t>이채원 </a:t>
            </a:r>
            <a:r>
              <a:rPr b="0" lang="en-US" sz="1300" spc="-1" strike="noStrike">
                <a:solidFill>
                  <a:srgbClr val="b9c2f0"/>
                </a:solidFill>
                <a:latin typeface="맑은 고딕"/>
              </a:rPr>
              <a:t>· </a:t>
            </a:r>
            <a:r>
              <a:rPr b="0" lang="zh-CN" sz="1300" spc="-1" strike="noStrike">
                <a:solidFill>
                  <a:srgbClr val="b9c2f0"/>
                </a:solidFill>
                <a:latin typeface="맑은 고딕"/>
              </a:rPr>
              <a:t>한국생산기술연구원 현장실습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01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배경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배경 — 최종 타깃을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TX90 →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두산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M1013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으로 전환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324000" y="864000"/>
            <a:ext cx="7415640" cy="12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5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50" spc="-1" strike="noStrike">
                <a:solidFill>
                  <a:srgbClr val="15181d"/>
                </a:solidFill>
                <a:latin typeface="맑은 고딕"/>
              </a:rPr>
              <a:t>두산 </a:t>
            </a:r>
            <a:r>
              <a:rPr b="1" lang="en-US" sz="155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1" lang="zh-CN" sz="1550" spc="-1" strike="noStrike">
                <a:solidFill>
                  <a:srgbClr val="15181d"/>
                </a:solidFill>
                <a:latin typeface="맑은 고딕"/>
              </a:rPr>
              <a:t>이 약 한 달 뒤</a:t>
            </a:r>
            <a:r>
              <a:rPr b="1" lang="en-US" sz="1550" spc="-1" strike="noStrike">
                <a:solidFill>
                  <a:srgbClr val="15181d"/>
                </a:solidFill>
                <a:latin typeface="맑은 고딕"/>
              </a:rPr>
              <a:t>(9</a:t>
            </a:r>
            <a:r>
              <a:rPr b="1" lang="zh-CN" sz="1550" spc="-1" strike="noStrike">
                <a:solidFill>
                  <a:srgbClr val="15181d"/>
                </a:solidFill>
                <a:latin typeface="맑은 고딕"/>
              </a:rPr>
              <a:t>월 중하순</a:t>
            </a:r>
            <a:r>
              <a:rPr b="1" lang="en-US" sz="155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1" lang="zh-CN" sz="1550" spc="-1" strike="noStrike">
                <a:solidFill>
                  <a:srgbClr val="15181d"/>
                </a:solidFill>
                <a:latin typeface="맑은 고딕"/>
              </a:rPr>
              <a:t>도착 예정 — 전이학습 최종 타깃 변경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도착 전에 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Isaac Sim(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물리 시뮬레이터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에서 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전 과정을 미리 검증하는 트랙 착수</a:t>
            </a:r>
            <a:endParaRPr b="0" lang="en-US" sz="145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로봇이 오면 시뮬레이션에서 검증된 궤적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정책을 바로 실기에 적용하는 것이 목표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에서 만든 자산 중 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로봇 불변</a:t>
            </a:r>
            <a:r>
              <a:rPr b="0" lang="en-US" sz="14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450" spc="-1" strike="noStrike">
                <a:solidFill>
                  <a:srgbClr val="15181d"/>
                </a:solidFill>
                <a:latin typeface="맑은 고딕"/>
              </a:rPr>
              <a:t>부분은 그대로 재사용 — 아래 표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6" name="Rounded Rectangle 3"/>
          <p:cNvSpPr/>
          <p:nvPr/>
        </p:nvSpPr>
        <p:spPr>
          <a:xfrm>
            <a:off x="7992000" y="864000"/>
            <a:ext cx="3887640" cy="1799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📷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두산 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M1013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사진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발표 전 이 자리에 삽입</a:t>
            </a:r>
            <a:endParaRPr b="0" lang="en-US" sz="1100" spc="-1" strike="noStrike">
              <a:latin typeface="Arial"/>
            </a:endParaRPr>
          </a:p>
        </p:txBody>
      </p:sp>
      <p:graphicFrame>
        <p:nvGraphicFramePr>
          <p:cNvPr id="47" name="Table 4"/>
          <p:cNvGraphicFramePr/>
          <p:nvPr/>
        </p:nvGraphicFramePr>
        <p:xfrm>
          <a:off x="324000" y="2880000"/>
          <a:ext cx="11555640" cy="1781640"/>
        </p:xfrm>
        <a:graphic>
          <a:graphicData uri="http://schemas.openxmlformats.org/drawingml/2006/table">
            <a:tbl>
              <a:tblPr/>
              <a:tblGrid>
                <a:gridCol w="2019240"/>
                <a:gridCol w="7067880"/>
                <a:gridCol w="2468520"/>
              </a:tblGrid>
              <a:tr h="594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자산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처리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594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재사용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로봇 불변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OMX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시연 데이터셋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v5 (159ep, TX90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프레임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EE pose) 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오일러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wrap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수정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오프라인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IK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변환 파이프라인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ACT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학습 설정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그대로 사용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재제작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로봇 종속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기구학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(URDF/IK) 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작업대 배치 오프셋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특이점 대책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M1013</a:t>
                      </a: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용 신규 — </a:t>
                      </a:r>
                      <a:r>
                        <a:rPr b="1" lang="en-US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8/20 </a:t>
                      </a: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작업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8" name="Rounded Rectangle 5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왜 바꾸나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실기 투입할 로봇이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아니라 새로 오는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으로 정해졌기 때문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전용 준비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외부제어 견적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특이점 회피 배치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우선순위를 내렸다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핵심 아이디어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 데이터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(OMX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손끝 궤적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와 방법론은 로봇이 바뀌어도 안 변한다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로봇에 붙어 있는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팔 구조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관절 계산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작업대 위치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만 다시 만들면 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다시 만들기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8/20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하루 작업의 전부였고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3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일 걸린 과정이 하루에 끝났다 — 방법론이 이미 검증돼 있었기 때문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OMX→M1013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전이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랩미팅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2026-08-24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02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지도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전체 그림 —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8/20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하루에 완주한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6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단계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51" name="Rounded Rectangle 2"/>
          <p:cNvSpPr/>
          <p:nvPr/>
        </p:nvSpPr>
        <p:spPr>
          <a:xfrm>
            <a:off x="324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626b78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</a:rPr>
              <a:t>OMX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시연 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</a:rPr>
              <a:t>159ep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EE pose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데이터셋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v5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(TX90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때 완성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재사용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2" name="Right Arrow 3"/>
          <p:cNvSpPr/>
          <p:nvPr/>
        </p:nvSpPr>
        <p:spPr>
          <a:xfrm>
            <a:off x="2080800" y="1368000"/>
            <a:ext cx="2372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Rounded Rectangle 4"/>
          <p:cNvSpPr/>
          <p:nvPr/>
        </p:nvSpPr>
        <p:spPr>
          <a:xfrm>
            <a:off x="2340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에셋 검증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m1013.usd + URDF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FK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리치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1300mm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일치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4" name="Right Arrow 5"/>
          <p:cNvSpPr/>
          <p:nvPr/>
        </p:nvSpPr>
        <p:spPr>
          <a:xfrm>
            <a:off x="4096800" y="1368000"/>
            <a:ext cx="2372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Rounded Rectangle 6"/>
          <p:cNvSpPr/>
          <p:nvPr/>
        </p:nvSpPr>
        <p:spPr>
          <a:xfrm>
            <a:off x="4356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독립 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</a:rPr>
              <a:t>IK +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배치 스윕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오프셋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54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후보 탐색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(+0.05, −0.15, +0.10)m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6" name="Right Arrow 7"/>
          <p:cNvSpPr/>
          <p:nvPr/>
        </p:nvSpPr>
        <p:spPr>
          <a:xfrm>
            <a:off x="6112800" y="1368000"/>
            <a:ext cx="2372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ounded Rectangle 8"/>
          <p:cNvSpPr/>
          <p:nvPr/>
        </p:nvSpPr>
        <p:spPr>
          <a:xfrm>
            <a:off x="6372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관절 데이터셋 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</a:rPr>
              <a:t>v6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159/159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변환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5.7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초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검증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4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종 통과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8" name="Right Arrow 9"/>
          <p:cNvSpPr/>
          <p:nvPr/>
        </p:nvSpPr>
        <p:spPr>
          <a:xfrm>
            <a:off x="8128800" y="1368000"/>
            <a:ext cx="2372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ounded Rectangle 10"/>
          <p:cNvSpPr/>
          <p:nvPr/>
        </p:nvSpPr>
        <p:spPr>
          <a:xfrm>
            <a:off x="8388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</a:rPr>
              <a:t>Isaac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물리 검증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35mm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큐브 파지 성공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+ ACT 100k </a:t>
            </a: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학습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0" name="Right Arrow 11"/>
          <p:cNvSpPr/>
          <p:nvPr/>
        </p:nvSpPr>
        <p:spPr>
          <a:xfrm>
            <a:off x="10144800" y="1368000"/>
            <a:ext cx="2372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Rounded Rectangle 12"/>
          <p:cNvSpPr/>
          <p:nvPr/>
        </p:nvSpPr>
        <p:spPr>
          <a:xfrm>
            <a:off x="10404000" y="972000"/>
            <a:ext cx="1745640" cy="971640"/>
          </a:xfrm>
          <a:prstGeom prst="roundRect">
            <a:avLst>
              <a:gd name="adj" fmla="val 16667"/>
            </a:avLst>
          </a:prstGeom>
          <a:solidFill>
            <a:srgbClr val="2f3d9e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</a:rPr>
              <a:t>정책 물리 실행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집기→운반→놓기 완주</a:t>
            </a: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ffffff"/>
                </a:solidFill>
                <a:latin typeface="맑은 고딕"/>
              </a:rPr>
              <a:t>놓기 오차 </a:t>
            </a:r>
            <a:r>
              <a:rPr b="0" lang="en-US" sz="950" spc="-1" strike="noStrike">
                <a:solidFill>
                  <a:srgbClr val="ffffff"/>
                </a:solidFill>
                <a:latin typeface="맑은 고딕"/>
              </a:rPr>
              <a:t>7.8mm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324000" y="2160000"/>
            <a:ext cx="11519640" cy="14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한 문장 요약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: OMX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로봇의 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159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개 시연을 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의 관절 언어로 번역하고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그걸 배운 정책이 물리 시뮬레이션에서 실제로 큐브를 집었다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때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3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일 걸린 과정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변환→학습→검증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이 하루에 끝남 — 방법론 재사용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+ MoveIt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없는 독립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IK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로 변환이 수십 분 →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5.7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초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마지막 상자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남색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가 오늘 발표의 핵심 결과 —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번역된 데이터를 배운 정책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이 물리 엔진 위에서 과제를 완수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626b78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626b78"/>
                </a:solidFill>
                <a:latin typeface="맑은 고딕"/>
              </a:rPr>
              <a:t>지금까지는 </a:t>
            </a:r>
            <a:r>
              <a:rPr b="0" lang="en-US" sz="1400" spc="-1" strike="noStrike">
                <a:solidFill>
                  <a:srgbClr val="626b78"/>
                </a:solidFill>
                <a:latin typeface="맑은 고딕"/>
              </a:rPr>
              <a:t>open-loop (</a:t>
            </a:r>
            <a:r>
              <a:rPr b="0" lang="zh-CN" sz="1400" spc="-1" strike="noStrike">
                <a:solidFill>
                  <a:srgbClr val="626b78"/>
                </a:solidFill>
                <a:latin typeface="맑은 고딕"/>
              </a:rPr>
              <a:t>녹화된 관측으로 추론</a:t>
            </a:r>
            <a:r>
              <a:rPr b="0" lang="en-US" sz="1400" spc="-1" strike="noStrike">
                <a:solidFill>
                  <a:srgbClr val="626b78"/>
                </a:solidFill>
                <a:latin typeface="맑은 고딕"/>
              </a:rPr>
              <a:t>) — closed-loop(</a:t>
            </a:r>
            <a:r>
              <a:rPr b="0" lang="zh-CN" sz="1400" spc="-1" strike="noStrike">
                <a:solidFill>
                  <a:srgbClr val="626b78"/>
                </a:solidFill>
                <a:latin typeface="맑은 고딕"/>
              </a:rPr>
              <a:t>실시간 카메라 관측</a:t>
            </a:r>
            <a:r>
              <a:rPr b="0" lang="en-US" sz="1400" spc="-1" strike="noStrike">
                <a:solidFill>
                  <a:srgbClr val="626b78"/>
                </a:solidFill>
                <a:latin typeface="맑은 고딕"/>
              </a:rPr>
              <a:t>)</a:t>
            </a:r>
            <a:r>
              <a:rPr b="0" lang="zh-CN" sz="1400" spc="-1" strike="noStrike">
                <a:solidFill>
                  <a:srgbClr val="626b78"/>
                </a:solidFill>
                <a:latin typeface="맑은 고딕"/>
              </a:rPr>
              <a:t>가 다음 단계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Rounded Rectangle 14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각 상자를 풀면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①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재료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(OMX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시연을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좌표로 이식해 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 ② M1013 3D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모델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수치 확인 ③ 작업대를 로봇 기준 어디에 둘지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+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손끝 위치→관절각 계산기 제작 ④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159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개 시연 전부를 관절 궤적으로 번역 ⑤ 물리 시뮬에서 진짜 집히는지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+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모방학습 ⑥ 학습된 정책의 출력이 물리에서 성공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물리 검증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중요한 이유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RViz(TX90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 쓴 도구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애니메이션일 뿐 물건이 안 집힌다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Isaac Sim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은 마찰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중력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접촉이 있어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실제로 집히는가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에 처음 답할 수 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OMX→M1013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전이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랩미팅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2026-08-24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03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에셋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준비 —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M1013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에셋 검증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: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공식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USD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모델 확보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스펙 일치 확인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324000" y="864000"/>
            <a:ext cx="7415640" cy="26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두산 공식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doosan-robot2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저장소에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Isaac Sim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용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m1013.usd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동봉 —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URDF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임포트 과정 자체가 불필요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Isaac Sim 5.1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헤드리스 로드 검증 완료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관절 리밋이 실스펙과 일치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(±360°, J3 ±160°)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표준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m1013.urdf FK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스모크 테스트 통과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수평 리치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1300.5 mm =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카탈로그 스펙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1300 mm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일치</a:t>
            </a:r>
            <a:endParaRPr b="0" lang="en-US" sz="135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링크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조인트 명명이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과 동일 규약 → 기존 파이프라인에서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URDF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파일만 교체하면 이식 가능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잡아낸 함정</a:t>
            </a: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: m1013_isaac_sim.urdf 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는 못 쓴다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조인트 리밋이 좁혀져 있고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(J1 ±120°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등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받침대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0.45 m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오프셋 포함 —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IK/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변환은 표준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m1013.urdf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기준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7992000" y="864000"/>
            <a:ext cx="3887640" cy="2663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📷  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Isaac Sim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에 로드된 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M1013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sim_out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스냅샷 또는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GUI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캡처 삽입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USD = Isaac Sim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쓰는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3D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모델 형식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URDF = ROS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가 쓰는 로봇 구조 기술 파일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보통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URDF→USD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변환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임포트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한 고비인데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두산이 공식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USD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이미 만들어 둬서 그 고비가 통째로 사라졌다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FK(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순기구학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 =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관절각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6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개를 넣으면 손끝 위치가 나오는 계산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이게 카탈로그 스펙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리치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1300mm)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과 일치하면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URDF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수치를 신뢰할 수 있다는 뜻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함정 파일을 걸러낸 게 중요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리밋이 좁은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URDF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IK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풀면 실제론 되는 자세를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불가능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으로 잘못 판정한다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doosan-robot2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클론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FK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스모크 테스트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Isaac Sim 5.1.0 (RTX 5070 Ti)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04 IK·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배치 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STEP 1 —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독립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IK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솔버 제작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+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작업대 배치 전수 탐색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324000" y="864000"/>
            <a:ext cx="11519640" cy="14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m1013_kin.py — ROS·MoveIt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없이 도는 독립 기구학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(URDF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파싱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FK +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감쇠최소제곱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IK + TX90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변환 규약 이식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셀프테스트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과제형 자세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1000/1000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수렴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오차 ≤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0.1 mm ·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결정론적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같은 입력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=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같은 출력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35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350" spc="-1" strike="noStrike">
                <a:solidFill>
                  <a:srgbClr val="1f6b4a"/>
                </a:solidFill>
                <a:latin typeface="맑은 고딕"/>
              </a:rPr>
              <a:t>–  </a:t>
            </a:r>
            <a:r>
              <a:rPr b="1" lang="zh-CN" sz="1350" spc="-1" strike="noStrike">
                <a:solidFill>
                  <a:srgbClr val="1f6b4a"/>
                </a:solidFill>
                <a:latin typeface="맑은 고딕"/>
              </a:rPr>
              <a:t>효과</a:t>
            </a:r>
            <a:r>
              <a:rPr b="1" lang="en-US" sz="1350" spc="-1" strike="noStrike">
                <a:solidFill>
                  <a:srgbClr val="1f6b4a"/>
                </a:solidFill>
                <a:latin typeface="맑은 고딕"/>
              </a:rPr>
              <a:t>: 159</a:t>
            </a:r>
            <a:r>
              <a:rPr b="1" lang="zh-CN" sz="1350" spc="-1" strike="noStrike">
                <a:solidFill>
                  <a:srgbClr val="1f6b4a"/>
                </a:solidFill>
                <a:latin typeface="맑은 고딕"/>
              </a:rPr>
              <a:t>개 에피소드 전체 변환이 </a:t>
            </a:r>
            <a:r>
              <a:rPr b="1" lang="en-US" sz="1350" spc="-1" strike="noStrike">
                <a:solidFill>
                  <a:srgbClr val="1f6b4a"/>
                </a:solidFill>
                <a:latin typeface="맑은 고딕"/>
              </a:rPr>
              <a:t>TX90 (MoveIt </a:t>
            </a:r>
            <a:r>
              <a:rPr b="1" lang="zh-CN" sz="1350" spc="-1" strike="noStrike">
                <a:solidFill>
                  <a:srgbClr val="1f6b4a"/>
                </a:solidFill>
                <a:latin typeface="맑은 고딕"/>
              </a:rPr>
              <a:t>서비스 호출</a:t>
            </a:r>
            <a:r>
              <a:rPr b="1" lang="en-US" sz="1350" spc="-1" strike="noStrike">
                <a:solidFill>
                  <a:srgbClr val="1f6b4a"/>
                </a:solidFill>
                <a:latin typeface="맑은 고딕"/>
              </a:rPr>
              <a:t>) </a:t>
            </a:r>
            <a:r>
              <a:rPr b="1" lang="zh-CN" sz="1350" spc="-1" strike="noStrike">
                <a:solidFill>
                  <a:srgbClr val="1f6b4a"/>
                </a:solidFill>
                <a:latin typeface="맑은 고딕"/>
              </a:rPr>
              <a:t>수십 분 → </a:t>
            </a:r>
            <a:r>
              <a:rPr b="1" lang="en-US" sz="1350" spc="-1" strike="noStrike">
                <a:solidFill>
                  <a:srgbClr val="1f6b4a"/>
                </a:solidFill>
                <a:latin typeface="맑은 고딕"/>
              </a:rPr>
              <a:t>5.7</a:t>
            </a:r>
            <a:r>
              <a:rPr b="1" lang="zh-CN" sz="1350" spc="-1" strike="noStrike">
                <a:solidFill>
                  <a:srgbClr val="1f6b4a"/>
                </a:solidFill>
                <a:latin typeface="맑은 고딕"/>
              </a:rPr>
              <a:t>초 — 반복 실험이 자유로워짐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배치 스윕 — 작업 사각형을 로봇 기준 어디에 둘지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54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개 후보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2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단계 전수 탐색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(sweep_m1013.py)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채점 기준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손목 특이점 여유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(min|q5|) ·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관절 리밋 여유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프레임간 관절 변화량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자기충돌 기하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베이스 기둥 접근 거리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350" spc="-1" strike="noStrike">
              <a:latin typeface="Arial"/>
            </a:endParaRPr>
          </a:p>
        </p:txBody>
      </p:sp>
      <p:graphicFrame>
        <p:nvGraphicFramePr>
          <p:cNvPr id="72" name="Table 3"/>
          <p:cNvGraphicFramePr/>
          <p:nvPr/>
        </p:nvGraphicFramePr>
        <p:xfrm>
          <a:off x="324000" y="3132000"/>
          <a:ext cx="11555640" cy="1655640"/>
        </p:xfrm>
        <a:graphic>
          <a:graphicData uri="http://schemas.openxmlformats.org/drawingml/2006/table">
            <a:tbl>
              <a:tblPr/>
              <a:tblGrid>
                <a:gridCol w="2580120"/>
                <a:gridCol w="3589920"/>
                <a:gridCol w="5385600"/>
              </a:tblGrid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확정값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작업대 오프셋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d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Consolas"/>
                        </a:rPr>
                        <a:t>(+0.05, −0.15, +0.10) m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손목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45°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보정 후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53/54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통과 중 균형 최선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손목 특이점 여유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min|q5| = 49.7°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TX90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때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8.5° →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크게 개선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다다음 장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1472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자기충돌 여유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베이스 기둥까지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0.63 m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충돌검사 없는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IK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의 안전판 — 기하로 보증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Rounded Rectangle 4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IK(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역기구학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 = 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손끝을 여기에 두려면 관절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6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개를 몇 도로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?'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푸는 계산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해가 여러 개라서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팔꿈치 위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/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아래 등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이전 프레임과 이어지는 해를 고르는 규약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 만든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을 그대로 이식했다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배치 스윕이 필요한 이유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같은 손끝 궤적도 로봇 기준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어디서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하느냐에 따라 관절이 편하기도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특이점에 몰리기도 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OMX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작업대를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앞 최적 위치로 평행이동하는 값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찾는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나중에 실물 작업대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테이프 사각형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놓을 때 그대로 쓰는 값 — 시뮬과 실물의 배치가 일치해야 궤적이 유효하다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m1013_kin.py · sweep_m1013.py · sweep_result_wrist45.json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05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변환 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STEP 2 — v6-M1013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관절 데이터셋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: 159/159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변환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·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검증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4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종 통과</a:t>
            </a:r>
            <a:endParaRPr b="0" lang="en-US" sz="2100" spc="-1" strike="noStrike">
              <a:latin typeface="Arial"/>
            </a:endParaRPr>
          </a:p>
        </p:txBody>
      </p:sp>
      <p:graphicFrame>
        <p:nvGraphicFramePr>
          <p:cNvPr id="76" name="Table 2"/>
          <p:cNvGraphicFramePr/>
          <p:nvPr/>
        </p:nvGraphicFramePr>
        <p:xfrm>
          <a:off x="324000" y="900000"/>
          <a:ext cx="11555640" cy="1871640"/>
        </p:xfrm>
        <a:graphic>
          <a:graphicData uri="http://schemas.openxmlformats.org/drawingml/2006/table">
            <a:tbl>
              <a:tblPr/>
              <a:tblGrid>
                <a:gridCol w="5833800"/>
                <a:gridCol w="5721840"/>
              </a:tblGrid>
              <a:tr h="46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규약 </a:t>
                      </a: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(TX90 v6 </a:t>
                      </a: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이식 </a:t>
                      </a: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+ M1013 </a:t>
                      </a: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신규 </a:t>
                      </a: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건</a:t>
                      </a: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46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7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프레임 이동평균 평활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6Hz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앵커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IK + 30Hz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보간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state[t]=action[t−1]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TX90 v6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검증 완료 규약 그대로 — 지터 제거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특이점 무리 없는 통과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연속성 보장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TCP 0.12 m — 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데이터 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pose 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를 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'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끝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' 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목표로 해석 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신규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OMX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접근이 기울어서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최대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72°)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무시하면 수평 오차 중앙값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84 mm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6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손목 </a:t>
                      </a:r>
                      <a:r>
                        <a:rPr b="1" lang="en-US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45° </a:t>
                      </a: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보정 </a:t>
                      </a:r>
                      <a:r>
                        <a:rPr b="1" lang="en-US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(</a:t>
                      </a: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신규 — 다음 장</a:t>
                      </a:r>
                      <a:r>
                        <a:rPr b="1" lang="en-US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파지 실패 근본 해결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+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특이점 탈출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3"/>
          <p:cNvGraphicFramePr/>
          <p:nvPr/>
        </p:nvGraphicFramePr>
        <p:xfrm>
          <a:off x="324000" y="2916000"/>
          <a:ext cx="11555640" cy="1889640"/>
        </p:xfrm>
        <a:graphic>
          <a:graphicData uri="http://schemas.openxmlformats.org/drawingml/2006/table">
            <a:tbl>
              <a:tblPr/>
              <a:tblGrid>
                <a:gridCol w="2390760"/>
                <a:gridCol w="7969320"/>
                <a:gridCol w="1195560"/>
              </a:tblGrid>
              <a:tr h="37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37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변환 완전성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159/159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에피소드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(IK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실패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0 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브랜치 점프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0) · 5.7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초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연속성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프레임간 최대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Δ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관절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2.94° 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임계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30°)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FK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역검증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관절→손끝 왕복 오차 ≤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4.9 mm · ≤1.03°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다봉성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(kNN)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같은 입력→다른 출력 쌍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0/4,770 —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단봉 확인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8" name="Rounded Rectangle 4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하는 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v5(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손끝 위치의 나열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에피소드마다 처음부터 끝까지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IK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 풀어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관절각의 나열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 바꾼다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학습 데이터 자체를 관절 언어로 만들어 두면 실행할 때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IK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한 번도 안 풀어도 된다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(TX90 v6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에서 검증한 전략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TCP: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데이터의 위치는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그리퍼 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인데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IK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플랜지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손목 끝 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움직인다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그리퍼 길이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0.12 m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만큼 목표를 되당겨 주는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실물 그리퍼가 확정되면 이 상수만 실측값으로 바꿔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분 만에 재변환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다봉성 검사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거의 같은 입력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관측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에 전혀 다른 출력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관절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섞여 있으면 평균을 배우는 학습이 망가진다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그런 쌍이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0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개임을 확인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convert_v6_m1013.py 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데이터셋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dlcodnjs/m1013_act_pick_and_place_v6_joint (76,345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프레임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06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문제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트러블슈팅 —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35 mm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큐브 파지 실패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12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회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원인 규명까지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324000" y="864000"/>
            <a:ext cx="7415640" cy="28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물리 재생 첫 구성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큐브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6 cm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가정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은 성공 — 실측 확인 결과 큐브는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35 mm,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교체하자 전부 실패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12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회 시도하며 원인을 좁혀간 과정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그리퍼 개구 갭 실측 로깅 →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물긴 무는데 헛물었다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확인</a:t>
            </a:r>
            <a:endParaRPr b="0" lang="en-US" sz="135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핑거 끝 궤적 기록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(npz) →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오프라인 기하 분석으로 접근 경로 복원</a:t>
            </a:r>
            <a:endParaRPr b="0" lang="en-US" sz="135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테이블 마찰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핑거 길이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닫힘 타이밍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큐브 위치 보정 — 닫힘 시점 오차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0.2 mm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까지 수렴해도 실패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최종 원인</a:t>
            </a: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: 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접근 이동 방향이 그리퍼 개구와 거의 수직 </a:t>
            </a: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(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내적 </a:t>
            </a:r>
            <a:r>
              <a:rPr b="1" lang="en-US" sz="1500" spc="-1" strike="noStrike">
                <a:solidFill>
                  <a:srgbClr val="a9331d"/>
                </a:solidFill>
                <a:latin typeface="맑은 고딕"/>
              </a:rPr>
              <a:t>0.13) — </a:t>
            </a:r>
            <a:r>
              <a:rPr b="1" lang="zh-CN" sz="1500" spc="-1" strike="noStrike">
                <a:solidFill>
                  <a:srgbClr val="a9331d"/>
                </a:solidFill>
                <a:latin typeface="맑은 고딕"/>
              </a:rPr>
              <a:t>패들 옆면이 큐브를 불도저처럼 쓸어냄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실물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OMX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가 됐던 이유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폼 큐브가 눌리며 슬롯에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팝인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 —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강체 시뮬레이션이 재현 못 하는 물성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7992000" y="864000"/>
            <a:ext cx="3887640" cy="1871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▶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파지 실패 영상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sim_out/grasp_fail_35mm.mp4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삽입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Rounded Rectangle 4"/>
          <p:cNvSpPr/>
          <p:nvPr/>
        </p:nvSpPr>
        <p:spPr>
          <a:xfrm>
            <a:off x="7992000" y="2844000"/>
            <a:ext cx="3887640" cy="1871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▶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실패 근접 영상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sim_out/grasp_fail_35mm_closeup.mp4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삽입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" name="Rounded Rectangle 5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요지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시뮬레이션 물리가 틀린 게 아니라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OMX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시연의 접근 방식 자체가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옆으로 쓸면서 진입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하는 기울어진 동작이었다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스펀지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큐브라 실물에선 됐지만 딱딱한 큐브로는 원리적으로 안 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삽질의 가치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실패 원인을 기하학으로 정확히 규명했기 때문에 다음 장의 해법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손목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45°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보정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나올 수 있었다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또한 실물 그리퍼 어태치먼트에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접촉면은 연질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(TPU/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라는 설계 지침을 얻었다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발표 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장은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문제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다음 장이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해결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장 — 묶어서 한 호흡으로 설명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진단 도구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갭 실측 로깅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fingertraj npz · fit_cube_position.py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07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해결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핵심 결정 —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45°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를 하드웨어가 아니라 손목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(IK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목표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)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에서 상쇄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324000" y="900000"/>
            <a:ext cx="3455640" cy="899640"/>
          </a:xfrm>
          <a:prstGeom prst="roundRect">
            <a:avLst>
              <a:gd name="adj" fmla="val 16667"/>
            </a:avLst>
          </a:prstGeom>
          <a:solidFill>
            <a:srgbClr val="a9331d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문제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OMX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시연의 접근축이 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45°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기욺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→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강체 그리퍼로는 파지 불가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" name="Rounded Rectangle 3"/>
          <p:cNvSpPr/>
          <p:nvPr/>
        </p:nvSpPr>
        <p:spPr>
          <a:xfrm>
            <a:off x="4140000" y="900000"/>
            <a:ext cx="3671640" cy="899640"/>
          </a:xfrm>
          <a:prstGeom prst="roundRect">
            <a:avLst>
              <a:gd name="adj" fmla="val 16667"/>
            </a:avLst>
          </a:prstGeom>
          <a:solidFill>
            <a:srgbClr val="626b78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안 </a:t>
            </a: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A (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하드웨어</a:t>
            </a: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45°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꺾인 어태치먼트 제작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→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설계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·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프린팅 필요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,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실물도 복잡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9" name="Rounded Rectangle 4"/>
          <p:cNvSpPr/>
          <p:nvPr/>
        </p:nvSpPr>
        <p:spPr>
          <a:xfrm>
            <a:off x="8172000" y="900000"/>
            <a:ext cx="3707640" cy="899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안 </a:t>
            </a: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B (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소프트웨어</a:t>
            </a: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) ✔ 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채택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IK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목표 자세에 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45°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회전 보정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→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일자 그리퍼 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+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수직 하강 접근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0" name="Right Arrow 5"/>
          <p:cNvSpPr/>
          <p:nvPr/>
        </p:nvSpPr>
        <p:spPr>
          <a:xfrm>
            <a:off x="3816000" y="1260000"/>
            <a:ext cx="25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ight Arrow 6"/>
          <p:cNvSpPr/>
          <p:nvPr/>
        </p:nvSpPr>
        <p:spPr>
          <a:xfrm>
            <a:off x="7848000" y="1260000"/>
            <a:ext cx="25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92" name="Table 7"/>
          <p:cNvGraphicFramePr/>
          <p:nvPr/>
        </p:nvGraphicFramePr>
        <p:xfrm>
          <a:off x="324000" y="2016000"/>
          <a:ext cx="11555640" cy="2069640"/>
        </p:xfrm>
        <a:graphic>
          <a:graphicData uri="http://schemas.openxmlformats.org/drawingml/2006/table">
            <a:tbl>
              <a:tblPr/>
              <a:tblGrid>
                <a:gridCol w="3477960"/>
                <a:gridCol w="3589920"/>
                <a:gridCol w="4487760"/>
              </a:tblGrid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보정 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보정 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35 mm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큐브 파지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12</a:t>
                      </a:r>
                      <a:r>
                        <a:rPr b="0" lang="zh-CN" sz="125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회 전부 실패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즉시 성공 — 놓기 오차 </a:t>
                      </a:r>
                      <a:r>
                        <a:rPr b="1" lang="en-US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5.5 mm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손목 특이점 여유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min|q5|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10.5°  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내내 특이점 근처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49.7°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1364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프레임간 최대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Δ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관절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5.1°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2.9°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508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실물 그리퍼 장착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45°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꺾인 어태치먼트 필요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표준 일자 장착 가능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93" name="TextBox 8"/>
          <p:cNvSpPr/>
          <p:nvPr/>
        </p:nvSpPr>
        <p:spPr>
          <a:xfrm>
            <a:off x="324000" y="4176000"/>
            <a:ext cx="11519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하나의 회전 보정이 세 문제를 동시 해결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: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파지 기하 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+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특이점 탈출 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+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실물 장착 단순화 — 오늘 작업의 최대 수확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4" name="Rounded Rectangle 9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원리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 데이터의 자세가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45°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기울어 있으니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IK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에 목표를 줄 때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 기욺을 상쇄하는 회전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을 곱해 손목이 항상 수직 아래를 보게 만든다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데이터는 안 건드리고 번역 규칙만 바꾼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특이점 부수효과가 왜 큰가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특이점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(joint 5 = 0°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근처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에선 관절이 조금만 움직여도 손끝이 크게 튀어 제어가 불안정하다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기울어진 손목 자세가 하필 그 근처였는데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수직으로 세우니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49.7°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여유로 멀어졌다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 내내 싸운 특이점 문제가 여기선 공짜로 풀림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결정의 성격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기구를 데이터에 맞출 것인가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(A),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데이터 해석을 기구에 맞출 것인가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(B)' — B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소프트웨어 한 줄이라 되돌리기도 쉽다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m1013_kin.orient_corr() 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재스윕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sweep_result_wrist45.json 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데이터셋 재생성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08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물리 검증 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STEP 3 — Isaac Sim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물리 재생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: 35 mm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큐브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pick &amp; place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성공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97" name="Picture 2" descr="0230.png"/>
          <p:cNvPicPr/>
          <p:nvPr/>
        </p:nvPicPr>
        <p:blipFill>
          <a:blip r:embed="rId1"/>
          <a:stretch/>
        </p:blipFill>
        <p:spPr>
          <a:xfrm>
            <a:off x="324000" y="882000"/>
            <a:ext cx="3743640" cy="210564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3" descr="0330.png"/>
          <p:cNvPicPr/>
          <p:nvPr/>
        </p:nvPicPr>
        <p:blipFill>
          <a:blip r:embed="rId2"/>
          <a:stretch/>
        </p:blipFill>
        <p:spPr>
          <a:xfrm>
            <a:off x="4230000" y="882000"/>
            <a:ext cx="3743640" cy="210564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4" descr="0380.png"/>
          <p:cNvPicPr/>
          <p:nvPr/>
        </p:nvPicPr>
        <p:blipFill>
          <a:blip r:embed="rId3"/>
          <a:stretch/>
        </p:blipFill>
        <p:spPr>
          <a:xfrm>
            <a:off x="8136000" y="882000"/>
            <a:ext cx="3743640" cy="2105640"/>
          </a:xfrm>
          <a:prstGeom prst="rect">
            <a:avLst/>
          </a:prstGeom>
          <a:ln w="0">
            <a:noFill/>
          </a:ln>
        </p:spPr>
      </p:pic>
      <p:sp>
        <p:nvSpPr>
          <p:cNvPr id="100" name="TextBox 5"/>
          <p:cNvSpPr/>
          <p:nvPr/>
        </p:nvSpPr>
        <p:spPr>
          <a:xfrm>
            <a:off x="324000" y="3006000"/>
            <a:ext cx="11519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GT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관절 궤적 물리 재생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(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에피소드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0) —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왼쪽부터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: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수직 하강 파지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들어올려 운반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목표 지점에 내려놓기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(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놓기 오차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5.5 mm)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324000" y="3348000"/>
            <a:ext cx="7415640" cy="11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씬 직접 구성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: m1013.usd +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테이블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+ 35 mm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큐브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(30 g) +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평행 그리퍼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(LEHR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근사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8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개 에피소드 일괄 재생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: 6/8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성공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놓기 오차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2.1~10.8 mm)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626b78"/>
                </a:solidFill>
                <a:latin typeface="맑은 고딕"/>
              </a:rPr>
              <a:t>–  </a:t>
            </a:r>
            <a:r>
              <a:rPr b="0" lang="zh-CN" sz="1300" spc="-1" strike="noStrike">
                <a:solidFill>
                  <a:srgbClr val="626b78"/>
                </a:solidFill>
                <a:latin typeface="맑은 고딕"/>
              </a:rPr>
              <a:t>실패 </a:t>
            </a:r>
            <a:r>
              <a:rPr b="0" lang="en-US" sz="1300" spc="-1" strike="noStrike">
                <a:solidFill>
                  <a:srgbClr val="626b78"/>
                </a:solidFill>
                <a:latin typeface="맑은 고딕"/>
              </a:rPr>
              <a:t>ep80·ep158 </a:t>
            </a:r>
            <a:r>
              <a:rPr b="0" lang="zh-CN" sz="1300" spc="-1" strike="noStrike">
                <a:solidFill>
                  <a:srgbClr val="626b78"/>
                </a:solidFill>
                <a:latin typeface="맑은 고딕"/>
              </a:rPr>
              <a:t>은 파지 자세 잔차 편차로 추정 — 원인 분석 예정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발견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: v5 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의 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테이블 높이</a:t>
            </a:r>
            <a:r>
              <a:rPr b="0" lang="en-US" sz="13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350" spc="-1" strike="noStrike">
                <a:solidFill>
                  <a:srgbClr val="15181d"/>
                </a:solidFill>
                <a:latin typeface="맑은 고딕"/>
              </a:rPr>
              <a:t>는 상판이 아니라 파지 기준점 높이 — 씬 기하를 실측으로 재구성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7992000" y="3348000"/>
            <a:ext cx="3887640" cy="147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▶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성공 영상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sim_out/replay_35mm_success.mp4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삽입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Rounded Rectangle 8"/>
          <p:cNvSpPr/>
          <p:nvPr/>
        </p:nvSpPr>
        <p:spPr>
          <a:xfrm>
            <a:off x="324000" y="4968000"/>
            <a:ext cx="11555640" cy="1529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GT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재생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=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학습 전에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번역된 정답 궤적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자체가 물리적으로 말이 되는지 확인하는 단계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이게 안 되면 학습해 봤자 소용없으니 학습보다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먼저 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6/8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의 의미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변환 파이프라인이 대체로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건강하다는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실패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2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건은 궤적별 편차 문제라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파이프라인 자체의 결함이 아니고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분석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대상으로 남겨 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그리퍼는 실물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(SMC LEHR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후보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을 근사한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평행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2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핑거 — 실물 확정 시 치수만 바꾸면 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prep_replay_ep.py · replay_isaac.py · sim_out/replay_ep*_result.json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09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학습 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STEP 4 — ACT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학습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·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평가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: TX90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대비 전 지표 개선</a:t>
            </a:r>
            <a:endParaRPr b="0" lang="en-US" sz="2100" spc="-1" strike="noStrike">
              <a:latin typeface="Arial"/>
            </a:endParaRPr>
          </a:p>
        </p:txBody>
      </p:sp>
      <p:graphicFrame>
        <p:nvGraphicFramePr>
          <p:cNvPr id="106" name="Table 2"/>
          <p:cNvGraphicFramePr/>
          <p:nvPr/>
        </p:nvGraphicFramePr>
        <p:xfrm>
          <a:off x="324000" y="936000"/>
          <a:ext cx="11555640" cy="2915640"/>
        </p:xfrm>
        <a:graphic>
          <a:graphicData uri="http://schemas.openxmlformats.org/drawingml/2006/table">
            <a:tbl>
              <a:tblPr/>
              <a:tblGrid>
                <a:gridCol w="3702240"/>
                <a:gridCol w="3702240"/>
                <a:gridCol w="4151160"/>
              </a:tblGrid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TX90 v6 (</a:t>
                      </a: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기존</a:t>
                      </a: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M1013 v6 (</a:t>
                      </a:r>
                      <a:r>
                        <a:rPr b="1" lang="zh-CN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이번</a:t>
                      </a: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100k 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스텝 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loss 0.052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100k 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스텝 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loss 0.054 (2.8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시간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open-loop 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관절오차 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(3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개 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ep 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평균</a:t>
                      </a: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0.93~1.55°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0.62~0.67°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개폐 일치율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96.8~99.2%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95.5~99.7%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청크 경계 연속성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30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점프 </a:t>
                      </a:r>
                      <a:r>
                        <a:rPr b="0" lang="en-US" sz="130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30.5° 1</a:t>
                      </a:r>
                      <a:r>
                        <a:rPr b="0" lang="zh-CN" sz="130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건 — 안전 필터 필요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30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최대 </a:t>
                      </a:r>
                      <a:r>
                        <a:rPr b="1" lang="en-US" sz="130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4.7° — </a:t>
                      </a:r>
                      <a:r>
                        <a:rPr b="1" lang="zh-CN" sz="130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필터 불필요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검증 무대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RViz </a:t>
                      </a:r>
                      <a:r>
                        <a:rPr b="0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시각화까지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Isaac </a:t>
                      </a:r>
                      <a:r>
                        <a:rPr b="1" lang="zh-CN" sz="130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물리 실행까지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3"/>
          <p:cNvSpPr/>
          <p:nvPr/>
        </p:nvSpPr>
        <p:spPr>
          <a:xfrm>
            <a:off x="324000" y="4032000"/>
            <a:ext cx="11519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개선 원인 추정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손목 </a:t>
            </a:r>
            <a:r>
              <a:rPr b="1" lang="en-US" sz="1500" spc="-1" strike="noStrike">
                <a:solidFill>
                  <a:srgbClr val="15181d"/>
                </a:solidFill>
                <a:latin typeface="맑은 고딕"/>
              </a:rPr>
              <a:t>45° </a:t>
            </a:r>
            <a:r>
              <a:rPr b="1" lang="zh-CN" sz="1500" spc="-1" strike="noStrike">
                <a:solidFill>
                  <a:srgbClr val="15181d"/>
                </a:solidFill>
                <a:latin typeface="맑은 고딕"/>
              </a:rPr>
              <a:t>보정으로 특이점에서 먼 부드러운 궤적 → 배우기 쉬운 액션 분포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모델 구조</a:t>
            </a: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·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하이퍼파라미터는 </a:t>
            </a: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TX90 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과 동일 — 차이는 데이터 품질뿐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ACT =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시연을 모방하는 정책 모델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카메라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2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대 영상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+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현재 관절각을 입력받아 다음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100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스텝의 관절각 청크를 출력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). 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때와 완전히 같은 구조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설정으로 학습했다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open-loop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평가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=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녹화된 관측을 입력해 정책 출력을 정답과 비교하는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관절오차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0.6°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시연을 거의 그대로 재현한다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뜻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청크 경계 점프가 사라진 것이 실기 관점에서 제일 반가운 개선 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TX90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때는 청크가 바뀌는 순간 관절이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30°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튀는 경우가 있어 안전 필터가 필수였는데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여기선 최대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4.7°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라 자연스럽게 이어진다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체크포인트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/root/train_m1013_act_v6 · eval_m1013_v6.py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10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결과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최종 결과 — 정책이 만든 궤적이 물리 시뮬레이션에서 과제 완수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11" name="Rounded Rectangle 2"/>
          <p:cNvSpPr/>
          <p:nvPr/>
        </p:nvSpPr>
        <p:spPr>
          <a:xfrm>
            <a:off x="324000" y="936000"/>
            <a:ext cx="2231640" cy="863640"/>
          </a:xfrm>
          <a:prstGeom prst="roundRect">
            <a:avLst>
              <a:gd name="adj" fmla="val 16667"/>
            </a:avLst>
          </a:prstGeom>
          <a:solidFill>
            <a:srgbClr val="626b78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OMX 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시연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(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실물 데모 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159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개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" name="Right Arrow 3"/>
          <p:cNvSpPr/>
          <p:nvPr/>
        </p:nvSpPr>
        <p:spPr>
          <a:xfrm>
            <a:off x="2563200" y="1278000"/>
            <a:ext cx="16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ounded Rectangle 4"/>
          <p:cNvSpPr/>
          <p:nvPr/>
        </p:nvSpPr>
        <p:spPr>
          <a:xfrm>
            <a:off x="2736000" y="936000"/>
            <a:ext cx="2231640" cy="863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M1013 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관절 데이터셋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(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오프라인 번역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" name="Right Arrow 5"/>
          <p:cNvSpPr/>
          <p:nvPr/>
        </p:nvSpPr>
        <p:spPr>
          <a:xfrm>
            <a:off x="4975200" y="1278000"/>
            <a:ext cx="16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ounded Rectangle 6"/>
          <p:cNvSpPr/>
          <p:nvPr/>
        </p:nvSpPr>
        <p:spPr>
          <a:xfrm>
            <a:off x="5148000" y="936000"/>
            <a:ext cx="2231640" cy="863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ACT 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정책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(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모방학습 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100k)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6" name="Right Arrow 7"/>
          <p:cNvSpPr/>
          <p:nvPr/>
        </p:nvSpPr>
        <p:spPr>
          <a:xfrm>
            <a:off x="7387200" y="1278000"/>
            <a:ext cx="16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ounded Rectangle 8"/>
          <p:cNvSpPr/>
          <p:nvPr/>
        </p:nvSpPr>
        <p:spPr>
          <a:xfrm>
            <a:off x="7560000" y="936000"/>
            <a:ext cx="2231640" cy="863640"/>
          </a:xfrm>
          <a:prstGeom prst="roundRect">
            <a:avLst>
              <a:gd name="adj" fmla="val 16667"/>
            </a:avLst>
          </a:prstGeom>
          <a:solidFill>
            <a:srgbClr val="1f6b4a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예측 궤적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(open-loop </a:t>
            </a: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추론</a:t>
            </a:r>
            <a:r>
              <a:rPr b="0" lang="en-US" sz="10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8" name="Right Arrow 9"/>
          <p:cNvSpPr/>
          <p:nvPr/>
        </p:nvSpPr>
        <p:spPr>
          <a:xfrm>
            <a:off x="9799200" y="1278000"/>
            <a:ext cx="161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26b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Rounded Rectangle 10"/>
          <p:cNvSpPr/>
          <p:nvPr/>
        </p:nvSpPr>
        <p:spPr>
          <a:xfrm>
            <a:off x="9972000" y="936000"/>
            <a:ext cx="2231640" cy="863640"/>
          </a:xfrm>
          <a:prstGeom prst="roundRect">
            <a:avLst>
              <a:gd name="adj" fmla="val 16667"/>
            </a:avLst>
          </a:prstGeom>
          <a:solidFill>
            <a:srgbClr val="2f3d9e"/>
          </a:solidFill>
          <a:ln>
            <a:solidFill>
              <a:srgbClr val="d8dce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0" rIns="43200" tIns="28800" bIns="288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</a:rPr>
              <a:t>Isaac </a:t>
            </a:r>
            <a:r>
              <a:rPr b="1" lang="zh-CN" sz="1200" spc="-1" strike="noStrike">
                <a:solidFill>
                  <a:srgbClr val="ffffff"/>
                </a:solidFill>
                <a:latin typeface="맑은 고딕"/>
              </a:rPr>
              <a:t>물리 실행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ffffff"/>
                </a:solidFill>
                <a:latin typeface="맑은 고딕"/>
              </a:rPr>
              <a:t>집기→운반→놓기 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324000" y="1980000"/>
            <a:ext cx="7415640" cy="16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▪ 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정책 예측 궤적의 물리 재생 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(ep0): </a:t>
            </a:r>
            <a:r>
              <a:rPr b="1" lang="zh-CN" sz="1600" spc="-1" strike="noStrike">
                <a:solidFill>
                  <a:srgbClr val="15181d"/>
                </a:solidFill>
                <a:latin typeface="맑은 고딕"/>
              </a:rPr>
              <a:t>놓기 오차 </a:t>
            </a:r>
            <a:r>
              <a:rPr b="1" lang="en-US" sz="1600" spc="-1" strike="noStrike">
                <a:solidFill>
                  <a:srgbClr val="15181d"/>
                </a:solidFill>
                <a:latin typeface="맑은 고딕"/>
              </a:rPr>
              <a:t>7.8 mm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정답 궤적 재생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(5.5 mm)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과 거의 같은 수준 — 정책이 시연을 물리적으로 유효하게 재현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▪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의미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: OMX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실물 시연 → 다른 로봇</a:t>
            </a: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(M1013)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의 관절 언어 → 학습 → 물리 실행까지 전 체인이 시뮬레이션에서 검증됨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로봇 도착 전에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궤적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정책 층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의 리스크를 미리 소진 — 남은 미지수는 실기 층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시각 도메인 갭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·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실물 그리퍼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Rounded Rectangle 12"/>
          <p:cNvSpPr/>
          <p:nvPr/>
        </p:nvSpPr>
        <p:spPr>
          <a:xfrm>
            <a:off x="7992000" y="1980000"/>
            <a:ext cx="3887640" cy="273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9050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f3d9e"/>
                </a:solidFill>
                <a:latin typeface="맑은 고딕"/>
              </a:rPr>
              <a:t>▶  </a:t>
            </a:r>
            <a:r>
              <a:rPr b="1" lang="zh-CN" sz="1500" spc="-1" strike="noStrike">
                <a:solidFill>
                  <a:srgbClr val="2f3d9e"/>
                </a:solidFill>
                <a:latin typeface="맑은 고딕"/>
              </a:rPr>
              <a:t>정책 실행 영상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정책 궤적 물리 재생 영상 삽입 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(--pred-npz </a:t>
            </a:r>
            <a:r>
              <a:rPr b="0" lang="zh-CN" sz="1100" spc="-1" strike="noStrike">
                <a:solidFill>
                  <a:srgbClr val="626b78"/>
                </a:solidFill>
                <a:latin typeface="맑은 고딕"/>
              </a:rPr>
              <a:t>재생</a:t>
            </a:r>
            <a:r>
              <a:rPr b="0" lang="en-US" sz="1100" spc="-1" strike="noStrike">
                <a:solidFill>
                  <a:srgbClr val="626b78"/>
                </a:solidFill>
                <a:latin typeface="맑은 고딕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Rounded Rectangle 13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정답 재생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정책 재생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의 차이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앞 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(STEP 3)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은 번역해 둔 정답 궤적을 트는 것이고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장은 학습된 신경망이 스스로 만들어 낸 궤적을 트는 것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후자가 되어야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학습이 됐다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고 말할 수 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아직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open-loop: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정책이 보는 관측은 녹화본이라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실행 중 큐브를 옮겨도 모른다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실시간 카메라 관측으로 도는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closed-loop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가 다음 단계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다음 장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숫자 감각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7.8 mm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35 mm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큐브를 목표 지점에 놓는 오차로는 충분히 작다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큐브 한 변의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1/4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3" name="TextBox 14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산출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: /root/policy_rollouts/ep000_pred_m1013v6.npz · replay_isaac.py --pred-npz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11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로드맵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진행 계획 — 전체 로드맵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: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완료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·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진행 중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·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예정</a:t>
            </a:r>
            <a:endParaRPr b="0" lang="en-US" sz="2100" spc="-1" strike="noStrike">
              <a:latin typeface="Arial"/>
            </a:endParaRPr>
          </a:p>
        </p:txBody>
      </p:sp>
      <p:graphicFrame>
        <p:nvGraphicFramePr>
          <p:cNvPr id="125" name="Table 2"/>
          <p:cNvGraphicFramePr/>
          <p:nvPr/>
        </p:nvGraphicFramePr>
        <p:xfrm>
          <a:off x="324000" y="936000"/>
          <a:ext cx="11555640" cy="4049640"/>
        </p:xfrm>
        <a:graphic>
          <a:graphicData uri="http://schemas.openxmlformats.org/drawingml/2006/table">
            <a:tbl>
              <a:tblPr/>
              <a:tblGrid>
                <a:gridCol w="6446880"/>
                <a:gridCol w="1337760"/>
                <a:gridCol w="3771000"/>
              </a:tblGrid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OMX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분석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TX90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좌표 이식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v5/v6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·RViz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검증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8/12~14 —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방법론 확립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방향 전환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: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최종 타깃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M1013 · Isaac Sim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선행 검증 트랙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결정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8/20 —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로봇 도착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월 중하순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M1013: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에셋 검증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IK·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배치 → 데이터셋 → 물리 검증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ACT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8/20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하루 완주 — 이번 발표 내용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일차 산출물 재확인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(REVIEW_GUIDE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워크스루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9a6a00"/>
                          </a:solidFill>
                          <a:latin typeface="맑은 고딕"/>
                        </a:rPr>
                        <a:t>진행 중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8/21~ —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이해 검증 후 다음 착수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closed-loop 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시뮬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):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카메라 정합 → 실시간 관측 제어 → 도메인 갭 측정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a9331d"/>
                          </a:solidFill>
                          <a:latin typeface="맑은 고딕"/>
                        </a:rPr>
                        <a:t>다음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이번 주 착수 목표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실기 준비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: LEHR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확정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TCP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실측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어태치먼트 설계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626b78"/>
                          </a:solidFill>
                          <a:latin typeface="맑은 고딕"/>
                        </a:rPr>
                        <a:t>대기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확정 필요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논의 ①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로봇 도착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: dsr ROS2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연동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v6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궤적 자동 실행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v7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수집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이어학습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월 중하순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~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실기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closed-loop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데모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626b78"/>
                          </a:solidFill>
                          <a:latin typeface="맑은 고딕"/>
                        </a:rPr>
                        <a:t>최종 목표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"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큐브를 옮기면 따라온다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"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126" name="Rounded Rectangle 3"/>
          <p:cNvSpPr/>
          <p:nvPr/>
        </p:nvSpPr>
        <p:spPr>
          <a:xfrm>
            <a:off x="324000" y="5040000"/>
            <a:ext cx="11555640" cy="1439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읽는 법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초록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완료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까지가 지난 열흘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노랑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진행 중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지금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빨강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다음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이번 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회색이 로봇 도착 전후의 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위에서 아래로 시간 순서다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구조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시뮬 트랙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(closed-loop)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과 실기 준비 트랙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그리퍼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어태치먼트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은 서로 독립이라 병렬로 진행 — 로봇 도착이라는 외부 일정에 묶이는 것은 마지막 두 줄뿐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발표 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 장에서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지금 어디까지 왔고 다음이 뭔지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큰 그림을 준 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다음 장에서 각 트랙의 세부를 설명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OMX→M1013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전이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랩미팅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2026-08-24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12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계획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다음 단계 상세 —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closed-loop (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시뮬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)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와 실기 준비 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(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병행</a:t>
            </a:r>
            <a:r>
              <a:rPr b="1" lang="en-US" sz="2100" spc="-1" strike="noStrike">
                <a:solidFill>
                  <a:srgbClr val="ffffff"/>
                </a:solidFill>
                <a:latin typeface="맑은 고딕"/>
              </a:rPr>
              <a:t>)</a:t>
            </a:r>
            <a:endParaRPr b="0" lang="en-US" sz="2100" spc="-1" strike="noStrike">
              <a:latin typeface="Arial"/>
            </a:endParaRPr>
          </a:p>
        </p:txBody>
      </p:sp>
      <p:graphicFrame>
        <p:nvGraphicFramePr>
          <p:cNvPr id="129" name="Table 2"/>
          <p:cNvGraphicFramePr/>
          <p:nvPr/>
        </p:nvGraphicFramePr>
        <p:xfrm>
          <a:off x="324000" y="936000"/>
          <a:ext cx="11555640" cy="3455640"/>
        </p:xfrm>
        <a:graphic>
          <a:graphicData uri="http://schemas.openxmlformats.org/drawingml/2006/table">
            <a:tbl>
              <a:tblPr/>
              <a:tblGrid>
                <a:gridCol w="2355840"/>
                <a:gridCol w="7516800"/>
                <a:gridCol w="1683000"/>
              </a:tblGrid>
              <a:tr h="57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트랙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f3d9e"/>
                    </a:solidFill>
                  </a:tcPr>
                </a:tc>
              </a:tr>
              <a:tr h="57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A. closed-loop (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시뮬</a:t>
                      </a: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씬에 손목캠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+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정면캠 추가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,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데이터셋 영상과 구도 정합 → 정책이 시뮬 렌더 영상을 실시간 관측으로 제어 → 시각 도메인 갭 정량 측정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50" spc="-1" strike="noStrike">
                          <a:solidFill>
                            <a:srgbClr val="2f3d9e"/>
                          </a:solidFill>
                          <a:latin typeface="맑은 고딕"/>
                        </a:rPr>
                        <a:t>다음 목표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측정 결과에 따라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 159ep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시뮬 재렌더 혼합학습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A/B —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이득 증명 시에만 채택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 다음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B. 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실기 준비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LEHR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확정 →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TCP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실측 → 재변환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(1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분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)+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재학습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(3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시간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 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어태치먼트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일자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+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연질 팁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)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설계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그리퍼 확정 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ep80/158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파지 실패 분석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·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도메인 랜덤화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여유 시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C. </a:t>
                      </a:r>
                      <a:r>
                        <a:rPr b="1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로봇 도착 후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dsr ROS2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연동 → 검증된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v6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궤적 자동 실행하며 실기 카메라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+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엔코더로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30~50ep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수집 → 이어학습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(v7) → 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실기 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closed-loop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600" rIns="5760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  <a:r>
                        <a:rPr b="0" lang="zh-CN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월 중하순</a:t>
                      </a:r>
                      <a:r>
                        <a:rPr b="0" lang="en-US" sz="1250" spc="-1" strike="noStrike">
                          <a:solidFill>
                            <a:srgbClr val="15181d"/>
                          </a:solidFill>
                          <a:latin typeface="맑은 고딕"/>
                        </a:rPr>
                        <a:t>~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anchor="ctr" marL="57600" marR="576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3"/>
          <p:cNvSpPr/>
          <p:nvPr/>
        </p:nvSpPr>
        <p:spPr>
          <a:xfrm>
            <a:off x="324000" y="4932000"/>
            <a:ext cx="11555640" cy="156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closed-loop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가 왜 다음인가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지금 정책의 눈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카메라 영상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OMX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리그를 찍은 녹화본이다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시뮬 카메라를 원본과 같은 구도로 달고 그 렌더를 입력하면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다른 장면을 봐도 동작이 유지되는가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시각 도메인 갭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를 로봇 없이 측정할 수 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v7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계획의 요점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실기에서 사람이 새로 시연하는 게 아니라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이미 검증된 궤적을 로봇이 자동 실행하는 동안 실기 카메라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엔코더를 녹화해 이어학습 — 새로 배울 것은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화면 해석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'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뿐이라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30~50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개면 충분하다고 보는 근거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지금 내 진행 상태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오늘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(8/21)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은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REVIEW_GUIDE.md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로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1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일차 산출물 재확인 중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통과 후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A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트랙 착수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OMX→M1013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전이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랩미팅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2026-08-24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rgbClr val="2f3d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4000" rIns="90000" tIns="93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9c2f0"/>
                </a:solidFill>
                <a:latin typeface="맑은 고딕"/>
              </a:rPr>
              <a:t>13 </a:t>
            </a:r>
            <a:r>
              <a:rPr b="1" lang="zh-CN" sz="1500" spc="-1" strike="noStrike">
                <a:solidFill>
                  <a:srgbClr val="b9c2f0"/>
                </a:solidFill>
                <a:latin typeface="맑은 고딕"/>
              </a:rPr>
              <a:t>논의  </a:t>
            </a:r>
            <a:r>
              <a:rPr b="1" lang="zh-CN" sz="2100" spc="-1" strike="noStrike">
                <a:solidFill>
                  <a:srgbClr val="ffffff"/>
                </a:solidFill>
                <a:latin typeface="맑은 고딕"/>
              </a:rPr>
              <a:t>논의드리고 싶은 것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324000" y="936000"/>
            <a:ext cx="11519640" cy="273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▪  ① 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그리퍼 확정 — 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SMC LEHR 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시리즈로 진행해도 되는지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확정되어야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TCP(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그리퍼 길이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실측 → 데이터 재변환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(1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분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 +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재학습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(3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시간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 ·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어태치먼트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일자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+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연질 팁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설계 착수 가능</a:t>
            </a:r>
            <a:endParaRPr b="0" lang="en-US" sz="14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–  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두산 연동은 </a:t>
            </a: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RS485(Modbus) 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결선으로 가능 — </a:t>
            </a:r>
            <a:r>
              <a:rPr b="0" lang="en-US" sz="1350" spc="-1" strike="noStrike">
                <a:solidFill>
                  <a:srgbClr val="626b78"/>
                </a:solidFill>
                <a:latin typeface="맑은 고딕"/>
              </a:rPr>
              <a:t>Robotiq-</a:t>
            </a:r>
            <a:r>
              <a:rPr b="0" lang="zh-CN" sz="1350" spc="-1" strike="noStrike">
                <a:solidFill>
                  <a:srgbClr val="626b78"/>
                </a:solidFill>
                <a:latin typeface="맑은 고딕"/>
              </a:rPr>
              <a:t>두산 선례 있음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▪  ② 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실물 작업대 배치 — 시뮬 확정값 기준으로 준비해도 되는지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로봇 기준 오프셋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(+0.05, −0.15, +0.10) m ·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테이블 상판 높이 가정 — 실물 설치 시 실측 후 갱신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재변환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1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분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▪  ③ 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closed-loop(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시뮬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) 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진행 우선순위 — 카메라 구도 정합부터 착수 예정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시각 도메인 갭 측정 결과가 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v7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수집 규모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(30~50ep 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충분 여부</a:t>
            </a:r>
            <a:r>
              <a:rPr b="0" lang="en-US" sz="140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400" spc="-1" strike="noStrike">
                <a:solidFill>
                  <a:srgbClr val="15181d"/>
                </a:solidFill>
                <a:latin typeface="맑은 고딕"/>
              </a:rPr>
              <a:t>를 결정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▪  ④ 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M1013 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도착 일정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설치 환경 공유 요청 — </a:t>
            </a:r>
            <a:r>
              <a:rPr b="1" lang="en-US" sz="1700" spc="-1" strike="noStrike">
                <a:solidFill>
                  <a:srgbClr val="15181d"/>
                </a:solidFill>
                <a:latin typeface="맑은 고딕"/>
              </a:rPr>
              <a:t>PC(PREEMPT_RT)·</a:t>
            </a:r>
            <a:r>
              <a:rPr b="1" lang="zh-CN" sz="1700" spc="-1" strike="noStrike">
                <a:solidFill>
                  <a:srgbClr val="15181d"/>
                </a:solidFill>
                <a:latin typeface="맑은 고딕"/>
              </a:rPr>
              <a:t>카메라 마운트 등 사전 준비 목록화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4" name="Rounded Rectangle 3"/>
          <p:cNvSpPr/>
          <p:nvPr/>
        </p:nvSpPr>
        <p:spPr>
          <a:xfrm>
            <a:off x="324000" y="5184000"/>
            <a:ext cx="11555640" cy="1295640"/>
          </a:xfrm>
          <a:prstGeom prst="roundRect">
            <a:avLst>
              <a:gd name="adj" fmla="val 16667"/>
            </a:avLst>
          </a:prstGeom>
          <a:solidFill>
            <a:srgbClr val="edeff3"/>
          </a:solidFill>
          <a:ln w="15875">
            <a:solidFill>
              <a:srgbClr val="2f3d9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2000" rIns="162000" tIns="79200" bIns="54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이해 노트 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(</a:t>
            </a:r>
            <a:r>
              <a:rPr b="1" lang="zh-CN" sz="1250" spc="-1" strike="noStrike">
                <a:solidFill>
                  <a:srgbClr val="2f3d9e"/>
                </a:solidFill>
                <a:latin typeface="맑은 고딕"/>
              </a:rPr>
              <a:t>발표 준비용</a:t>
            </a:r>
            <a:r>
              <a:rPr b="1" lang="en-US" sz="1250" spc="-1" strike="noStrike">
                <a:solidFill>
                  <a:srgbClr val="2f3d9e"/>
                </a:solidFill>
                <a:latin typeface="맑은 고딕"/>
              </a:rPr>
              <a:t>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우선순위가 가장 높은 것은 ① — 그리퍼가 확정되어야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TCP·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어태치먼트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·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시뮬 그리퍼 치수가 전부 확정되고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,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나머지는 그와 무관하게 병렬 진행 가능하다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–  ④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는 정보 요청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: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도착일이 잡히면 역산해서 실기 주차 계획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(dsr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연동 → 궤적 자동 실행 → 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v7 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수집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)</a:t>
            </a:r>
            <a:r>
              <a:rPr b="0" lang="zh-CN" sz="1250" spc="-1" strike="noStrike">
                <a:solidFill>
                  <a:srgbClr val="15181d"/>
                </a:solidFill>
                <a:latin typeface="맑은 고딕"/>
              </a:rPr>
              <a:t>을 세울 수 있다</a:t>
            </a:r>
            <a:r>
              <a:rPr b="0" lang="en-US" sz="1250" spc="-1" strike="noStrike">
                <a:solidFill>
                  <a:srgbClr val="15181d"/>
                </a:solidFill>
                <a:latin typeface="맑은 고딕"/>
              </a:rPr>
              <a:t>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4000" y="6598800"/>
            <a:ext cx="1154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OMX→M1013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전이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랩미팅 </a:t>
            </a:r>
            <a:r>
              <a:rPr b="0" lang="en-US" sz="1000" spc="-1" strike="noStrike">
                <a:solidFill>
                  <a:srgbClr val="626b78"/>
                </a:solidFill>
                <a:latin typeface="맑은 고딕"/>
              </a:rPr>
              <a:t>2026-08-24 · </a:t>
            </a:r>
            <a:r>
              <a:rPr b="0" lang="zh-CN" sz="1000" spc="-1" strike="noStrike">
                <a:solidFill>
                  <a:srgbClr val="626b78"/>
                </a:solidFill>
                <a:latin typeface="맑은 고딕"/>
              </a:rPr>
              <a:t>이채원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2026-08-21T16:28:42Z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