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s-industrial/staubli_val3_driver" TargetMode="External"/><Relationship Id="rId3" Type="http://schemas.openxmlformats.org/officeDocument/2006/relationships/hyperlink" Target="https://github.com/IvoD1998/Staubli_ROS2" TargetMode="External"/><Relationship Id="rId4" Type="http://schemas.openxmlformats.org/officeDocument/2006/relationships/hyperlink" Target="https://github.com/FAU-FAPS/adaptive_motion_control" TargetMode="External"/><Relationship Id="rId5" Type="http://schemas.openxmlformats.org/officeDocument/2006/relationships/hyperlink" Target="https://github.com/ros-industrial/staubli_val3_driver/issues/32" TargetMode="External"/><Relationship Id="rId6" Type="http://schemas.openxmlformats.org/officeDocument/2006/relationships/hyperlink" Target="https://www.staubli.com/us/en/robotics/products/robot-software/uniVAL-drive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s-industrial/staubli_val3_driver" TargetMode="External"/><Relationship Id="rId3" Type="http://schemas.openxmlformats.org/officeDocument/2006/relationships/hyperlink" Target="https://github.com/IvoD1998/Staubli_ROS2" TargetMode="External"/><Relationship Id="rId4" Type="http://schemas.openxmlformats.org/officeDocument/2006/relationships/hyperlink" Target="https://github.com/FAU-FAPS/adaptive_motion_control" TargetMode="External"/><Relationship Id="rId5" Type="http://schemas.openxmlformats.org/officeDocument/2006/relationships/hyperlink" Target="https://github.com/ros-industrial/staubli_val3_driver/issues/32" TargetMode="External"/><Relationship Id="rId6" Type="http://schemas.openxmlformats.org/officeDocument/2006/relationships/hyperlink" Target="https://github.com/ros-industrial/staubli_val3_driver/issues/20" TargetMode="External"/><Relationship Id="rId7" Type="http://schemas.openxmlformats.org/officeDocument/2006/relationships/hyperlink" Target="https://www.staubli.com/global/en/robotics/products/robot-controllers/cs9-robot-controller.html" TargetMode="External"/><Relationship Id="rId8" Type="http://schemas.openxmlformats.org/officeDocument/2006/relationships/hyperlink" Target="https://www.staubli.com/us/en/robotics/products/robot-software/uniVAL-drive.html" TargetMode="External"/><Relationship Id="rId9" Type="http://schemas.openxmlformats.org/officeDocument/2006/relationships/hyperlink" Target="https://github.com/huggingface/lerobot" TargetMode="External"/><Relationship Id="rId10" Type="http://schemas.openxmlformats.org/officeDocument/2006/relationships/hyperlink" Target="https://developer.nvidia.com/isaac-sim" TargetMode="External"/><Relationship Id="rId11" Type="http://schemas.openxmlformats.org/officeDocument/2006/relationships/hyperlink" Target="https://github.com/ros-industrial/staubli_experimenta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872000"/>
            <a:ext cx="106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OMX → TX2-90 모방학습 전이</a:t>
            </a:r>
          </a:p>
          <a:p>
            <a:pPr>
              <a:spcBef>
                <a:spcPts val="600"/>
              </a:spcBef>
            </a:pPr>
            <a:r>
              <a:rPr sz="1900" b="0">
                <a:solidFill>
                  <a:srgbClr val="B9C2F0"/>
                </a:solidFill>
                <a:latin typeface="맑은 고딕"/>
              </a:rPr>
              <a:t>2026-08-13 작업 정리 — v5 재학습 · RViz 검증 · 특이점 해결 · 실기 로드맵</a:t>
            </a:r>
          </a:p>
          <a:p>
            <a:pPr>
              <a:spcBef>
                <a:spcPts val="28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자세오차 28.9° → 1.8°   |   IK 성공률 84.6% → 100%   |   외부 제어 경로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8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2F0"/>
                </a:solidFill>
                <a:latin typeface="맑은 고딕"/>
              </a:rPr>
              <a:t>이채원 · 2026-08-13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PIPELINE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전체 파이프라인 — 오늘 작업의 위치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152000"/>
            <a:ext cx="1565999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OMX 시연 수집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162 에피소드 (완료)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00799" y="1440000"/>
            <a:ext cx="223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49199" y="1152000"/>
            <a:ext cx="1565999" cy="75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FK + 좌표 변환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Umeyama+툴 보정 (완료)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25998" y="1440000"/>
            <a:ext cx="223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398" y="1152000"/>
            <a:ext cx="1565999" cy="756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TX90 데이터셋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v4→v5 재조립 (오늘)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51197" y="1440000"/>
            <a:ext cx="223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99597" y="1152000"/>
            <a:ext cx="1565999" cy="756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ACT 학습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100k 스텝 (오늘)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76396" y="1440000"/>
            <a:ext cx="223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4796" y="1152000"/>
            <a:ext cx="1565999" cy="756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RViz 검증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IK 체인 재생 (오늘)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01595" y="1440000"/>
            <a:ext cx="223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49995" y="1152000"/>
            <a:ext cx="1565999" cy="75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실기 TX90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외부제어+수집 (예정)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219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▪  초록 = 완료(~8/12)   빨강 = 오늘(8/13) 작업   회색 = 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" y="2592000"/>
            <a:ext cx="1152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프로젝트 핵심 아이디어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OMX(4축)와 TX90(6축)은 관절 공간이 달라 직접 전이 불가 → EE pose(6D)+그리퍼(1D)로 동작 공간 통일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 시연의 EE 궤적을 Umeyama 변환 + 툴 프레임 보정(Ry+90°)으로 TX90 base_link 좌표계로 이식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정책(ACT)은 카메라 2대 영상 + state(7D) → action(7D) 청크 100스텝을 출력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오늘의 질문: "학습된 정책이 TX90 기구학으로 실제 실행 가능한 궤적을 내는가?"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답: 가능. 단, 손목 특이점 회피를 위해 작업 위치를 로봇 쪽으로 10cm 이동해야 함 (오늘 실증)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PIPELINE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작업 흐름 (시간순)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50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879"/>
                <a:gridCol w="6031978"/>
                <a:gridCol w="4127142"/>
              </a:tblGrid>
              <a:tr h="558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시각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~10:04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v4 데이터셋으로 학습 시작 → 10k 시점 중간 평가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자세오차 28.9° — 비정상, 원인 추적 시작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10:14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원인 발견: 오일러 각 wrap 결함 → fix_euler_wrap.py로 수정, v5 재조립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tx90_act_pick_and_place_v5_ee 생성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10:33~13:03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v5로 ACT 재학습 100,000 스텝 (약 2.5시간, 10k마다 체크포인트)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train_tx90_act_v5/checkpoints/last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13:03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open-loop 추론(predict): ep0 / ep80 / ep140 예측 궤적 생성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자세오차 1.8° — 정상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13:23~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RViz 재생(replay): waypoint별 IK 체인 계획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44/52 성공(84.6%) — wp34~39 실패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특이점 트러블슈팅: 알고리즘 4종 실험 (A~D)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작업대 x−10cm 이동 시 52/52(100%) 확정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run_policy_tx90.py에 --offset 옵션 추가 → RViz 100% 재생 검증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해결 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TX90 외부 제어 조사 + 실행 방식/디코더 출력 아키텍처 논의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실기 로드맵 확정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① — 오일러 각 wrap 결함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5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A9331D"/>
                </a:solidFill>
                <a:latin typeface="맑은 고딕"/>
              </a:rPr>
              <a:t>▪  증상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v4 데이터셋 학습 10k 시점 평가에서 자세(회전) 오차 28.9° — 위치는 정상인데 자세만 크게 어긋남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A9331D"/>
                </a:solidFill>
                <a:latin typeface="맑은 고딕"/>
              </a:rPr>
              <a:t>▪  원인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EE 자세를 오일러 각(extrinsic xyz)으로 저장할 때 ±180° 경계에서 wrap 발생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예: rx가 +179° → −179°로 건너뜀 — 물리적으로는 2° 회전인데 수치로는 358° 점프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회귀 모델은 수치를 그대로 학습 → 경계 근처 프레임에서 평균을 내다 엉뚱한 자세를 출력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이 작업 자세들의 rx가 하필 ±180° 근처에 몰려 있어 피해가 컸음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B4A"/>
                </a:solidFill>
                <a:latin typeface="맑은 고딕"/>
              </a:rPr>
              <a:t>▪  해결 (fix_euler_wrap.py)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에피소드별로 오일러 각 시퀀스를 시간순으로 unwrap — 프레임 간 차이가 ±180° 넘으면 2π 보정해 연속화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수정본으로 v5 데이터셋(tx90_act_pick_and_place_v5_ee) 재조립 — 영상은 심볼릭 링크로 v4 재사용(용량 절약)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B4A"/>
                </a:solidFill>
                <a:latin typeface="맑은 고딕"/>
              </a:rPr>
              <a:t>▪  결과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–  v5 재학습(100k) 후 자세오차 28.9° → 1.8° — 결함 해소 확인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26B78"/>
                </a:solidFill>
                <a:latin typeface="맑은 고딕"/>
              </a:rPr>
              <a:t>▪  교훈: 각도 표현을 학습 데이터로 쓸 때는 연속성(unwrap)을 반드시 전수 검사할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산출물: fix_euler_wrap.py · tx90_act_pick_and_place_v5_ee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ACT v5 재학습 — 설정과 산출물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27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00"/>
                <a:gridCol w="8859600"/>
              </a:tblGrid>
              <a:tr h="396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dlcodnjs/tx90_act_pick_and_place_v5_ee (162 에피소드, 오일러 wrap 수정본)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모델 / 스텝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ACT · 100,000 스텝 · batch 8 (10:33~13:03, 약 2.5시간, RTX 5070 Ti)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카메라 2대(480×640) + state 7D (EE pose 6D + gripper 1D)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action 7D × chunk 100 스텝 (한 추론 = 3.3초 분량 궤적)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체크포인트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/root/train_tx90_act_v5/checkpoints/{010000..100000, last} — 10k마다 보존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최종 모델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checkpoints/last/pretrained_model (= 100000)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031999"/>
            <a:ext cx="115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검증 1단계 — open-loop 추론 (predict 모드)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데이터셋 에피소드의 관측(녹화 영상+pose)을 순서대로 넣어 예측 궤적 생성 → 정답과 비교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ep0 / ep80 / ep140 세 에피소드 rollout 저장 (policy_rollouts/*.parquet)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–  자세오차 1.8° — 학습 자체는 성공. 단 이것은 open-loop(관측이 녹화본)이므로 "모방 정확도" 검증임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실시간 관측 기반 제어(closed-loop)는 실기/시뮬레이션 단계의 별도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검증 2단계 — RViz 재생과 IK 체인 알고리즘 (채택안)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7020000" cy="5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배선: run_policy_tx90.py replay 모드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예측 parquet → 다운샘플(1/10) → 정지 중복 제거 → 52 waypoint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waypoint → IK → 관절 궤적 → 50Hz 보간 → fake_controller 토픽 발행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A9331D"/>
                </a:solidFill>
                <a:latin typeface="맑은 고딕"/>
              </a:rPr>
              <a:t>▪  1차 시도: MoveIt compute_cartesian_path → 기각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특이점 위 자세라 mm 차이로 IK 성패가 갈려 1.9%에서 조기 종료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6B4A"/>
                </a:solidFill>
                <a:latin typeface="맑은 고딕"/>
              </a:rPr>
              <a:t>▪  채택: waypoint별 IK 체인 (직접 구현)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① 직전 해를 시드로 waypoint마다 IK (GetPositionIK, 충돌 회피, 200ms)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② 2π 접기: 관절 한계 안에서 시드에 가장 가까운 등가각으로 (+361°→+1°)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③ 접은 뒤에도 max|Δ|&gt;90°면 브랜치 플립(팔꿈치 뒤집힘)으로 보고 기각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④ 실패 시 시드 섭동 4종으로 재시도, 그래도 실패면 해당 waypoint 건너뜀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결과: 44/52 성공(84.6%) — 궤적 재생됨, 단 wp1,3,34~39 실패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7.7s 그리퍼 닫힘(집기) · 13.1s 열림(놓기) 재현 — 트러블슈팅 ②로</a:t>
            </a:r>
          </a:p>
        </p:txBody>
      </p:sp>
      <p:pic>
        <p:nvPicPr>
          <p:cNvPr id="4" name="Picture 3" descr="replay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936000"/>
            <a:ext cx="4096949" cy="4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60000" y="5508000"/>
            <a:ext cx="41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626B78"/>
                </a:solidFill>
                <a:latin typeface="맑은 고딕"/>
              </a:rPr>
              <a:t>▪  RViz 재생 화면 (TX2-90, base_link 고정)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부수 트러블슈팅: RViz에 map만 보이는 문제 = zenoh 라우터 부재 → rmw_zenohd 선기동으로 해결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② — 손목 특이점 (wp34~39 실패)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5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A9331D"/>
                </a:solidFill>
                <a:latin typeface="맑은 고딕"/>
              </a:rPr>
              <a:t>▪  증상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놓기 직전 구간 wp34~39(약 2초)가 IK 재시도 4회에도 일관된 해 없음 → 건너뜀 (44/52)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건너뛴 구간은 관절 보간으로 이어져 화면상 부드러워 보이지만 실제 EE 경로와 다름 — 정직하게 한계로 기록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A9331D"/>
                </a:solidFill>
                <a:latin typeface="맑은 고딕"/>
              </a:rPr>
              <a:t>▪  원인 (실측으로 확인)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이 작업 자세들의 TX90 관절해가 joint_5 ≈ 0° 위에 있음 — 4번·6번 축이 일직선이 되는 손목 특이점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특이점 위에서는 같은 EE pose에 대한 관절해(브랜치)가 급변 → 연속 궤적이 성립 안 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wp34~39의 해는 존재하지만 현재 팔의 관절 배치에서 90° 미만 점프로는 도달 불가한 다른 브랜치에 있음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B4A"/>
                </a:solidFill>
                <a:latin typeface="맑은 고딕"/>
              </a:rPr>
              <a:t>▪  해결 전략: 알고리즘 4종을 실험해 정량 비교 후 선택 (다음 장)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A. 브랜치 전환 허용   B. 작업 영역 평행이동   C. 시작 관절 배치 변경   D. IK 해 그래프 전역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특이점 해결 — 시도한 알고리즘 4종과 선택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8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91"/>
                <a:gridCol w="4834653"/>
                <a:gridCol w="1532938"/>
                <a:gridCol w="4598816"/>
              </a:tblGrid>
              <a:tr h="68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안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판정 / 이유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브랜치 플립 허용 — 일관된 해가 없으면 뒤집힌 해라도 수용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52/52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A9331D"/>
                          </a:solidFill>
                          <a:latin typeface="맑은 고딕"/>
                        </a:rPr>
                        <a:t>기각 — 3곳에서 165~359° 관절 점프, 실기서 팔 전체가 휙 도는 동작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작업 영역 평행이동 — 궤적 전체를 dx,dy,dz 이동 후 기존 체인 적용 (그리드 12종 탐색)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x−10cm: 52/52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채택 — 코드 한 줄(--offset), 어떤 궤적에도 견고, 실기는 테이프만 이동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시작 관절 배치 변경 — wp34~39를 푸는 브랜치의 해를 시작 시드로 사용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31/52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A9331D"/>
                          </a:solidFill>
                          <a:latin typeface="맑은 고딕"/>
                        </a:rPr>
                        <a:t>기각 — 그 브랜치는 중간 구간(wp14~30)을 못 풀음. 단일 브랜치로 전 구간 커버 불가 입증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D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IK 해 그래프 탐색 — waypoint마다 다중 시드로 해 7~18개 수집(2π 등가 포함), 점프&lt;90° 연결을 DP로 탐색(건너뛰기 허용)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51/52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26B78"/>
                          </a:solidFill>
                          <a:latin typeface="맑은 고딕"/>
                        </a:rPr>
                        <a:t>참고용 — 손목 뒤집힌 배치로 놓기 구간까지 통과. 단 에피소드 전용·최대 점프 83°·실시간 불가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680000"/>
            <a:ext cx="1152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실험 B 상세 — 평행이동 그리드 결과 (성공 waypoint / 52)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–  x−10cm: 52 ✅   x+10: 52   y+5: 52   (x−5,y+5): 52   |   y+10: 49   x−5: 50   z±5: 50~51   y−5: 34 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y+5cm도 100%지만 y+10에서 다시 실패 → 여유 폭이 좁음. x−10cm은 대칭적으로 안전 → 채택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의미: 현재 작업 영역이 특이점 능선 바로 위 — 로봇 쪽으로 10cm만 들어오면 능선을 완전히 벗어남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626B78"/>
                </a:solidFill>
                <a:latin typeface="맑은 고딕"/>
              </a:rPr>
              <a:t>▪  실험 D의 부수 성과: wp10→11 DP 단절 원인 추적 → 2π 등가각 누락 버그 발견·수정, 전 구간 해 지도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산출물: probe_singularity.py(A·B) · probe_branch.py(C) · probe_graph2.py+probe_dp2.py(D) · ik_solutions_ep000.npz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최종 검증 — 작업대 −10cm에서 52/52 (100%) 재생</a:t>
            </a:r>
          </a:p>
        </p:txBody>
      </p:sp>
      <p:pic>
        <p:nvPicPr>
          <p:cNvPr id="3" name="Picture 2" descr="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72000"/>
            <a:ext cx="3605315" cy="3960000"/>
          </a:xfrm>
          <a:prstGeom prst="rect">
            <a:avLst/>
          </a:prstGeom>
        </p:spPr>
      </p:pic>
      <p:pic>
        <p:nvPicPr>
          <p:cNvPr id="4" name="Picture 3" descr="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00" y="972000"/>
            <a:ext cx="3605315" cy="3960000"/>
          </a:xfrm>
          <a:prstGeom prst="rect">
            <a:avLst/>
          </a:prstGeom>
        </p:spPr>
      </p:pic>
      <p:pic>
        <p:nvPicPr>
          <p:cNvPr id="5" name="Picture 4" descr="f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00" y="972000"/>
            <a:ext cx="3605315" cy="39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5040000"/>
            <a:ext cx="115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Consolas"/>
              </a:rPr>
              <a:t>▪  run_policy_tx90.py replay --offset=-0.10,0,0 → IK 체인 52/52 waypoint 성공 (100%)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궤적 범위: x 0.47~0.68m · 어깨거리 0.48~0.70m (최대 리치 0.95m 내) · 18.7초 재생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이전에 건너뛰던 놓기 직전 구간(wp34~39)까지 정책 예측 경로 그대로 재현 — 화면 전체가 이제 정책 출력과 일치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A9331D"/>
                </a:solidFill>
                <a:latin typeface="맑은 고딕"/>
              </a:rPr>
              <a:t>–  실기 적용 시 주의: 실물 테이프 사각형(집기/놓기 위치)도 로봇 쪽으로 10cm 이동 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캡처: 재생 중 3프레임 (접근 → 집기 하강 → 종료 자세)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SURVEY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조사 — TX90(CS9) 외부 제어, 뚫을 수 있는가?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7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300"/>
                <a:gridCol w="5385320"/>
                <a:gridCol w="1795106"/>
                <a:gridCol w="2468271"/>
              </a:tblGrid>
              <a:tr h="63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실시간성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비용/조건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① VAL3 드라이버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ros_server VAL3 앱 + TCP 소켓 4개(11000~11003) → FollowJointTrajectory 궤적 실행 + 상태 피드백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궤적 일괄 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무료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② velocity/motion 확장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FAU-FAPS 미들웨어의 속도·포즈 추종 모드 — 보간 클럭(~4ms) 주기 연속 제어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연속 스트리밍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CS9 확장 옵션 (유상 추정, 견적 문의 예정)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③ uniVAL Drive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CS9를 EtherCAT/PROFINET 서보 드라이브처럼 구동 — 필드버스 사이클 위치 명령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하드 실시간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26B78"/>
                          </a:solidFill>
                          <a:latin typeface="맑은 고딕"/>
                        </a:rPr>
                        <a:t>유료 + PLC 스택 — 연구용 과함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744000"/>
            <a:ext cx="11520000" cy="2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핵심 판단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검증 단계(ACT open-loop 재현)와 스크립트 데이터 수집은 ①만으로 가능 — 리스크 낮음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반응형(30Hz closed-loop)은 ②가 관건 — Stäubli Robotics Suite의 CS9 에뮬레이터로 실기 없이 선검증 가능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온라인 스트리밍을 ①로 흉내내는 시도는 공식 이슈에서 불안정 판정 → ② 없이는 재계획형까지만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참고 링크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2"/>
              </a:rPr>
              <a:t>–  ros-industrial/staubli_val3_driver (CS8/CS9 공식 드라이버)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3"/>
              </a:rPr>
              <a:t>–  IvoD1998/Staubli_ROS2 (ROS2 포팅 + 미들웨어 포함)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4"/>
              </a:rPr>
              <a:t>–  FAU-FAPS/adaptive_motion_control (velocity/pose tracking 미들웨어)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5"/>
              </a:rPr>
              <a:t>–  TX2-90 실시간 서보 논의 (staubli_val3_driver issue #32)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6"/>
              </a:rPr>
              <a:t>–  Stäubli uniVAL Drive 공식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우리 로봇: TX2-90 → CS9 컨트롤러 세대 (staubli_tx2_90_description 확인)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DESIGN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아키텍처 정리 ① — 실행 방식 스펙트럼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80000"/>
            <a:ext cx="3456000" cy="122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open-loop (현재)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관측 없이 좌표 재생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= 오늘 RViz 검증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52000" y="1602000"/>
            <a:ext cx="27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12000" y="1080000"/>
            <a:ext cx="3456000" cy="122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재계획형 (실기 1차 목표)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청크마다 관측→계획→실행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기본 드라이버로 가능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40000" y="1602000"/>
            <a:ext cx="27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0000" y="1080000"/>
            <a:ext cx="3456000" cy="1224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반응형 (최종 목표)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30Hz 연속 관측·수정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velocity 확장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2592000"/>
            <a:ext cx="1152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재계획형도 closed-loop이며 VLA로 성립 — 관측이 청크마다 행동을 결정 (RT-2 등도 1~3Hz 저주파 실행)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주사위를 옮기면: 실행 중인 청크는 못 보지만 다음 청크(1~3초 내)가 새 위치로 향함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짧은 청크(1초) + 집기 직전 확인 관측 가드레일로 반응 지연 최소화 가능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연속 이동 추적만 반응형 전용 영역 — 이 경계가 velocity 확장의 가치를 정함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플랜: 실기 상한선은 CS9 에뮬레이터+견적으로 판가름, 반응형 연구 본론은 Isaac Sim에서 선행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경로 ② 실패 시에도: 실기=재계획형 완성 + 반응형=sim 정량 검증 → "산업 컨트롤러 제약별 VLA 배포 스펙트럼" 연구 프레임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26B78"/>
                </a:solidFill>
                <a:latin typeface="맑은 고딕"/>
              </a:rPr>
              <a:t>▪  용어 주의: 현 ACT는 언어 입력이 없어 visuomotor policy. VLA 타이틀은 SmolVLA(언어 지시) 단계부터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DESIGN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아키텍처 정리 ② — 디코더 출력: EE pose vs joint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4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977"/>
                <a:gridCol w="5043779"/>
                <a:gridCol w="4852243"/>
              </a:tblGrid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B안: EE pose 유지 + 청크 IK 레이어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C안: joint 직접 출력 (v6)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구조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디코더(EE 청크 100) → IK 체인 레이어(시드=직전 명령) → joint 버퍼 → 30Hz 스트림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디코더가 joint 청크를 직접 출력 → 안전 필터 → 로봇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재학습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불필요 — v5 그대로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필요 (~2.5h) — v6 데이터셋으로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런타임 IK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루프 밖(청크 단위, 3.3초 여유) — 실패는 실행 전 감지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없음 — 특이점 문제 학습 전에 소멸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joint 라벨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v5 EE action을 오프라인 IK 체인으로 일괄 변환 (실기 시연 0개)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OMX 전이성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유지 (EE 규격 공통)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TX90 전용으로 고정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연속성 보장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체인 알고리즘이 보장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학습으로 획득 + 안전 필터(|Δj| 한계) 검사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112000"/>
            <a:ext cx="115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결정: 양자택일하지 않고 둘 다 확보해 비교 (v5는 이미 있고 v6는 변환+재학습만)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변환 규약: 전 에피소드 공통 HOME 시드 · −10cm 오프셋 위치에서 변환 · 90° 점프 거부/2π 접기 동일 적용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검증 3종: 프레임 간 최대 점프 · 에피소드 간 브랜치 분포(단봉성) · FK 역검증(mm 오차)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MoveIt 체인의 역할 이관: 브랜치 선택→변환 때 소멸 · 시드 연속성→state 조건부 예측 · 점프 보장→출력 안전 필터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박사님 질문 회신: "디코더에서 joint 출력 가능 — IK는 런타임이 아닌 데이터셋 변환 시 1회"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ACT 모델 해부 — 입력 · 중간 과정 · 출력 (v5 실측 설정)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1944000" cy="54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camera1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480×640 RGB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1944000" cy="54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camera2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480×640 RGB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160000"/>
            <a:ext cx="1944000" cy="54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state 7D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EE pose 6 + grip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2772000"/>
            <a:ext cx="1944000" cy="540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latent z 32D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(학습 때만, 추론 시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6000" y="1080000"/>
            <a:ext cx="230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ResNet18 ×2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(ImageNet 사전학습)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→ 카메라당 300 토큰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6000" y="2160000"/>
            <a:ext cx="2304000" cy="54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선형 투영 → 1 토큰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6000" y="2772000"/>
            <a:ext cx="2304000" cy="540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투영 → 1 토큰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40000" y="1188000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340000" y="1800000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340000" y="2340000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340000" y="2951999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72000" y="1224000"/>
            <a:ext cx="2015999" cy="1728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Transformer 인코더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4층 · 512D · 8헤드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602 토큰 융합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(화면·자세·스타일 연결)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1224000"/>
            <a:ext cx="1872000" cy="1728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디코더 1층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학습된 쿼리 100개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= 청크의 각 스텝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cross-attention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24000" y="1224000"/>
            <a:ext cx="1655999" cy="1728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action 청크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100스텝 × 7D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= 3.3초 궤적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(30Hz)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12000" y="1980000"/>
            <a:ext cx="30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542000" y="1980000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846000" y="1980000"/>
            <a:ext cx="32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" y="3528000"/>
            <a:ext cx="11520000" cy="29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중간 과정 핵심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영상: ResNet18이 480×640 → 15×20 특징맵으로 압축, 격자 한 칸 = 토큰 1개 (2D 위치 인코딩으로 "화면 어디"를 보존)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latent z (CVAE): 학습 때는 별도 VAE 인코더(4층)가 정답 청크에서 "시연 스타일"을 뽑아 z에 흡수 (KL 가중치 10) — 시연 간 다양성이 평균으로 뭉개지는 것을 방지. 추론 때는 z=0(평균 스타일), VAE 인코더는 돌지 않음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손실: 정답 청크와의 L1 + KL — "다음 한 스텝"이 아니라 청크 통째 회귀 → 스텝별 오차 누적(compounding error)을 차단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현재 소비 방식과 조정 노브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n_action_steps=100: 청크를 끝까지 실행 후 재추론 (3.3초마다 재계획) · temporal ensembling은 현재 꺼짐(None)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반응형으로 갈 때: 청크 단축(예: 30스텝=1초) + 앙상블 켜기 → 관측 반영 주기 상승 — 모델 재학습 없이 실행기 설정만 변경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모델 해부·방식 비교 · 2026-08-14 추가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B안 vs C안 — "번역(IK)을 언제 하느냐"의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1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F3D9E"/>
                </a:solidFill>
                <a:latin typeface="맑은 고딕"/>
              </a:rPr>
              <a:t>▪  B안 — 실행할 때마다 번역 (모델 v5 그대로, 재학습 불필요)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116000"/>
            <a:ext cx="1692000" cy="72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15181D"/>
                </a:solidFill>
                <a:latin typeface="맑은 고딕"/>
              </a:rPr>
              <a:t>카메라 2대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+ state (EE pose)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8000" y="1116000"/>
            <a:ext cx="1872000" cy="72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모델 v5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EE 청크 100스텝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116000"/>
            <a:ext cx="2376000" cy="720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IK 번역기 — 매 청크 가동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체인 방식 · 0.1~0.5초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실패 가능(낮지만 0 아님)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20000" y="1116000"/>
            <a:ext cx="1584000" cy="72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15181D"/>
                </a:solidFill>
                <a:latin typeface="맑은 고딕"/>
              </a:rPr>
              <a:t>joint 버퍼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6000" y="1116000"/>
            <a:ext cx="1512000" cy="72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로봇 30Hz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4000" y="138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158000" y="138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786000" y="138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622000" y="138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198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C안 — 미리 번역해두고 학습 (모델 v6 새로, 실행 시 IK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2286000"/>
            <a:ext cx="11448000" cy="413999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626B78"/>
                </a:solidFill>
                <a:latin typeface="맑은 고딕"/>
              </a:rPr>
              <a:t>사전 작업 딱 1회:  데이터셋 v5(EE 표현) ─ 오프라인 IK 일괄 번역 (−10cm 위치, 공통 HOME 시드) ─▶ 데이터셋 v6(joint 표현) ─▶ 재학습 ~2.5h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2826000"/>
            <a:ext cx="2015999" cy="72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15181D"/>
                </a:solidFill>
                <a:latin typeface="맑은 고딕"/>
              </a:rPr>
              <a:t>카메라 2대</a:t>
            </a:r>
          </a:p>
          <a:p>
            <a:pPr algn="ctr"/>
            <a:r>
              <a:rPr sz="950" b="0">
                <a:solidFill>
                  <a:srgbClr val="15181D"/>
                </a:solidFill>
                <a:latin typeface="맑은 고딕"/>
              </a:rPr>
              <a:t>+ state (joint)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2000" y="2826000"/>
            <a:ext cx="2232000" cy="72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모델 v6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joint 청크 100스텝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2000" y="2826000"/>
            <a:ext cx="2736000" cy="72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안전 필터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</a:rPr>
              <a:t>|Δjoint| 한계 검사 (뺄셈+비교, 비용≈0)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6000" y="2826000"/>
            <a:ext cx="1512000" cy="72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로봇 30Hz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58000" y="309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842000" y="309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66000" y="3096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4000" y="3816000"/>
          <a:ext cx="11555999" cy="248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199"/>
                <a:gridCol w="4301400"/>
                <a:gridCol w="4301400"/>
              </a:tblGrid>
              <a:tr h="41399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B안 (EE + 번역기)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C안 (joint 직접)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중 IK 실패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청크 폐기·재시도 로직 필요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그런 상황 자체가 없음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특이점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때마다 회피 (−10cm 전제)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변환 때 1회 회피로 종결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다른 로봇 재사용 / OMX 호환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EE는 로봇 중립 — 전이 노선 유지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TX90 전용으로 고정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오작동 원인 진단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모델 탓/번역기 탓 분리 가능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원인이 모델 하나로 좁혀짐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불필요 — 지금 바로 사용 가능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필요 (~2.5h) + v6 변환 선행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비유: B = 실행마다 통역사 대동 / C = 교재를 미리 번역해 원어로 학습 — 결정: 둘 다 확보해 비교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오해 방지 — v6는 "모델 v5"가 아니라 "원본 시연"에서 나온다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72000"/>
            <a:ext cx="2808000" cy="72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OMX 사람 시연 162ep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(원본 정답 — 좌표 변환 완료)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6000" y="1242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91999" y="972000"/>
            <a:ext cx="2448000" cy="72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15181D"/>
                </a:solidFill>
                <a:latin typeface="맑은 고딕"/>
              </a:rPr>
              <a:t>데이터셋 v5</a:t>
            </a:r>
          </a:p>
          <a:p>
            <a:pPr algn="ctr"/>
            <a:r>
              <a:rPr sz="1050" b="0">
                <a:solidFill>
                  <a:srgbClr val="15181D"/>
                </a:solidFill>
                <a:latin typeface="맑은 고딕"/>
              </a:rPr>
              <a:t>action = EE pose 표현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93999" y="1152000"/>
            <a:ext cx="1188000" cy="36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오프라인 IK 번역 (1회)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2000" y="972000"/>
            <a:ext cx="2448000" cy="720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15181D"/>
                </a:solidFill>
                <a:latin typeface="맑은 고딕"/>
              </a:rPr>
              <a:t>데이터셋 v6</a:t>
            </a:r>
          </a:p>
          <a:p>
            <a:pPr algn="ctr"/>
            <a:r>
              <a:rPr sz="1050" b="0">
                <a:solidFill>
                  <a:srgbClr val="15181D"/>
                </a:solidFill>
                <a:latin typeface="맑은 고딕"/>
              </a:rPr>
              <a:t>action = joint 표현</a:t>
            </a:r>
          </a:p>
        </p:txBody>
      </p:sp>
      <p:sp>
        <p:nvSpPr>
          <p:cNvPr id="8" name="Down Arrow 7"/>
          <p:cNvSpPr/>
          <p:nvPr/>
        </p:nvSpPr>
        <p:spPr>
          <a:xfrm>
            <a:off x="4536000" y="1745999"/>
            <a:ext cx="251999" cy="324000"/>
          </a:xfrm>
          <a:prstGeom prst="down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8316000" y="1745999"/>
            <a:ext cx="251999" cy="324000"/>
          </a:xfrm>
          <a:prstGeom prst="down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1999" y="2124000"/>
            <a:ext cx="2448000" cy="612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모델 v5 (EE 출력)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— 학습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2000" y="2124000"/>
            <a:ext cx="2448000" cy="612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모델 v6 (joint 출력)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— 새로 학습 예정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880000"/>
            <a:ext cx="11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모델 v5는 v6 생성 과정 어디에도 관여하지 않음 — 두 모델은 같은 시연을 다른 언어(EE/joint)로 배운 "형제"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626B78"/>
                </a:solidFill>
                <a:latin typeface="맑은 고딕"/>
              </a:rPr>
              <a:t>–  만약 모델 v5의 예측으로 v6를 만들면 예측 오차(1.8°)까지 정답으로 배우는 "복사본의 복사본" — 그렇게 하지 않는 이유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4000" y="3851999"/>
          <a:ext cx="11555998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758"/>
                <a:gridCol w="4381120"/>
                <a:gridCol w="4381120"/>
              </a:tblGrid>
              <a:tr h="45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연속성(안 튐)은 누가 보장하나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v5 + IK 체인 (현행)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v6 joint 출력 (예정)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보장 주체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중 알고리즘이 강제 (직전 해 시드 + 90° 점프 거부)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데이터 규약 + 학습 + 안전 필터로 분산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청크 내부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waypoint마다 독립적으로 풀어 이어붙임 → 브랜치 튈 여지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100스텝을 한 번의 계산으로 출력 → 구조적으로 매끄러움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청크 경계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직전 관절해를 다음 시드로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state(현재 joint) 조건부 예측이 시드 역할 대체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실패 모드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해 없음 → waypoint 건너뜀 (궤적에 구멍, 44/52 사례)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분포 밖 관측 → 어긋난 값 가능 → |Δj| 필터가 차단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재생 성공률 (오늘 100% 확인)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 후 전 에피소드 프레임 간 최대 점프 실측 (검증 3종)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모델 해부·방식 비교 · 2026-08-14 추가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FILES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생성·수정 파일 ① — 호스트 (~/tx90)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5600"/>
                <a:gridCol w="7190399"/>
              </a:tblGrid>
              <a:tr h="63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fix_euler_wrap.py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v4 데이터셋의 오일러 각 ±180° wrap을 에피소드별로 unwrap → v5 데이터셋 재조립 스크립트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run_policy_tx90.py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STEP 8 배선 (오늘 완성+수정). predict: 체크포인트→예측 parquet / replay: IK 체인→RViz 재생. 오늘 --offset(평행이동) 옵션 추가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대화록 및 PPT/img_0813/*.png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RViz 검증 캡처 4장 (재생 전 1 + 재생 중 3프레임)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make_report_pptx_0813.py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 PPT의 생성 스크립트 (수정 후 재실행하면 갱신)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~/physical_ai_tools/.../dlcodnjs/tx90_act_pick_and_place_v5_ee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v5 데이터셋 (162 에피소드, wrap 수정본. 영상은 v4로 심볼릭 링크)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896000"/>
            <a:ext cx="115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재현 명령 (컨테이너 안)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–  python3 /root/run_policy_tx90.py replay --parquet /root/policy_rollouts/ep000_pred_v5_100k.parquet --offset=-0.10,0,0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전제: demo.launch.py(RViz) + zenoh 라우터 실행 중. --offset 없이 돌리면 기존 44/52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FILES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생성 파일 ② — 컨테이너 physical_ai_server (/root)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51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400"/>
                <a:gridCol w="6933600"/>
              </a:tblGrid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train_tx90_act_v5/checkpoints/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v5 100k 학습 산출물. last→100000이 최종 모델 (pretrained_model)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train_tx90_act/ (10k 중단)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wrap 수정 전(v4) 학습분 — 결함 진단용으로만 의미, 사용 안 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policy_rollouts/ep{000,80,140}_pred_v5*.parquet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open-loop 예측 궤적 3개 (RViz 재생 입력)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probe_singularity.py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실험 A(브랜치 플립 허용)·B(평행이동 그리드 12종) 스크립트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probe_branch.py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실험 C — 좋은 브랜치 시드로 strict 체인 재시작 (31/52 → 기각 근거)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probe_graph.py / probe_graph2.py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실험 D — waypoint별 IK 해 다중 수집 + 연속 경로 DP (v2에서 2π 등가 버그 수정)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probe_dp2.py / probe_debug.py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건너뛰기 허용 DP (51/52 도출) / wp10→11 DP 단절 원인 디버그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ik_solutions_ep000.npz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ep0 52 waypoint별 IK 해 집합 (해 7~18개/wp, 2π 등가 포함) — 재분석용 캐시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branch_path_ep000.npy (+kept)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실험 D가 찾은 51/52 연속 관절 궤적 (손목 뒤집힌 배치) — 데모·비교용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STATUS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진행상황 — 어디까지 왔나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5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000"/>
                <a:gridCol w="1412400"/>
                <a:gridCol w="4044600"/>
              </a:tblGrid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시연 수집 (162ep) · FK · 좌표 변환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~8/12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EE 데이터셋 (v4→v5 wrap 수정)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8/13 오전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ACT 학습 (100k) + open-loop 검증 (1.8°)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8/13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RViz 기구학 검증 + 특이점 해결 (−10cm, 100%)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8/13 — 작업대 이동 결정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경로 조사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8/13 — VAL3 무료 경로 확인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CS9 에뮬레이터 검증 + velocity 확장 견적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내일부터 — 반응형 가능 여부 판가름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joint 데이터셋 변환 + 재학습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내일 — Claude가 배치 변환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Isaac Sim 물리 검증 (v6 궤적 재생)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</a:rPr>
                        <a:t>이번 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그리퍼가 실제로 집는지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실기 open-loop 재현 → 스크립트 수집 → 전이학습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확보 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SmolVLA (언어 지시 VLA) + 재계획형/반응형 비교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ACT 실기 성공 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NEXT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다음 단계 — 내일 할 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600"/>
                <a:gridCol w="7190399"/>
                <a:gridCol w="3210000"/>
              </a:tblGrid>
              <a:tr h="57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 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Stäubli 계정 생성 → 소프트웨어 센터에서 motion/velocity 확장 확인, SRS 다운로드(Windows)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경로② 실존 확인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 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대리점 견적 메일 — "TX2-90/CS9 motion·velocity expansion 설치 비용·절차" (시리얼 첨부)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리드타임 먼저 확보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SRS 설치 → CS9 에뮬레이터 기동 → TCP 소켓 4개(11000~11003) 설정 연습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실기 없는 검증 환경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Claude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joint 데이터셋 변환 (배치 IK 체인 + 검증 리포트 3종) → 통과 시 재학습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"v6 변환 시작해줘"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병행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랩미팅 PPT (이 자료 기반, 이번 주 전체로 확장)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구성안 확정됨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248000"/>
            <a:ext cx="11520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이번 주 Isaac Sim 목표 — "RViz 재생을 물리로"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① 설치 + tx2_90.urdf 임포트  ② 테이블·주사위·카메라 2대 장면 구성 (−10cm 반영)  ③ v6 joint 궤적 물리 재생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성공 기준: 그리퍼가 주사위를 실제로 집고 옮기는가 (RViz는 물리 없음 — 여기가 처음)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판단 포인트: 에뮬레이터+견적 결과가 나오면 실행 방식 상한선(재계획형 vs 반응형) 자동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RISK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고려사항 — 앞으로 밟을 수 있는 지뢰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491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200"/>
                <a:gridCol w="5136000"/>
                <a:gridCol w="4108800"/>
              </a:tblGrid>
              <a:tr h="70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시각 도메인 갭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정책이 본 영상은 OMX 장면 — TX90 카메라를 달아도 인식 불가 (팔·배경·그리퍼 다름)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실기 closed-loop 전에 TX90 데이터 수집 or Isaac Sim 렌더 합성 + 전이학습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v6 브랜치 일관성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에피소드마다 IK 브랜치가 다르면 학습 데이터가 다봉(multimodal) → 평균내다 엉터리 관절값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공통 HOME 시드 + 오프셋 위치 변환 + 검증 3종(점프/분포/FK)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CS9 스트리밍 미지수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velocity 확장이 비싸거나 불가할 수 있음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플랜B 확정: 실기=재계획형(짧은 청크+확인 관측), 반응형=sim 정량 검증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반응형 지연 보상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비동기 추론 시 새 청크는 반 박자 늦은 관측 기준 — 경계 블렌딩 필요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Isaac Sim에서 지연 주입 실험으로 선행 해결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실기 안전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 정책은 분포 밖 상황에서 보장 없음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속도 제한 + |Δjoint| 안전 필터 + 작업 영역 소프트 리밋 + CS9 자체 한계 이중화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오프셋 정합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−10cm는 데이터·실행·실물 배치가 전부 함께 움직여야 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실물 테이프도 10cm 이동, v6에는 오프셋을 데이터에 구움(일관성)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REF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참고 링크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36000"/>
            <a:ext cx="1152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TX90 외부 제어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2"/>
              </a:rPr>
              <a:t>–  staubli_val3_driver — CS8/CS9 공식 ROS 드라이버 (무료, FollowJointTrajectory)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3"/>
              </a:rPr>
              <a:t>–  Staubli_ROS2 — ROS2 포팅 + adaptive motion middleware 포함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4"/>
              </a:rPr>
              <a:t>–  adaptive_motion_control — velocity/pose tracking 미들웨어 (FAU-FAPS)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5"/>
              </a:rPr>
              <a:t>–  issue #32 — TX2-90 실시간 서보 가능성 논의 (개발자 답변)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6"/>
              </a:rPr>
              <a:t>–  issue #20 — 온라인 관절 제어 시도 (기본 드라이버 스트리밍의 한계)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7"/>
              </a:rPr>
              <a:t>–  Stäubli CS9 컨트롤러 공식 페이지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8"/>
              </a:rPr>
              <a:t>–  Stäubli uniVAL Drive — 필드버스 저수준 제어 (경로 ③)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5181D"/>
                </a:solidFill>
                <a:latin typeface="맑은 고딕"/>
              </a:rPr>
              <a:t>▪  학습 프레임워크·시뮬레이션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9"/>
              </a:rPr>
              <a:t>–  LeRobot (ACT·SmolVLA 학습/비동기 추론 스택)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10"/>
              </a:rPr>
              <a:t>–  NVIDIA Isaac Sim (물리 검증 + 데이터 합성)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11"/>
              </a:rPr>
              <a:t>–  ROS-Industrial staubli_experimental (현재 사용 중인 TX2-90 description/moveit config 출처)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