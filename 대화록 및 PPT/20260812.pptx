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6" r:id="rId27"/>
    <p:sldId id="277" r:id="rId28"/>
    <p:sldId id="278" r:id="rId29"/>
    <p:sldId id="279" r:id="rId30"/>
    <p:sldId id="272" r:id="rId23"/>
    <p:sldId id="280" r:id="rId31"/>
    <p:sldId id="273" r:id="rId24"/>
    <p:sldId id="274" r:id="rId25"/>
    <p:sldId id="275" r:id="rId2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6000" y="1944000"/>
            <a:ext cx="1008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OMX → TX2-90 EE Pose 전이 파이프라인</a:t>
            </a:r>
          </a:p>
          <a:p>
            <a:pPr>
              <a:spcBef>
                <a:spcPts val="1400"/>
              </a:spcBef>
            </a:pPr>
            <a:r>
              <a:rPr sz="2200" b="0">
                <a:solidFill>
                  <a:srgbClr val="B9C2F0"/>
                </a:solidFill>
                <a:latin typeface="맑은 고딕"/>
              </a:rPr>
              <a:t>작업 정리 · 트러블슈팅 · 진행 상황</a:t>
            </a:r>
          </a:p>
          <a:p>
            <a:pPr>
              <a:spcBef>
                <a:spcPts val="4000"/>
              </a:spcBef>
            </a:pPr>
            <a:r>
              <a:rPr sz="1600" b="0">
                <a:solidFill>
                  <a:srgbClr val="B9C2F0"/>
                </a:solidFill>
                <a:latin typeface="맑은 고딕"/>
              </a:rPr>
              <a:t>2026. 08. 12  ·  한국생산기술연구원 현장실습  ·  이채원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8A94C8"/>
                </a:solidFill>
                <a:latin typeface="맑은 고딕"/>
              </a:rPr>
              <a:t>Umeyama similarity transform + MoveIt2 Cartesian + ACT 전이학습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배경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이 작업을 왜 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900000"/>
            <a:ext cx="115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목표: OpenManipulator-X(OMX)로 수집한 pick &amp; place 시연 163개를 Staubli TX2-90 이 따라 하도록 전이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OMX(소형, 리치 0.31 m) 데이터 → TX2-90(산업용, 리치 1 m) 좌표계로 변환 후 전이학습(ACT)에 사용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8/7~8/8 에 막혀 있던 문제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RViz Cartesian 재현 fraction 이 76.3% 에서 정체 — 경로의 24% 계획 실패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움직이긴 하는데 pick &amp; place 처럼 안 보임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RViz 시작 시 모든 joint 가 0 → 지금 뭘 하는지 판단 불가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기존 코드의 원인 진단 (실행가이드 PDF)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position: 근거 불명확한 손튜닝 affine (SCALE_X=1.0292 등)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orientation: OMX 값을 좌표계 보정 없이 날것으로 사용 → 둘이 따로 놀아 재현 실패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4932000"/>
            <a:ext cx="11520000" cy="1296000"/>
          </a:xfrm>
          <a:prstGeom prst="roundRect">
            <a:avLst/>
          </a:prstGeom>
          <a:solidFill>
            <a:srgbClr val="EDEFF3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tIns="108000" wrap="square"/>
          <a:lstStyle/>
          <a:p>
            <a:pPr algn="ctr"/>
            <a:r>
              <a:rPr sz="1400" b="1">
                <a:solidFill>
                  <a:srgbClr val="2F3D9E"/>
                </a:solidFill>
                <a:latin typeface="맑은 고딕"/>
              </a:rPr>
              <a:t>핵심 아이디어</a:t>
            </a:r>
          </a:p>
          <a:p>
            <a:r>
              <a:rPr sz="1300" b="0">
                <a:solidFill>
                  <a:srgbClr val="15181D"/>
                </a:solidFill>
                <a:latin typeface="맑은 고딕"/>
              </a:rPr>
              <a:t>position 과 orientation 을 하나의 동일한 similarity transform T(s·R·t) 로 일관되게 변환한다. T 는 TX90 실물에서 측정한 4개 코너로 딱 한 번 계산하고 163개 에피소드 전체에 재사용한다. 스케일 s 는 position 에만 적용하고 orientation 에는 곱하지 않는다.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결과 미리보기: 오늘 fraction 76.3% → 96.3%, all-zero 문제 해결, 학습 데이터셋 완성, 학습 파이프라인 검증 완료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구조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전체 파이프라인 — 4개 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972000"/>
            <a:ext cx="9360000" cy="111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tIns="90000" wrap="square"/>
          <a:lstStyle/>
          <a:p>
            <a:pPr algn="ctr"/>
            <a:r>
              <a:rPr sz="1500" b="1">
                <a:solidFill>
                  <a:srgbClr val="2F3D9E"/>
                </a:solidFill>
                <a:latin typeface="맑은 고딕"/>
              </a:rPr>
              <a:t>층 1  캘리브레이션 (딱 한 번)</a:t>
            </a:r>
          </a:p>
          <a:p>
            <a:r>
              <a:rPr sz="1250" b="0">
                <a:solidFill>
                  <a:srgbClr val="15181D"/>
                </a:solidFill>
                <a:latin typeface="맑은 고딕"/>
              </a:rPr>
              <a:t>OMX 4코너(데이터에서 추출) + TX90 4코너(펜던트 실측) → Umeyama → T(s, R, t) 저장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8000" y="1242000"/>
            <a:ext cx="2052000" cy="5760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000" lIns="36000" rIns="36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완료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000" y="2250000"/>
            <a:ext cx="9360000" cy="111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tIns="90000" wrap="square"/>
          <a:lstStyle/>
          <a:p>
            <a:pPr algn="ctr"/>
            <a:r>
              <a:rPr sz="1500" b="1">
                <a:solidFill>
                  <a:srgbClr val="2F3D9E"/>
                </a:solidFill>
                <a:latin typeface="맑은 고딕"/>
              </a:rPr>
              <a:t>층 2  검증 (대표 에피소드)</a:t>
            </a:r>
          </a:p>
          <a:p>
            <a:r>
              <a:rPr sz="1250" b="0">
                <a:solidFill>
                  <a:srgbClr val="15181D"/>
                </a:solidFill>
                <a:latin typeface="맑은 고딕"/>
              </a:rPr>
              <a:t>OMX EE → T 적용 → TX90 EE → MoveIt2 Cartesian → RViz 로 pick &amp; place 재현 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28000" y="2520000"/>
            <a:ext cx="2052000" cy="5760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000" lIns="36000" rIns="36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완료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3528000"/>
            <a:ext cx="9360000" cy="111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tIns="90000" wrap="square"/>
          <a:lstStyle/>
          <a:p>
            <a:pPr algn="ctr"/>
            <a:r>
              <a:rPr sz="1500" b="1">
                <a:solidFill>
                  <a:srgbClr val="2F3D9E"/>
                </a:solidFill>
                <a:latin typeface="맑은 고딕"/>
              </a:rPr>
              <a:t>층 3  배치 변환 (전체 자동)</a:t>
            </a:r>
          </a:p>
          <a:p>
            <a:r>
              <a:rPr sz="1250" b="0">
                <a:solidFill>
                  <a:srgbClr val="15181D"/>
                </a:solidFill>
                <a:latin typeface="맑은 고딕"/>
              </a:rPr>
              <a:t>162개 에피소드 전체를 TX90 EE pose 로 변환해 저장 — IK 는 풀지 않음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8000" y="3798000"/>
            <a:ext cx="2052000" cy="5760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000" lIns="36000" rIns="36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4806000"/>
            <a:ext cx="9360000" cy="111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2000" tIns="90000" wrap="square"/>
          <a:lstStyle/>
          <a:p>
            <a:pPr algn="ctr"/>
            <a:r>
              <a:rPr sz="1500" b="1">
                <a:solidFill>
                  <a:srgbClr val="2F3D9E"/>
                </a:solidFill>
                <a:latin typeface="맑은 고딕"/>
              </a:rPr>
              <a:t>층 4  전이학습</a:t>
            </a:r>
          </a:p>
          <a:p>
            <a:r>
              <a:rPr sz="1250" b="0">
                <a:solidFill>
                  <a:srgbClr val="15181D"/>
                </a:solidFill>
                <a:latin typeface="맑은 고딕"/>
              </a:rPr>
              <a:t>TX90 EE pose 데이터셋으로 ACT 정책 학습 → 실행 시 MoveIt2 가 IK 를 그때그때 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8000" y="5076000"/>
            <a:ext cx="2052000" cy="576000"/>
          </a:xfrm>
          <a:prstGeom prst="roundRect">
            <a:avLst/>
          </a:prstGeom>
          <a:solidFill>
            <a:srgbClr val="C8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000" lIns="36000" rIns="36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스모크 테스트 통과, 본 학습은 내일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중요: RViz Cartesian 은 '변환이 맞는지 눈으로 보는 검증'이지 학습 데이터 생성이 아니다 — IK 를 미리 풀면 branch 문제가 163배가 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진행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STEP 1 ~ 7 진행 현황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00000"/>
          <a:ext cx="11519998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875"/>
                <a:gridCol w="2858978"/>
                <a:gridCol w="924963"/>
                <a:gridCol w="6895182"/>
              </a:tblGrid>
              <a:tr h="259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STEP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핵심 결과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EE 데이터 구조 확인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163 에피소드 · 7차원 [x,y,z,rx,ry,rz,grip] · FK 교차검증 오차 2×10⁻⁸ m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OMX 작업영역·4코너 추출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241×361 mm (1:1.499) · 기준면 z=28.2 mm · 불량 ep62 발견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TX2-90 펜던트 실측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4코너+HOME 측정 · 변 길이 오차 0.1 mm · z 편차 0.1 mm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Umeyama 변환식 T 계산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s=0.999838 · R≈I · residual 0.02 mm (판정 기준 5 mm)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변환 코드 v2 작성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T 적용 + tool frame 90° 보정 + HOME 반영 + 진단 기능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RViz 검증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fraction 96.3% · all-zero 해결 · pick&amp;place 패턴 그래프로 확인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배치 변환 + 학습 데이터셋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전수·영상 검사로 불량 4건 제외 → 159 에피소드 76,345 프레임 · lerobot 로드 확인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54000" marR="54000" marT="14400" marB="14400">
                    <a:solidFill>
                      <a:srgbClr val="FA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ACT 전이학습</a:t>
                      </a:r>
                    </a:p>
                  </a:txBody>
                  <a:tcPr marL="54000" marR="54000" marT="14400" marB="14400">
                    <a:solidFill>
                      <a:srgbClr val="FA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내일</a:t>
                      </a:r>
                    </a:p>
                  </a:txBody>
                  <a:tcPr marL="54000" marR="54000" marT="14400" marB="14400">
                    <a:solidFill>
                      <a:srgbClr val="FA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스모크 테스트 통과 (loss 60.8→23.9) · 본 학습 약 3시간 예상</a:t>
                      </a:r>
                    </a:p>
                  </a:txBody>
                  <a:tcPr marL="54000" marR="54000" marT="14400" marB="14400">
                    <a:solidFill>
                      <a:srgbClr val="FAF0DC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54000" marR="54000" marT="14400" marB="14400">
                    <a:solidFill>
                      <a:srgbClr val="FA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정책 실행 배선</a:t>
                      </a:r>
                    </a:p>
                  </a:txBody>
                  <a:tcPr marL="54000" marR="54000" marT="14400" marB="14400">
                    <a:solidFill>
                      <a:srgbClr val="FA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예정</a:t>
                      </a:r>
                    </a:p>
                  </a:txBody>
                  <a:tcPr marL="54000" marR="54000" marT="14400" marB="14400">
                    <a:solidFill>
                      <a:srgbClr val="FA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정책 출력(EE pose) → MoveIt2 IK → TX90 — v2 코드 재사용 예정</a:t>
                      </a:r>
                    </a:p>
                  </a:txBody>
                  <a:tcPr marL="54000" marR="54000" marT="14400" marB="14400">
                    <a:solidFill>
                      <a:srgbClr val="FAF0D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STEP 8 부터 내일 진행 — 명령어와 절차는 마지막 장에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구조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데이터 흐름 한눈에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1999" y="1512000"/>
            <a:ext cx="2160000" cy="158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08000"/>
          <a:lstStyle/>
          <a:p>
            <a:pPr algn="ctr"/>
            <a:r>
              <a:rPr sz="1300" b="1">
                <a:solidFill>
                  <a:srgbClr val="2F3D9E"/>
                </a:solidFill>
                <a:latin typeface="맑은 고딕"/>
              </a:rPr>
              <a:t>OMX 원본 데이터셋</a:t>
            </a:r>
          </a:p>
          <a:p>
            <a:pPr algn="ctr">
              <a:spcBef>
                <a:spcPts val="4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</a:rPr>
              <a:t>joint 6차원 + 카메라 2대 영상</a:t>
            </a:r>
          </a:p>
          <a:p>
            <a:pPr algn="ctr">
              <a:spcBef>
                <a:spcPts val="4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</a:rPr>
              <a:t>(LeRobot v2.1, 163 ep, 1.2 GB)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419199" y="2124000"/>
            <a:ext cx="223200" cy="324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49599" y="1512000"/>
            <a:ext cx="2160000" cy="158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08000"/>
          <a:lstStyle/>
          <a:p>
            <a:pPr algn="ctr"/>
            <a:r>
              <a:rPr sz="1300" b="1">
                <a:solidFill>
                  <a:srgbClr val="2F3D9E"/>
                </a:solidFill>
                <a:latin typeface="맑은 고딕"/>
              </a:rPr>
              <a:t>FK (omx_f.urdf)</a:t>
            </a:r>
          </a:p>
          <a:p>
            <a:pPr algn="ctr">
              <a:spcBef>
                <a:spcPts val="4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</a:rPr>
              <a:t>joint → EE pose 7차원</a:t>
            </a:r>
          </a:p>
          <a:p>
            <a:pPr algn="ctr">
              <a:spcBef>
                <a:spcPts val="4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</a:rPr>
              <a:t>[x,y,z,rx,ry,rz,gripper]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16799" y="2124000"/>
            <a:ext cx="223200" cy="324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47199" y="1512000"/>
            <a:ext cx="2160000" cy="1584000"/>
          </a:xfrm>
          <a:prstGeom prst="roundRect">
            <a:avLst/>
          </a:prstGeom>
          <a:solidFill>
            <a:srgbClr val="2F3D9E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08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Umeyama T(s,R,t)</a:t>
            </a:r>
          </a:p>
          <a:p>
            <a:pPr algn="ctr">
              <a:spcBef>
                <a:spcPts val="400"/>
              </a:spcBef>
            </a:pPr>
            <a:r>
              <a:rPr sz="1050" b="0">
                <a:solidFill>
                  <a:srgbClr val="D5DAF5"/>
                </a:solidFill>
                <a:latin typeface="맑은 고딕"/>
              </a:rPr>
              <a:t>OMX 좌표계 → TX90 base_link</a:t>
            </a:r>
          </a:p>
          <a:p>
            <a:pPr algn="ctr">
              <a:spcBef>
                <a:spcPts val="400"/>
              </a:spcBef>
            </a:pPr>
            <a:r>
              <a:rPr sz="1050" b="0">
                <a:solidFill>
                  <a:srgbClr val="D5DAF5"/>
                </a:solidFill>
                <a:latin typeface="맑은 고딕"/>
              </a:rPr>
              <a:t>+ tool frame Ry(+90°) 보정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214399" y="2124000"/>
            <a:ext cx="223200" cy="324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4799" y="1512000"/>
            <a:ext cx="2160000" cy="158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08000"/>
          <a:lstStyle/>
          <a:p>
            <a:pPr algn="ctr"/>
            <a:r>
              <a:rPr sz="1300" b="1">
                <a:solidFill>
                  <a:srgbClr val="2F3D9E"/>
                </a:solidFill>
                <a:latin typeface="맑은 고딕"/>
              </a:rPr>
              <a:t>TX90 EE 데이터셋</a:t>
            </a:r>
          </a:p>
          <a:p>
            <a:pPr algn="ctr">
              <a:spcBef>
                <a:spcPts val="4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</a:rPr>
              <a:t>162 ep · 77,608 프레임</a:t>
            </a:r>
          </a:p>
          <a:p>
            <a:pPr algn="ctr">
              <a:spcBef>
                <a:spcPts val="4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</a:rPr>
              <a:t>영상은 원본에 심볼릭 링크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611999" y="2124000"/>
            <a:ext cx="223200" cy="324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42399" y="1512000"/>
            <a:ext cx="2160000" cy="158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08000"/>
          <a:lstStyle/>
          <a:p>
            <a:pPr algn="ctr"/>
            <a:r>
              <a:rPr sz="1300" b="1">
                <a:solidFill>
                  <a:srgbClr val="2F3D9E"/>
                </a:solidFill>
                <a:latin typeface="맑은 고딕"/>
              </a:rPr>
              <a:t>ACT 학습 → 실행</a:t>
            </a:r>
          </a:p>
          <a:p>
            <a:pPr algn="ctr">
              <a:spcBef>
                <a:spcPts val="4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</a:rPr>
              <a:t>정책이 EE pose 출력</a:t>
            </a:r>
          </a:p>
          <a:p>
            <a:pPr algn="ctr">
              <a:spcBef>
                <a:spcPts val="4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</a:rPr>
              <a:t>→ MoveIt2 가 IK → TX90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3456000"/>
            <a:ext cx="1152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설계 원칙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T 는 실측 4점으로 한 번만 계산하고 전 에피소드에 재사용 — 에피소드별 튜닝 없음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IK 는 데이터에 저장하지 않는다. joint 해는 실행 시점에 MoveIt2 가 현재 상태 기준으로 푼다</a:t>
            </a:r>
          </a:p>
          <a:p>
            <a:pPr lvl="2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·  미리 풀면 163개 에피소드마다 branch(팔꿈치 위/아래 등 다중해) 문제가 생김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그리퍼 값(7번째 채널)은 좌표가 아니므로 변환 없이 그대로 통과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오늘 사용한 도구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host: Python (numpy/scipy/pandas/matplotlib) — 데이터 처리·검증·그래프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Docker physical_ai_server: ROS2 Jazzy + MoveIt2 + RViz + lerobot 0.2.0 (RTX 5070 Ti)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알고리즘 ①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정기구학 (Forward Kinematics)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5832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무엇: joint 각도 6개 → EE(그리퍼 끝) 위치·자세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URDF 의 관절 체인을 따라 4×4 동차변환 행렬을 곱해 나감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T = Π ( T_origin(고정 오프셋) · T_joint(회전) 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어디에 썼나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OMX: joint parquet → EE pose 재계산, EE 데이터셋과 대조</a:t>
            </a:r>
          </a:p>
          <a:p>
            <a:pPr lvl="2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·  전 프레임 오차 2×10⁻⁸ m — float32 한계 → 데이터 계보 확정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TX90: 펜던트 joint 값 → FK → 펜던트 좌표와 대조</a:t>
            </a:r>
          </a:p>
          <a:p>
            <a:pPr lvl="2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·  → 좌표계 원점 차이 478 mm 발견 (슬라이드 13)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URDF 선택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omx_f.urdf 사용 — xacro 2개는 ROS 패키지 참조라 전개 불가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EE 체인: world→link0→…→link5→end_effector_link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gripper_joint_1 은 형제 브랜치 → EE pose 에 영향 없음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36000" y="864000"/>
            <a:ext cx="5508000" cy="3311999"/>
          </a:xfrm>
          <a:prstGeom prst="roundRect">
            <a:avLst/>
          </a:prstGeom>
          <a:solidFill>
            <a:srgbClr val="15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tIns="144000" wrap="square"/>
          <a:lstStyle/>
          <a:p>
            <a:pPr algn="ctr"/>
            <a:r>
              <a:rPr sz="1250" b="0">
                <a:solidFill>
                  <a:srgbClr val="626B78"/>
                </a:solidFill>
                <a:latin typeface="Consolas"/>
              </a:rPr>
              <a:t># fk_omx.py 핵심 (검증: 영자세)</a:t>
            </a:r>
          </a:p>
          <a:p>
            <a:r>
              <a:rPr sz="1250" b="0">
                <a:solidFill>
                  <a:srgbClr val="FFFFFF"/>
                </a:solidFill>
                <a:latin typeface="Consolas"/>
              </a:rPr>
              <a:t>chain = load_chain(urdf, 'world',</a:t>
            </a:r>
          </a:p>
          <a:p>
            <a:r>
              <a:rPr sz="1250" b="0">
                <a:solidFill>
                  <a:srgbClr val="FFFFFF"/>
                </a:solidFill>
                <a:latin typeface="Consolas"/>
              </a:rPr>
              <a:t>                   'end_effector_link')</a:t>
            </a:r>
          </a:p>
          <a:p>
            <a:r>
              <a:rPr sz="1250" b="0">
                <a:solidFill>
                  <a:srgbClr val="FFFFFF"/>
                </a:solidFill>
                <a:latin typeface="Consolas"/>
              </a:rPr>
              <a:t>T = fk(chain, [0,0,0,0,0])</a:t>
            </a:r>
          </a:p>
          <a:p>
            <a:r>
              <a:rPr sz="1250" b="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250" b="0">
                <a:solidFill>
                  <a:srgbClr val="7FE0A8"/>
                </a:solidFill>
                <a:latin typeface="Consolas"/>
              </a:rPr>
              <a:t>FK      = [0.31288, -0.0016, 0.21065]</a:t>
            </a:r>
          </a:p>
          <a:p>
            <a:r>
              <a:rPr sz="1250" b="0">
                <a:solidFill>
                  <a:srgbClr val="7FE0A8"/>
                </a:solidFill>
                <a:latin typeface="Consolas"/>
              </a:rPr>
              <a:t>URDF 합 = [0.31288, -0.0016, 0.21065]</a:t>
            </a:r>
          </a:p>
          <a:p>
            <a:r>
              <a:rPr sz="1250" b="0">
                <a:solidFill>
                  <a:srgbClr val="626B78"/>
                </a:solidFill>
                <a:latin typeface="Consolas"/>
              </a:rPr>
              <a:t># 소수점 5자리까지 일치</a:t>
            </a:r>
          </a:p>
          <a:p>
            <a:r>
              <a:rPr sz="1250" b="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250" b="0">
                <a:solidFill>
                  <a:srgbClr val="626B78"/>
                </a:solidFill>
                <a:latin typeface="Consolas"/>
              </a:rPr>
              <a:t># EE 데이터셋 전 프레임 대조</a:t>
            </a:r>
          </a:p>
          <a:p>
            <a:r>
              <a:rPr sz="1250" b="0">
                <a:solidFill>
                  <a:srgbClr val="7FE0A8"/>
                </a:solidFill>
                <a:latin typeface="Consolas"/>
              </a:rPr>
              <a:t>pos 오차 2.0e-08 m  rpy 1.1e-06 rad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000" y="4356000"/>
            <a:ext cx="5508000" cy="16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2F3D9E"/>
                </a:solidFill>
                <a:latin typeface="맑은 고딕"/>
              </a:rPr>
              <a:t>▪  왜 중요한가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–  EE 데이터셋이 어떤 URDF·어떤 규약(extrinsic xyz 오일러)으로 만들어졌는지 역으로 확정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–  이 규약 확인이 없으면 이후 모든 회전 변환이 틀어짐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알고리즘 ②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Umeyama Similarity 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5832000" cy="51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무엇: 대응점들로 두 좌표계 사이 s(스케일)·R(회전)·t(평행이동) 을 최소제곱 추정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Consolas"/>
              </a:rPr>
              <a:t>–  pos_tx90 = s · (R @ pos_omx) + t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Kabsch(s=1 고정)와 달리 스케일까지 추정 — 두 로봇 작업영역 크기가 다를 가능성에 대비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구현 (compute_transform.py)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교차공분산 C = X_dst^T X_src / n 을 SVD → R = U·S·V^T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A9331D"/>
                </a:solidFill>
                <a:latin typeface="맑은 고딕"/>
              </a:rPr>
              <a:t>–  반사(reflection) 방지: det&lt;0 이면 S 의 마지막 원소를 -1 로</a:t>
            </a:r>
          </a:p>
          <a:p>
            <a:pPr lvl="2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·  이게 없으면 거울상 R 이 나와도 residual 0 — 로봇이 좌우 반대로 움직임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s 는 position 에만 적용, orientation 은 R 만 (회전에 크기 개념 없음)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합성 데이터 검증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노이즈 0: s·R·t 복원 오차 10⁻¹⁶ / 노이즈 1mm: residual 0.87mm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몬테카를로 400회: 4점(동일평면)으로도 궤적 최대오차 1.7 mm → 5번째 점 불필요 판정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36000" y="864000"/>
            <a:ext cx="5508000" cy="2951999"/>
          </a:xfrm>
          <a:prstGeom prst="roundRect">
            <a:avLst/>
          </a:prstGeom>
          <a:solidFill>
            <a:srgbClr val="EDEFF3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tIns="125999" wrap="square"/>
          <a:lstStyle/>
          <a:p>
            <a:pPr algn="ctr"/>
            <a:r>
              <a:rPr sz="1400" b="1">
                <a:solidFill>
                  <a:srgbClr val="2F3D9E"/>
                </a:solidFill>
                <a:latin typeface="맑은 고딕"/>
              </a:rPr>
              <a:t>실측 결과 (STEP 4)</a:t>
            </a:r>
          </a:p>
          <a:p>
            <a:r>
              <a:rPr sz="1300" b="0">
                <a:solidFill>
                  <a:srgbClr val="15181D"/>
                </a:solidFill>
                <a:latin typeface="Consolas"/>
              </a:rPr>
              <a:t>s = 0.999838          (예상대로 ≈1)</a:t>
            </a:r>
          </a:p>
          <a:p>
            <a:r>
              <a:rPr sz="1300" b="0">
                <a:solidFill>
                  <a:srgbClr val="15181D"/>
                </a:solidFill>
                <a:latin typeface="Consolas"/>
              </a:rPr>
              <a:t>R ≈ 단위행렬 (Z축 회전 0.01°)</a:t>
            </a:r>
          </a:p>
          <a:p>
            <a:r>
              <a:rPr sz="1300" b="0">
                <a:solidFill>
                  <a:srgbClr val="15181D"/>
                </a:solidFill>
                <a:latin typeface="Consolas"/>
              </a:rPr>
              <a:t>t = [+0.4999, -0.0142, +0.3059] m</a:t>
            </a:r>
          </a:p>
          <a:p>
            <a:r>
              <a:rPr sz="1300" b="1">
                <a:solidFill>
                  <a:srgbClr val="1F6B4A"/>
                </a:solidFill>
                <a:latin typeface="Consolas"/>
              </a:rPr>
              <a:t>residual mean 0.02 mm / max 0.03 mm</a:t>
            </a:r>
          </a:p>
          <a:p>
            <a:r>
              <a:rPr sz="800" b="0">
                <a:solidFill>
                  <a:srgbClr val="15181D"/>
                </a:solidFill>
                <a:latin typeface="맑은 고딕"/>
              </a:rPr>
              <a:t/>
            </a:r>
          </a:p>
          <a:p>
            <a:r>
              <a:rPr sz="1300" b="1">
                <a:solidFill>
                  <a:srgbClr val="2F3D9E"/>
                </a:solidFill>
                <a:latin typeface="맑은 고딕"/>
              </a:rPr>
              <a:t>→ 사실상 순수 평행이동</a:t>
            </a:r>
          </a:p>
          <a:p>
            <a:r>
              <a:rPr sz="1150" b="0">
                <a:solidFill>
                  <a:srgbClr val="626B78"/>
                </a:solidFill>
                <a:latin typeface="맑은 고딕"/>
              </a:rPr>
              <a:t>두 사각형을 같은 크기로 잡았고 축도 나란히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000" y="3960000"/>
            <a:ext cx="5508000" cy="20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A9331D"/>
                </a:solidFill>
                <a:latin typeface="맑은 고딕"/>
              </a:rPr>
              <a:t>▪  residual 의 올바른 해석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4점이 동일 평면 + 좌표 조그로 정확히 만든 사각형 → residual 은 '기하가 안 어긋났다'는 뜻이지 전이 정확도가 아님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단위 착오(mm↔m)·코너 순서 오류 검출용 sanity check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전이가 맞는지의 실제 검증은 STEP 6 RViz + 그래프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알고리즘 ③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Tool Frame 90° 보정 — 그리퍼가 옆을 보던 진짜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5832000" cy="48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두 로봇의 EE 접근축 규약이 다르다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OMX end_effector_link: 접근축 = 로컬 +X</a:t>
            </a:r>
          </a:p>
          <a:p>
            <a:pPr lvl="2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·  URDF: link5 에서 x 로 0.09193 m 나간 지점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TX90 tool0: 접근축 = 로컬 +Z</a:t>
            </a:r>
          </a:p>
          <a:p>
            <a:pPr lvl="2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·  flange 의 Ry(-90°) 와 tool0 의 Ry(+90°) 가 상쇄 → tool0 = link_6 프레임, 접근축은 joint_6 축(+Z)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보정 없이 쿼터니언을 그대로 넣으면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A9331D"/>
                </a:solidFill>
                <a:latin typeface="맑은 고딕"/>
              </a:rPr>
              <a:t>–  Umeyama R 이 완벽해도 그리퍼가 90° 돌아가 옆을 봄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기존 코드(v1)가 정확히 이 상태 — '그리퍼가 옆을 봄' 증상의 원인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수정 (v2)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Consolas"/>
              </a:rPr>
              <a:t>–  R_ee = R_umeyama @ R_omx @ Ry(+90°)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s 는 회전에 곱하지 않음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36000" y="864000"/>
            <a:ext cx="5508000" cy="3096000"/>
          </a:xfrm>
          <a:prstGeom prst="roundRect">
            <a:avLst/>
          </a:prstGeom>
          <a:solidFill>
            <a:srgbClr val="15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tIns="144000" wrap="square"/>
          <a:lstStyle/>
          <a:p>
            <a:pPr algn="ctr"/>
            <a:r>
              <a:rPr sz="1200" b="0">
                <a:solidFill>
                  <a:srgbClr val="626B78"/>
                </a:solidFill>
                <a:latin typeface="Consolas"/>
              </a:rPr>
              <a:t># ep0 첫 프레임으로 수치 확인</a:t>
            </a:r>
          </a:p>
          <a:p>
            <a:r>
              <a:rPr sz="1200" b="0">
                <a:solidFill>
                  <a:srgbClr val="FFFFFF"/>
                </a:solidFill>
                <a:latin typeface="Consolas"/>
              </a:rPr>
              <a:t>OMX 접근축(+X)을 월드로:</a:t>
            </a:r>
          </a:p>
          <a:p>
            <a:r>
              <a:rPr sz="1200" b="0">
                <a:solidFill>
                  <a:srgbClr val="7FE0A8"/>
                </a:solidFill>
                <a:latin typeface="Consolas"/>
              </a:rPr>
              <a:t>  [ 0.083, -0.002, -0.997]  # 수직 아래</a:t>
            </a:r>
          </a:p>
          <a:p>
            <a:r>
              <a:rPr sz="1200" b="0">
                <a:solidFill>
                  <a:srgbClr val="FFFFFF"/>
                </a:solidFill>
                <a:latin typeface="Consolas"/>
              </a:rPr>
              <a:t>같은 값을 tool0 에 그대로:</a:t>
            </a:r>
          </a:p>
          <a:p>
            <a:r>
              <a:rPr sz="1200" b="0">
                <a:solidFill>
                  <a:srgbClr val="F09A8A"/>
                </a:solidFill>
                <a:latin typeface="Consolas"/>
              </a:rPr>
              <a:t>  [ 0.987,  0.138,  0.082]  # 수평 옆!</a:t>
            </a:r>
          </a:p>
          <a:p>
            <a:r>
              <a:rPr sz="1200" b="0">
                <a:solidFill>
                  <a:srgbClr val="FFFFFF"/>
                </a:solidFill>
                <a:latin typeface="Consolas"/>
              </a:rPr>
              <a:t>Ry(+90°) 보정 후:</a:t>
            </a:r>
          </a:p>
          <a:p>
            <a:r>
              <a:rPr sz="1200" b="0">
                <a:solidFill>
                  <a:srgbClr val="7FE0A8"/>
                </a:solidFill>
                <a:latin typeface="Consolas"/>
              </a:rPr>
              <a:t>  [ 0.083, -0.002, -0.997]  # 일치</a:t>
            </a:r>
          </a:p>
          <a:p>
            <a:r>
              <a:rPr sz="1200" b="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200" b="0">
                <a:solidFill>
                  <a:srgbClr val="626B78"/>
                </a:solidFill>
                <a:latin typeface="Consolas"/>
              </a:rPr>
              <a:t># dry run 전체 프레임 통계</a:t>
            </a:r>
          </a:p>
          <a:p>
            <a:r>
              <a:rPr sz="1200" b="0">
                <a:solidFill>
                  <a:srgbClr val="7FE0A8"/>
                </a:solidFill>
                <a:latin typeface="Consolas"/>
              </a:rPr>
              <a:t>보정 O: 아래를 보는 비율 97.9%</a:t>
            </a:r>
          </a:p>
          <a:p>
            <a:r>
              <a:rPr sz="1200" b="0">
                <a:solidFill>
                  <a:srgbClr val="F09A8A"/>
                </a:solidFill>
                <a:latin typeface="Consolas"/>
              </a:rPr>
              <a:t>보정 X: 아래를 보는 비율  0.0%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000" y="4104000"/>
            <a:ext cx="5508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2F3D9E"/>
                </a:solidFill>
                <a:latin typeface="맑은 고딕"/>
              </a:rPr>
              <a:t>▪  교훈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–  PDF 원안의 R_ee = R @ R_omx 에는 이 보정이 없었음 — 실행 전에 URDF 를 읽고 잡아낸 문제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–  v2 에 --no_tool_fix 옵션을 둬서 언제든 전후 비교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알고리즘 ④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그리퍼 개폐 검출 — 데이터가 말하게 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5832000" cy="48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그리퍼 값(7번째 채널)의 분포가 깨끗한 이봉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닫힘 ≈ 0.23  /  열림 ≈ 0.69 → 임계값 0.459 (10/90 퍼센타일 중간)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개폐 전이 = 이벤트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열림→닫힘 전이 = grasp(집기), 닫힘→열림 = release(놓기)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163개 중 162개에서 grasp/release 검출 성공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이 이벤트로 해결한 것들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실제 작업영역: grasp/release 지점만으로 사각형 → 241×361 mm</a:t>
            </a:r>
          </a:p>
          <a:p>
            <a:pPr lvl="2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·  전 프레임 percentile 방식은 HOME 뭉치 때문에 277 mm 로 왜곡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pick &amp; place 패턴 정량 검증 (슬라이드 16)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A9331D"/>
                </a:solidFill>
                <a:latin typeface="맑은 고딕"/>
              </a:rPr>
              <a:t>–  불량 에피소드 검출: ep62 는 401 프레임 내내 그리퍼가 안 닫힘</a:t>
            </a:r>
          </a:p>
          <a:p>
            <a:pPr lvl="2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·  물건을 안 집은 실패 시연 → 학습 데이터에서 제외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36000" y="936000"/>
          <a:ext cx="5508000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100"/>
                <a:gridCol w="757350"/>
                <a:gridCol w="2960550"/>
              </a:tblGrid>
              <a:tr h="486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기준면(테이블) 후보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z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문제점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전 프레임 1% percentile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21.9 mm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HOME 대기 자세가 하위 구간 독점 — 테이블 아님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grasp/release 순간 평균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57.4 mm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물체를 '집은' 높이 — 궤적 17.7%가 기준면 아래로 최대 29mm 침투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6B4A"/>
                          </a:solidFill>
                          <a:latin typeface="맑은 고딕"/>
                        </a:rPr>
                        <a:t>사각형 안 최저 도달 z (채택)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6B4A"/>
                          </a:solidFill>
                          <a:latin typeface="맑은 고딕"/>
                        </a:rPr>
                        <a:t>28.2 mm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6B4A"/>
                          </a:solidFill>
                          <a:latin typeface="맑은 고딕"/>
                        </a:rPr>
                        <a:t>기준면 아래 프레임 0개 — 테이블 표면에 가장 가까움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36000" y="3240000"/>
            <a:ext cx="5508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▪  기준면을 3번 고쳐 잡은 과정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percentile → grasp 평균 → 최저 도달 z 순으로 개선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각 단계마다 '이 값이면 실제 로봇이 어디를 짚는가'를 수치로 확인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A9331D"/>
                </a:solidFill>
                <a:latin typeface="맑은 고딕"/>
              </a:rPr>
              <a:t>–  잘못된 기준면은 4코너가 같은 평면이라 t 에 흡수 — residual 로는 절대 안 잡히는 계통 오차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STEP 1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EE 데이터 구조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5903999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163개 parquet 전수 스캔 (inspect_ee_dataset.py)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컬럼 구성 고유 1가지 — 전 파일 동일 · NaN/Inf 없음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observation.state / action = 7개 배열 (동일 구조)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총 78,009 프레임 (에피소드당 282~601)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인덱스 순서 — FK 교차검증으로 확정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Consolas"/>
              </a:rPr>
              <a:t>–  [x, y, z, rx, ry, rz, gripper] · 단위 m / rad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오일러 = extrinsic xyz (scipy 'xyz') — 기존 코드와 동일 규약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A9331D"/>
                </a:solidFill>
                <a:latin typeface="맑은 고딕"/>
              </a:rPr>
              <a:t>▪  발견 ① 에피소드는 162개가 아니라 163개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episode_index 0~162 결번 없음 — PDF의 'for ep in 0..161' 그대로 쓰면 1개 누락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A9331D"/>
                </a:solidFill>
                <a:latin typeface="맑은 고딕"/>
              </a:rPr>
              <a:t>▪  발견 ② meta/info.json 이 낡음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아직 shape=[6], joint 이름 — parquet 실값과 불일치 → info.json 을 믿지 말고 실값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3999" y="864000"/>
            <a:ext cx="5400000" cy="3240000"/>
          </a:xfrm>
          <a:prstGeom prst="roundRect">
            <a:avLst/>
          </a:prstGeom>
          <a:solidFill>
            <a:srgbClr val="15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tIns="144000" wrap="square"/>
          <a:lstStyle/>
          <a:p>
            <a:pPr algn="ctr"/>
            <a:r>
              <a:rPr sz="1250" b="0">
                <a:solidFill>
                  <a:srgbClr val="626B78"/>
                </a:solidFill>
                <a:latin typeface="Consolas"/>
              </a:rPr>
              <a:t># 데이터 계보 확인</a:t>
            </a:r>
          </a:p>
          <a:p>
            <a:r>
              <a:rPr sz="1250" b="0">
                <a:solidFill>
                  <a:srgbClr val="FFFFFF"/>
                </a:solidFill>
                <a:latin typeface="Consolas"/>
              </a:rPr>
              <a:t>원본 joint parquet (tx90 폴더)</a:t>
            </a:r>
          </a:p>
          <a:p>
            <a:r>
              <a:rPr sz="1250" b="0">
                <a:solidFill>
                  <a:srgbClr val="FFFFFF"/>
                </a:solidFill>
                <a:latin typeface="Consolas"/>
              </a:rPr>
              <a:t>  └ FK(omx_f.urdf) 재계산</a:t>
            </a:r>
          </a:p>
          <a:p>
            <a:r>
              <a:rPr sz="1250" b="0">
                <a:solidFill>
                  <a:srgbClr val="FFFFFF"/>
                </a:solidFill>
                <a:latin typeface="Consolas"/>
              </a:rPr>
              <a:t>     └ EE 데이터셋과 대조:</a:t>
            </a:r>
          </a:p>
          <a:p>
            <a:r>
              <a:rPr sz="1250" b="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250" b="0">
                <a:solidFill>
                  <a:srgbClr val="7FE0A8"/>
                </a:solidFill>
                <a:latin typeface="Consolas"/>
              </a:rPr>
              <a:t>pos  오차 max 2.0e-08 m</a:t>
            </a:r>
          </a:p>
          <a:p>
            <a:r>
              <a:rPr sz="1250" b="0">
                <a:solidFill>
                  <a:srgbClr val="7FE0A8"/>
                </a:solidFill>
                <a:latin typeface="Consolas"/>
              </a:rPr>
              <a:t>rpy  오차 max 1.1e-06 rad</a:t>
            </a:r>
          </a:p>
          <a:p>
            <a:r>
              <a:rPr sz="1250" b="0">
                <a:solidFill>
                  <a:srgbClr val="7FE0A8"/>
                </a:solidFill>
                <a:latin typeface="Consolas"/>
              </a:rPr>
              <a:t>grip 오차 0</a:t>
            </a:r>
          </a:p>
          <a:p>
            <a:r>
              <a:rPr sz="1250" b="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250" b="0">
                <a:solidFill>
                  <a:srgbClr val="626B78"/>
                </a:solidFill>
                <a:latin typeface="Consolas"/>
              </a:rPr>
              <a:t># float32 저장 한계 = 완전 일치</a:t>
            </a:r>
          </a:p>
          <a:p>
            <a:r>
              <a:rPr sz="1250" b="0">
                <a:solidFill>
                  <a:srgbClr val="626B78"/>
                </a:solidFill>
                <a:latin typeface="Consolas"/>
              </a:rPr>
              <a:t># → _162_ee 는 omx_f.urdf FK 산물로 확정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생성: inspect_ee_dataset.py, fk_omx.py — 이후 모든 단계의 규약(컬럼·오일러)이 여기서 확정됨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STEP 2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OMX 작업영역 · 4코너 추출</a:t>
            </a:r>
          </a:p>
        </p:txBody>
      </p:sp>
      <p:pic>
        <p:nvPicPr>
          <p:cNvPr id="3" name="Picture 2" descr="omx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900000"/>
            <a:ext cx="11736000" cy="27942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4176000"/>
            <a:ext cx="1152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왼쪽부터: XY 평면(사각형·grasp/release 점) · XZ 측면 · z 분포(기준면 확인) · 그리퍼 분포(개폐 판정)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결과: 사각형 241×361 mm (1:1.499) — grasp(빨강)는 y&lt;0, release(파랑)는 y&gt;0 로 명확히 두 구역</a:t>
            </a:r>
          </a:p>
          <a:p>
            <a:pPr lvl="1">
              <a:spcAft>
                <a:spcPts val="500"/>
              </a:spcAft>
            </a:pPr>
            <a:r>
              <a:rPr sz="1250" b="0">
                <a:solidFill>
                  <a:srgbClr val="A9331D"/>
                </a:solidFill>
                <a:latin typeface="맑은 고딕"/>
              </a:rPr>
              <a:t>–  PDF 원안(전 프레임 1~99% percentile)은 241×277 (1:1.152) — HOME 뭉치가 왜곡, 세로 84mm 손실</a:t>
            </a:r>
          </a:p>
          <a:p>
            <a:pPr lvl="1">
              <a:spcAft>
                <a:spcPts val="5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종횡비가 다르면 TX90 사각형과 닮은꼴이 깨져 residual 40mm대로 상승 — 실측 전에 잡아서 재측정 회피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Consolas"/>
              </a:rPr>
              <a:t>▪  OMX 4코너 확정: P1[0.1119,-0.1596] P2[0.3527,-0.1596] P3[0.3527,0.2014] P4[0.1119,0.2014], z=0.0282 (m)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생성: extract_omx_workspace.py → ~/omx_workspace/omx_workspace.png, omx_corners.txt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STEP 3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TX2-90 펜던트 실측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5832000" cy="49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사전 결정 사항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TX90 에 그리퍼 없음 → flange(tool 없음) 기준 측정, link_name='tool0' 유지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5번째 상단 점: 몬테카를로 결과 이득 미미(1.7→1.4mm) → 4점으로 확정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측정 방법 — 테이프에 눈으로 맞추지 않기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P1 만 물리적으로 정하고, P2~P4 는 펜던트 좌표를 보며 World 축으로 정확히 241.0 / 361.0 mm 조그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눈대중 정렬 오차 원천 제거 · z 는 자동으로 동일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측정 품질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F6B4A"/>
                </a:solidFill>
                <a:latin typeface="맑은 고딕"/>
              </a:rPr>
              <a:t>–  변 길이: 목표 [240.8, 361.0] → 실측 [240.7, 360.9] — 오차 0.1 mm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F6B4A"/>
                </a:solidFill>
                <a:latin typeface="맑은 고딕"/>
              </a:rPr>
              <a:t>–  4코너 z 편차 0.1 mm — 테이블 수평 양호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HOME 자세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사각형 중앙, 테이블 높이 · joint [-3.31, 56.92, 73.58, -1.04, 48.85, -47.38]°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tool0 접근축 [0.011, -0.014, -1.000] — 정확히 수직 아래 → 첫 구간 이동 156mm 로 짧음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43999" y="936000"/>
          <a:ext cx="5399999" cy="155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040"/>
                <a:gridCol w="1432653"/>
                <a:gridCol w="1432653"/>
                <a:gridCol w="1432653"/>
              </a:tblGrid>
              <a:tr h="259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점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X (mm)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Y (mm)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Z (mm)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P1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611.84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-173.72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-143.89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P2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852.56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-173.72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-143.89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P3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852.53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187.17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-143.97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P4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611.75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187.17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-143.97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HOME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732.03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6.42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-144.03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43999" y="2880000"/>
            <a:ext cx="54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▪  실측 카드(Artifact) 제공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배치도·체크리스트·기록지를 웹 페이지로 만들어 현장 휴대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▪  함정 예방 항목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World/Frame 모드 (Tool 모드 금지 — 과거 실수 이력)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단위 명시 (mm/도) — 단위 착오는 residual 수십 cm 의 주범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짧은 변 241 이 P1→P2 방향인지 대각선 434mm 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펜던트 측정값은 compute_transform.py 상단에 기록되어 있음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핵심 발견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펜던트 좌표계는 base_link 가 아니었다 (+478 mm)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5832000" cy="49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검증 방법: 측정한 5개 자세의 joint 값을 URDF 규약대로 FK → 펜던트 좌표와 대조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결과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X, Y: 5개 전부 0.1 mm 이내 일치</a:t>
            </a:r>
          </a:p>
          <a:p>
            <a:pPr lvl="1">
              <a:spcAft>
                <a:spcPts val="500"/>
              </a:spcAft>
            </a:pPr>
            <a:r>
              <a:rPr sz="1300" b="1">
                <a:solidFill>
                  <a:srgbClr val="A9331D"/>
                </a:solidFill>
                <a:latin typeface="맑은 고딕"/>
              </a:rPr>
              <a:t>–  Z: 5개 전부 정확히 478.0 mm 차이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원인 — URDF 에 답이 있었다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Consolas"/>
              </a:rPr>
              <a:t>–  &lt;joint name="base_link-base"&gt; origin xyz="0 0 0.478"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펜던트 World 원점 = ROS-Industrial 'base' 링크(어깨 높이)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MoveIt 요청 프레임 = base_link(바닥) → 478 mm 차이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조치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compute_transform.py 에 PENDANT_Z_OFFSET = 0.478 적용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F6B4A"/>
                </a:solidFill>
                <a:latin typeface="맑은 고딕"/>
              </a:rPr>
              <a:t>▪  부수 소득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X·Y 일치 = 펜던트 joint 규약이 URDF 와 동일 — 부호·영점 보정 불필요, deg→rad 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3999" y="864000"/>
            <a:ext cx="5400000" cy="3096000"/>
          </a:xfrm>
          <a:prstGeom prst="roundRect">
            <a:avLst/>
          </a:prstGeom>
          <a:solidFill>
            <a:srgbClr val="15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tIns="144000" wrap="square"/>
          <a:lstStyle/>
          <a:p>
            <a:pPr algn="ctr"/>
            <a:r>
              <a:rPr sz="1200" b="0">
                <a:solidFill>
                  <a:srgbClr val="626B78"/>
                </a:solidFill>
                <a:latin typeface="Consolas"/>
              </a:rPr>
              <a:t>      FK(base_link)   펜던트      차이</a:t>
            </a:r>
          </a:p>
          <a:p>
            <a:r>
              <a:rPr sz="1200" b="0">
                <a:solidFill>
                  <a:srgbClr val="FFFFFF"/>
                </a:solidFill>
                <a:latin typeface="Consolas"/>
              </a:rPr>
              <a:t>P1    z=+334.2       z=-143.89   478.0</a:t>
            </a:r>
          </a:p>
          <a:p>
            <a:r>
              <a:rPr sz="1200" b="0">
                <a:solidFill>
                  <a:srgbClr val="FFFFFF"/>
                </a:solidFill>
                <a:latin typeface="Consolas"/>
              </a:rPr>
              <a:t>P2    z=+334.1       z=-143.89   478.0</a:t>
            </a:r>
          </a:p>
          <a:p>
            <a:r>
              <a:rPr sz="1200" b="0">
                <a:solidFill>
                  <a:srgbClr val="FFFFFF"/>
                </a:solidFill>
                <a:latin typeface="Consolas"/>
              </a:rPr>
              <a:t>P3    z=+334.0       z=-143.97   478.0</a:t>
            </a:r>
          </a:p>
          <a:p>
            <a:r>
              <a:rPr sz="1200" b="0">
                <a:solidFill>
                  <a:srgbClr val="FFFFFF"/>
                </a:solidFill>
                <a:latin typeface="Consolas"/>
              </a:rPr>
              <a:t>P4    z=+334.0       z=-143.97   478.0</a:t>
            </a:r>
          </a:p>
          <a:p>
            <a:r>
              <a:rPr sz="1200" b="0">
                <a:solidFill>
                  <a:srgbClr val="FFFFFF"/>
                </a:solidFill>
                <a:latin typeface="Consolas"/>
              </a:rPr>
              <a:t>HOME  z=+334.0       z=-144.03   478.0</a:t>
            </a:r>
          </a:p>
          <a:p>
            <a:r>
              <a:rPr sz="1200" b="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200" b="0">
                <a:solidFill>
                  <a:srgbClr val="F09A8A"/>
                </a:solidFill>
                <a:latin typeface="Consolas"/>
              </a:rPr>
              <a:t># 랜덤 오차가 아니라 상수 → 좌표계 원점 차이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3999" y="4104000"/>
            <a:ext cx="5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A9331D"/>
                </a:solidFill>
                <a:latin typeface="맑은 고딕"/>
              </a:rPr>
              <a:t>▪  놓쳤다면?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–  궤적 전체가 478 mm 아래 → 전부 도달 불가 → fraction 폭락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–  joint 값을 같이 기록해온 덕에 실행 전에 검증으로 잡음 — 측정 시 여분 정보를 남기는 것의 가치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STEP 5·6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RViz 검증 트러블슈팅 — 4연쇄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00000"/>
          <a:ext cx="11519998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033"/>
                <a:gridCol w="2516974"/>
                <a:gridCol w="4453109"/>
                <a:gridCol w="4065882"/>
              </a:tblGrid>
              <a:tr h="684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증상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원인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해결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fraction 84.3% 에서 '끊김' 경고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에피소드 끝 정지 구간(같은 좌표 반복) — 경로 길이 0이면 planner 가 진행 못함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정지 중복 waypoint 제거(dedup) → 47→38개, fraction 96.3%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로봇이 '고개 까닥'하고 끝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compute_cartesian_path 는 시간 정보를 안 채움(전부 0초) → 164포인트가 3ms 에 재생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원본 에피소드 길이(15.4초)로 시간 균등 배분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재생이 뚝뚝 끊김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158포인트/14.8초 = 10.7 Hz 발행 — 영화 24fps 의 절반도 안 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실시간 시계 기준 joint 선형보간, 50 Hz 발행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동작 중 all-zero 로 자꾸 튐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demo.launch 의 joint_state_publisher 와 /joint_states 이중 발행 충돌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source_list 토픽(fake_controller_joint_states)으로 발행 → 발행자 단일화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4031999"/>
            <a:ext cx="115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의미: 8/7~8/8 의 미해결 증상들이 전부 여기서 설명됨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'pick&amp;place 처럼 안 보임' = #2 시간 미기입 (v1 도 동일 코드) — 변환 문제가 아니었음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'RViz 시작 시 all-zero' = #4 joint_state_publisher 가 소스 없을 때 0 을 발행 — branch switching 아님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'fraction 76.3% 정체' = 좌표계 문제(tool 90°, 손튜닝 affine) + #1 정지 구간의 복합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F6B4A"/>
                </a:solidFill>
                <a:latin typeface="맑은 고딕"/>
              </a:rPr>
              <a:t>▪  최종: fraction 96.3%, 나머지 3.7% 는 시연 끝 잔여 정지 구간 — 동작은 사실상 100% 계획됨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각 수정은 ee_to_tx90_cartesian_v2.py 에 반영 — --no_dedup, --rate, --joint_topic 옵션으로 전후 비교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STEP 6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pick &amp; place 패턴 정량 검증</a:t>
            </a:r>
          </a:p>
        </p:txBody>
      </p:sp>
      <p:pic>
        <p:nvPicPr>
          <p:cNvPr id="3" name="Picture 2" descr="pickplac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000" y="827999"/>
            <a:ext cx="5973332" cy="403199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4000" y="5040000"/>
          <a:ext cx="6839999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25"/>
                <a:gridCol w="1159322"/>
                <a:gridCol w="1159322"/>
                <a:gridCol w="1391186"/>
                <a:gridCol w="1159322"/>
                <a:gridCol w="1159322"/>
              </a:tblGrid>
              <a:tr h="27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ep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집기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놓기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들어올림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이동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그리퍼↓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9.6s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12.3s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125 mm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197 mm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97.2%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80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2회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2회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87 mm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181 mm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78.8%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161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7.8s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12.8s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60 mm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214 mm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16000" y="5004000"/>
            <a:ext cx="4428000" cy="16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F6B4A"/>
                </a:solidFill>
                <a:latin typeface="맑은 고딕"/>
              </a:rPr>
              <a:t>▪  세 에피소드 모두 내려감→집기→올림→놓기 구조 확인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RViz 에서 안 보인 이유: 들어올림이 60~125mm 로 작고 그리퍼가 없어 시각 변화 없음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ep80 은 재시도 시연(집기 2회) — 시연 자체 특성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생성: check_pickplace.py → ~/omx_workspace/pickplace_check.png — 임의 에피소드 검증 가능 (--episodes 5 40 120)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STEP 7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배치 변환 + 학습용 데이터셋 조립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5832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1차: EE pose 만 변환 (batch_transform.py)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163개 → ~/tx90_ee_dataset · sanity check 통과 (리치 초과 0, 바닥 아래 0)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검증: RViz 에서 본 v2 변환과 비트 단위 일치 (오차 0.0)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A9331D"/>
                </a:solidFill>
                <a:latin typeface="맑은 고딕"/>
              </a:rPr>
              <a:t>▪  문제: 학습에는 카메라 영상이 필수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EE 발췌본에는 영상 없음 — 영상 없이 학습하면 평균 궤적만 외움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진짜 원본(1.2 GB, mp4 326개)은 컨테이너 HF 캐시에서 발견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2차: 완전한 LeRobot 데이터셋 조립 (build_tx90_dataset.py)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불량 에피소드 제외 후 0..N 재번호 — lerobot 은 결번을 허용 안 함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영상 324개는 심볼릭 링크 — 내용 불변이므로 1.2 GB 복사 불필요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A9331D"/>
                </a:solidFill>
                <a:latin typeface="맑은 고딕"/>
              </a:rPr>
              <a:t>–  episodes_stats 재계산 — joint(rad) 통계로 EE(m) 를 정규화하면 학습 붕괴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scipy 없는 컨테이너 대응: 오일러↔행렬 numpy 구현 (scipy 대조 10⁻¹⁶)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3999" y="864000"/>
            <a:ext cx="5400000" cy="3384000"/>
          </a:xfrm>
          <a:prstGeom prst="roundRect">
            <a:avLst/>
          </a:prstGeom>
          <a:solidFill>
            <a:srgbClr val="15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tIns="144000" wrap="square"/>
          <a:lstStyle/>
          <a:p>
            <a:pPr algn="ctr"/>
            <a:r>
              <a:rPr sz="1250" b="0">
                <a:solidFill>
                  <a:srgbClr val="626B78"/>
                </a:solidFill>
                <a:latin typeface="Consolas"/>
              </a:rPr>
              <a:t># lerobot 실제 로드 검증</a:t>
            </a:r>
          </a:p>
          <a:p>
            <a:r>
              <a:rPr sz="1250" b="0">
                <a:solidFill>
                  <a:srgbClr val="FFFFFF"/>
                </a:solidFill>
                <a:latin typeface="Consolas"/>
              </a:rPr>
              <a:t>LeRobotDataset(</a:t>
            </a:r>
          </a:p>
          <a:p>
            <a:r>
              <a:rPr sz="1250" b="0">
                <a:solidFill>
                  <a:srgbClr val="FFFFFF"/>
                </a:solidFill>
                <a:latin typeface="Consolas"/>
              </a:rPr>
              <a:t> 'dlcodnjs/tx90_act_pick_and_place</a:t>
            </a:r>
          </a:p>
          <a:p>
            <a:r>
              <a:rPr sz="1250" b="0">
                <a:solidFill>
                  <a:srgbClr val="FFFFFF"/>
                </a:solidFill>
                <a:latin typeface="Consolas"/>
              </a:rPr>
              <a:t>  _v4_162_ee')</a:t>
            </a:r>
          </a:p>
          <a:p>
            <a:r>
              <a:rPr sz="1250" b="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250" b="0">
                <a:solidFill>
                  <a:srgbClr val="7FE0A8"/>
                </a:solidFill>
                <a:latin typeface="Consolas"/>
              </a:rPr>
              <a:t>최종: 에피소드 159, 프레임 76,345</a:t>
            </a:r>
          </a:p>
          <a:p>
            <a:r>
              <a:rPr sz="1250" b="0">
                <a:solidFill>
                  <a:srgbClr val="7FE0A8"/>
                </a:solidFill>
                <a:latin typeface="Consolas"/>
              </a:rPr>
              <a:t>state/action: (7,) [x,y,z,rx,ry,rz,g]</a:t>
            </a:r>
          </a:p>
          <a:p>
            <a:r>
              <a:rPr sz="1250" b="0">
                <a:solidFill>
                  <a:srgbClr val="7FE0A8"/>
                </a:solidFill>
                <a:latin typeface="Consolas"/>
              </a:rPr>
              <a:t>camera1/2: (3,480,640) 디코딩 정상</a:t>
            </a:r>
          </a:p>
          <a:p>
            <a:r>
              <a:rPr sz="1250" b="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250" b="0">
                <a:solidFill>
                  <a:srgbClr val="626B78"/>
                </a:solidFill>
                <a:latin typeface="Consolas"/>
              </a:rPr>
              <a:t># 심볼릭 링크 영상도 문제없이 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3999" y="4392000"/>
            <a:ext cx="5400000" cy="16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A9331D"/>
                </a:solidFill>
                <a:latin typeface="맑은 고딕"/>
              </a:rPr>
              <a:t>▪  알아둘 것: 시각 도메인 갭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영상 속 팔은 OMX, 배포 시 카메라가 볼 팔은 TX90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실기 성능 저하 시 TX90 시연 몇 개로 파인튜닝이 정석 — 재촬영 없이는 회피 불가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STEP 8 준비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ACT 학습 파이프라인 검증 (스모크 테스트)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5832000" cy="49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환경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lerobot 0.2.0 (physical_ai_tools 내장) · torch 2.7.0+cu128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GPU: RTX 5070 Ti · CUDA 정상 인식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ACT 정책 (기본 설정 유지)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chunk_size=100 (30fps 기준 3.3초치 동작을 한 번에 예측)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backbone resnet18 · dim_model 512 · lr 1e-5 · VAE 사용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학습 파라미터 52M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10스텝 스모크 테스트 결과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F6B4A"/>
                </a:solidFill>
                <a:latin typeface="맑은 고딕"/>
              </a:rPr>
              <a:t>–  loss 60.8 (step5) → 23.9 (step10) — 정상 하강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F6B4A"/>
                </a:solidFill>
                <a:latin typeface="맑은 고딕"/>
              </a:rPr>
              <a:t>–  데이터 로드·정규화 통계·심볼릭 링크 영상·체크포인트 저장 전부 정상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스텝당 0.107초 → 10만 스텝 약 3시간 예상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3999" y="864000"/>
            <a:ext cx="5400000" cy="3816000"/>
          </a:xfrm>
          <a:prstGeom prst="roundRect">
            <a:avLst/>
          </a:prstGeom>
          <a:solidFill>
            <a:srgbClr val="15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tIns="144000" wrap="square"/>
          <a:lstStyle/>
          <a:p>
            <a:pPr algn="ctr"/>
            <a:r>
              <a:rPr sz="1150" b="0">
                <a:solidFill>
                  <a:srgbClr val="626B78"/>
                </a:solidFill>
                <a:latin typeface="Consolas"/>
              </a:rPr>
              <a:t># 내일 실행할 본 학습 명령 (컨테이너 안)</a:t>
            </a:r>
          </a:p>
          <a:p>
            <a:r>
              <a:rPr sz="1150" b="0">
                <a:solidFill>
                  <a:srgbClr val="FFFFFF"/>
                </a:solidFill>
                <a:latin typeface="Consolas"/>
              </a:rPr>
              <a:t>cd /root/ros2_ws/src/physical_ai_tools/\</a:t>
            </a:r>
          </a:p>
          <a:p>
            <a:r>
              <a:rPr sz="1150" b="0">
                <a:solidFill>
                  <a:srgbClr val="FFFFFF"/>
                </a:solidFill>
                <a:latin typeface="Consolas"/>
              </a:rPr>
              <a:t>   lerobot/src</a:t>
            </a:r>
          </a:p>
          <a:p>
            <a:r>
              <a:rPr sz="1150" b="0">
                <a:solidFill>
                  <a:srgbClr val="FFFFFF"/>
                </a:solidFill>
                <a:latin typeface="Consolas"/>
              </a:rPr>
              <a:t>python3 -m lerobot.scripts.train \</a:t>
            </a:r>
          </a:p>
          <a:p>
            <a:r>
              <a:rPr sz="1150" b="0">
                <a:solidFill>
                  <a:srgbClr val="FFFFFF"/>
                </a:solidFill>
                <a:latin typeface="Consolas"/>
              </a:rPr>
              <a:t>  --dataset.repo_id=dlcodnjs/\</a:t>
            </a:r>
          </a:p>
          <a:p>
            <a:r>
              <a:rPr sz="1150" b="0">
                <a:solidFill>
                  <a:srgbClr val="FFFFFF"/>
                </a:solidFill>
                <a:latin typeface="Consolas"/>
              </a:rPr>
              <a:t>    tx90_act_pick_and_place_v4_162_ee \</a:t>
            </a:r>
          </a:p>
          <a:p>
            <a:r>
              <a:rPr sz="1150" b="0">
                <a:solidFill>
                  <a:srgbClr val="FFFFFF"/>
                </a:solidFill>
                <a:latin typeface="Consolas"/>
              </a:rPr>
              <a:t>  --policy.type=act \</a:t>
            </a:r>
          </a:p>
          <a:p>
            <a:r>
              <a:rPr sz="1150" b="0">
                <a:solidFill>
                  <a:srgbClr val="FFFFFF"/>
                </a:solidFill>
                <a:latin typeface="Consolas"/>
              </a:rPr>
              <a:t>  --policy.device=cuda \</a:t>
            </a:r>
          </a:p>
          <a:p>
            <a:r>
              <a:rPr sz="1150" b="0">
                <a:solidFill>
                  <a:srgbClr val="FFFFFF"/>
                </a:solidFill>
                <a:latin typeface="Consolas"/>
              </a:rPr>
              <a:t>  --policy.push_to_hub=false \</a:t>
            </a:r>
          </a:p>
          <a:p>
            <a:r>
              <a:rPr sz="1150" b="0">
                <a:solidFill>
                  <a:srgbClr val="FFFFFF"/>
                </a:solidFill>
                <a:latin typeface="Consolas"/>
              </a:rPr>
              <a:t>  --batch_size=8 --steps=100000 \</a:t>
            </a:r>
          </a:p>
          <a:p>
            <a:r>
              <a:rPr sz="1150" b="0">
                <a:solidFill>
                  <a:srgbClr val="FFFFFF"/>
                </a:solidFill>
                <a:latin typeface="Consolas"/>
              </a:rPr>
              <a:t>  --log_freq=200 --save_freq=10000 \</a:t>
            </a:r>
          </a:p>
          <a:p>
            <a:r>
              <a:rPr sz="1150" b="0">
                <a:solidFill>
                  <a:srgbClr val="FFFFFF"/>
                </a:solidFill>
                <a:latin typeface="Consolas"/>
              </a:rPr>
              <a:t>  --output_dir=/root/train_tx90_act \</a:t>
            </a:r>
          </a:p>
          <a:p>
            <a:r>
              <a:rPr sz="1150" b="0">
                <a:solidFill>
                  <a:srgbClr val="FFFFFF"/>
                </a:solidFill>
                <a:latin typeface="Consolas"/>
              </a:rPr>
              <a:t>  --job_name=tx90_act_ee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3999" y="4824000"/>
            <a:ext cx="5400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GPU 메모리 여유 시 --batch_size=16 상향 가능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loss 하강·gradient norm 안정 여부 관찰 / 체크포인트는 checkpoints/ 에 1만 스텝마다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파일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생성 파일 안내 ① — 스크립트 (/home/kim/tx90/)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00000"/>
          <a:ext cx="11519998" cy="4967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8672"/>
                <a:gridCol w="6320707"/>
                <a:gridCol w="2650619"/>
              </a:tblGrid>
              <a:tr h="41399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fk_omx.py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OMX URDF 파싱 + FK. joint parquet → EE pose CSV 생성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영자세 검증 포함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inspect_ee_dataset.py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STEP 1. 163개 parquet 전수 스캔 — 구조·범위·NaN 검사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info.json 불신, 실값 기준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extract_omx_workspace.py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STEP 2. 작업영역 사각형·4코너·기준면 추출 + 그림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grasp 이벤트 기반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compute_transform.py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STEP 4. Umeyama T 계산 + 사전점검(z편차·변길이·s범위)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실측값·478mm 보정 포함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ee_to_tx90_cartesian_v2.py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STEP 5·6. 변환→MoveIt2 Cartesian→RViz 재생 (v1 대체)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컨테이너 /root/ 에도 복사됨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check_pickplace.py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pick&amp;place 패턴 정량 검증 그래프 (임의 에피소드)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ROS 불필요, host 실행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summarize_all_episodes.py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162개 전수 검사 — 품질 분포·이상치 그래프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품질 지도 포함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batch_transform.py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STEP 7. EE pose 만 일괄 변환 (영상 없는 버전)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~/tx90_ee_dataset 생성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build_tx90_dataset.py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학습용 완전체 조립 — 영상 링크·재번호·통계 재계산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컨테이너 안에서 실행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export_transcript.py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Claude Code 대화 기록 → 마크다운 전문 추출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claude.ai 이관용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make_report_pptx.py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이 PPT 를 생성한 스크립트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수정 후 재생성 가능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모든 스크립트는 인자 없이 기본값으로 동작 · 상단 docstring 에 사용법 기재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파일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생성 파일 안내 ② — 데이터·결과물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00000"/>
          <a:ext cx="11519999" cy="47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5483"/>
                <a:gridCol w="3344516"/>
                <a:gridCol w="5760000"/>
              </a:tblGrid>
              <a:tr h="396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위치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~/omx_workspace/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omx_corners.txt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OMX 4코너 좌표 (compute_transform 에 붙여넣는 형식)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omx_workspace.png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작업영역 4패널 그림 (STEP 2 결과)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transform.npy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T(s,R,t) + residual 기록 — 전 단계가 참조하는 핵심 산출물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pickplace_check.png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ep 0/80/161 pick&amp;place 검증 3×3 그래프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all_episodes_summary.png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162개 전수 검사 6패널 그래프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~/tx90_ee_dataset/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parquet 163개 + meta/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EE pose 만 변환한 중간 산출물 (영상 없음)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~/tx90/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대화전문_OMX_TX90.md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오늘 작업 대화 전문 (근거·수치 포함, claude.ai 업로드용)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OMX_TX90_전이_작업정리_....pptx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이 발표자료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컨테이너 /root/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transform.npy · v2 · build_...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host 와 동일본 (docker cp 로 동기화됨)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컨테이너 HF 캐시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tx90_act_pick_and_place_v4_162_ee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학습용 최종 데이터셋 — 159 ep, 영상 심볼릭 링크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HF 캐시/frames_check/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영상 프레임 시트 PNG 13장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</a:rPr>
                        <a:t>영상 재생 불가 환경용 — ep111/115 실패·ep0 카메라 증거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5724000"/>
            <a:ext cx="11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–  웹 실측 카드(Artifact): https://claude.ai/code/artifact/8f08108c-46c0-43cb-b661-165f83ce12f9 — 재측정 시 재사용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A9331D"/>
                </a:solidFill>
                <a:latin typeface="맑은 고딕"/>
              </a:rPr>
              <a:t>–  주의: 학습 데이터셋의 영상은 원본(omx_act_pick_and_place_v4_162)에 링크 — 원본 캐시를 지우면 영상이 깨짐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정리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현재 위치와 내일 할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5688000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F6B4A"/>
                </a:solidFill>
                <a:latin typeface="맑은 고딕"/>
              </a:rPr>
              <a:t>▪  오늘 완료 (층 1~3 + 층 4 준비)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캘리브레이션 T 확정 (residual 0.02 mm)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RViz 검증 통과 — fraction 96.3%, 미해결 증상 4건 전부 원인 규명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학습용 데이터셋 완성 + lerobot 로드 확인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학습 파이프라인 10스텝 검증 (loss 정상 하강)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예방한 사고들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펜던트 z +478 mm (전 궤적 도달 불가가 될 뻔)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tool frame 90° (그리퍼가 옆을 볼 뻔)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기준면 29 mm 오차 (테이블 침투할 뻔)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통계 미갱신 (정규화 붕괴로 학습이 안 될 뻔)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불량 4건 검출·제외 — ep0 카메라 뒤바뀜, ep62 그리퍼 미작동, ep111·115 운반 실패(영상 확정)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28000" y="864000"/>
            <a:ext cx="5652000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F3D9E"/>
                </a:solidFill>
                <a:latin typeface="맑은 고딕"/>
              </a:rPr>
              <a:t>▪  내일 ① — 본 학습 (약 3시간, GPU 방치 가능)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슬라이드 17 의 명령 실행 → loss 곡선 확인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F3D9E"/>
                </a:solidFill>
                <a:latin typeface="맑은 고딕"/>
              </a:rPr>
              <a:t>▪  내일 ② — 정책 실행 배선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카메라 2대 + 현재 EE pose → ACT → 목표 EE pose → MoveIt2 IK → TX90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v2 코드의 'EE pose → MoveIt' 부분 재사용 — parquet 입력을 정책 출력으로 교체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그다음 (실기 단계)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TX90 에 그리퍼 장착 → URDF tool link 추가 → link_name 만 변경 (T 재계산 불필요)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테이프로 표시해 둔 사각형 자리에 작업판 배치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실기 성능 미흡 시: TX90 시연 소량 수집 → 파인튜닝 (도메인 갭 대응)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김박사님께 보고할 것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residual 0.02 mm · fraction 96.3% · 데이터셋 159 ep 확정(불량 4건 영상 근거로 제외)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펜던트 좌표계 +478 mm 발견 건 공유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이어서 할 때: Claude Code 를 /home/kim/tx90 에서 열면 오늘 결정사항이 메모리에 저장되어 있어 맥락이 복원됨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검증 ①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162개 전수 검사 — 품질 분포와 이상치</a:t>
            </a:r>
          </a:p>
        </p:txBody>
      </p:sp>
      <p:pic>
        <p:nvPicPr>
          <p:cNvPr id="3" name="Picture 2" descr="all_episode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864000"/>
            <a:ext cx="8568000" cy="47349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64000" y="900000"/>
            <a:ext cx="3024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2F3D9E"/>
                </a:solidFill>
                <a:latin typeface="맑은 고딕"/>
              </a:rPr>
              <a:t>▪  판정</a:t>
            </a:r>
          </a:p>
          <a:p>
            <a:pPr lvl="1">
              <a:spcAft>
                <a:spcPts val="500"/>
              </a:spcAft>
            </a:pPr>
            <a:r>
              <a:rPr sz="1000" b="0">
                <a:solidFill>
                  <a:srgbClr val="15181D"/>
                </a:solidFill>
                <a:latin typeface="맑은 고딕"/>
              </a:rPr>
              <a:t>–  깨끗한 1집기-1놓기 149개 (91%)</a:t>
            </a:r>
          </a:p>
          <a:p>
            <a:pPr lvl="1">
              <a:spcAft>
                <a:spcPts val="500"/>
              </a:spcAft>
            </a:pPr>
            <a:r>
              <a:rPr sz="1000" b="0">
                <a:solidFill>
                  <a:srgbClr val="15181D"/>
                </a:solidFill>
                <a:latin typeface="맑은 고딕"/>
              </a:rPr>
              <a:t>–  재시도 13개 — 회복 행동 학습에 유익, 유지</a:t>
            </a:r>
          </a:p>
          <a:p>
            <a:pPr lvl="1">
              <a:spcAft>
                <a:spcPts val="500"/>
              </a:spcAft>
            </a:pPr>
            <a:r>
              <a:rPr sz="1000" b="0">
                <a:solidFill>
                  <a:srgbClr val="15181D"/>
                </a:solidFill>
                <a:latin typeface="맑은 고딕"/>
              </a:rPr>
              <a:t>–  의심 2개 (ep111·115) — 품질 지도에서 유일하게 고립 → 영상 검사로 이관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2F3D9E"/>
                </a:solidFill>
                <a:latin typeface="맑은 고딕"/>
              </a:rPr>
              <a:t>▪  전체 평균 (± 표준편차)</a:t>
            </a:r>
          </a:p>
          <a:p>
            <a:pPr lvl="1">
              <a:spcAft>
                <a:spcPts val="500"/>
              </a:spcAft>
            </a:pPr>
            <a:r>
              <a:rPr sz="1000" b="0">
                <a:solidFill>
                  <a:srgbClr val="15181D"/>
                </a:solidFill>
                <a:latin typeface="맑은 고딕"/>
              </a:rPr>
              <a:t>–  집기 높이 29±15 mm (테이블 위)</a:t>
            </a:r>
          </a:p>
          <a:p>
            <a:pPr lvl="1">
              <a:spcAft>
                <a:spcPts val="500"/>
              </a:spcAft>
            </a:pPr>
            <a:r>
              <a:rPr sz="1000" b="0">
                <a:solidFill>
                  <a:srgbClr val="15181D"/>
                </a:solidFill>
                <a:latin typeface="맑은 고딕"/>
              </a:rPr>
              <a:t>–  놓기 높이 30±15 mm — 공중 투하 아님</a:t>
            </a:r>
          </a:p>
          <a:p>
            <a:pPr lvl="1">
              <a:spcAft>
                <a:spcPts val="500"/>
              </a:spcAft>
            </a:pPr>
            <a:r>
              <a:rPr sz="1000" b="0">
                <a:solidFill>
                  <a:srgbClr val="15181D"/>
                </a:solidFill>
                <a:latin typeface="맑은 고딕"/>
              </a:rPr>
              <a:t>–  들어올림 111±35 mm</a:t>
            </a:r>
          </a:p>
          <a:p>
            <a:pPr lvl="1">
              <a:spcAft>
                <a:spcPts val="500"/>
              </a:spcAft>
            </a:pPr>
            <a:r>
              <a:rPr sz="1000" b="0">
                <a:solidFill>
                  <a:srgbClr val="15181D"/>
                </a:solidFill>
                <a:latin typeface="맑은 고딕"/>
              </a:rPr>
              <a:t>–  운반 거리 197±45 mm</a:t>
            </a:r>
          </a:p>
          <a:p>
            <a:pPr lvl="1">
              <a:spcAft>
                <a:spcPts val="500"/>
              </a:spcAft>
            </a:pPr>
            <a:r>
              <a:rPr sz="1000" b="0">
                <a:solidFill>
                  <a:srgbClr val="15181D"/>
                </a:solidFill>
                <a:latin typeface="맑은 고딕"/>
              </a:rPr>
              <a:t>–  집기 시점 36% / 놓기 64% (진행률)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2F3D9E"/>
                </a:solidFill>
                <a:latin typeface="맑은 고딕"/>
              </a:rPr>
              <a:t>▪  그래프 6패널</a:t>
            </a:r>
          </a:p>
          <a:p>
            <a:pPr lvl="1">
              <a:spcAft>
                <a:spcPts val="500"/>
              </a:spcAft>
            </a:pPr>
            <a:r>
              <a:rPr sz="1000" b="0">
                <a:solidFill>
                  <a:srgbClr val="15181D"/>
                </a:solidFill>
                <a:latin typeface="맑은 고딕"/>
              </a:rPr>
              <a:t>–  ① z 곡선 겹침(공통 구조) ② 집기·놓기 위치 ③ 높이 분포 ④ 들어올림 ⑤ 운반 ⑥ 품질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생성: summarize_all_episodes.py → ~/omx_workspace/all_episodes_summary.png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검증 ②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영상 프레임 검사 ① — ep111·115 는 실패 시연으로 확정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27999"/>
            <a:ext cx="115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▪  방법 — host 에서 영상이 안 열려(ffmpeg 부재·opencv 손상) 컨테이너의 pyav 로 균등 간격 10프레임을 추출해 PNG 시트로 저장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frames_check/ 폴더 — PNG 라 코덱 없이 어디서든 열람 가능. 정상 기준(ep0)과 나란히 비교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A9331D"/>
                </a:solidFill>
                <a:latin typeface="맑은 고딕"/>
              </a:rPr>
              <a:t>▪  판정: 두 에피소드 모두 파란 주사위를 집으려다 실패 — 주사위가 끝까지 처음 자리에 그대로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통계 이상과 정확히 일치: 집기높이 63mm(정상 29) · 수평이동 15mm(정상 197) · 놓기높이 101/123mm(정상 30)</a:t>
            </a:r>
          </a:p>
        </p:txBody>
      </p:sp>
      <p:pic>
        <p:nvPicPr>
          <p:cNvPr id="4" name="Picture 3" descr="ep111_camer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2448000"/>
            <a:ext cx="11520000" cy="345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4000" y="5976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–  ep111 측면 카메라 10프레임 (좌→우, 상→하): 팔이 왼쪽 파란 주사위로 접근·집기 시도하지만 주사위는 제자리. ep115 도 동일 패턴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검증 ③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영상 프레임 검사 ② — ep0 만 카메라가 뒤바뀜</a:t>
            </a:r>
          </a:p>
        </p:txBody>
      </p:sp>
      <p:pic>
        <p:nvPicPr>
          <p:cNvPr id="3" name="Picture 2" descr="ep012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4757000" cy="48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72000" y="900000"/>
            <a:ext cx="6372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A9331D"/>
                </a:solidFill>
                <a:latin typeface="맑은 고딕"/>
              </a:rPr>
              <a:t>▪  발견 — 11개 에피소드 카메라 조사 중 ep0 만 다름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ep0: camera1 = 측면 전경, camera2 = 회색 블러(고장·가려진 손목캠)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ep1~162: camera1 = 손목 근접(그리퍼 시점), camera2 = 측면 전경 — 전부 일관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판별 근거: camera2 중간 프레임 표준편차 ep0=46 vs 정상 75~84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5181D"/>
                </a:solidFill>
                <a:latin typeface="맑은 고딕"/>
              </a:rPr>
              <a:t>▪  왜 문제인가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ACT 는 "camera1 은 항상 손목 시점" 으로 배우는데 ep0 만 반대 → 시각 입력 오염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블러 손목캠은 대체 불가(영상 자체가 없음) → ep0 제외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F6B4A"/>
                </a:solidFill>
                <a:latin typeface="맑은 고딕"/>
              </a:rPr>
              <a:t>▪  부수 확정 ① 카메라 의미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camera1 = 손목, camera2 = 측면 — 실기 때 TX90 에 같은 구성으로 설치해야 함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F6B4A"/>
                </a:solidFill>
                <a:latin typeface="맑은 고딕"/>
              </a:rPr>
              <a:t>▪  부수 확정 ② 데이터는 두 배치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task0(v3_90) = ep0~122, task1(v3_add) = ep123~162 (주사위 색·개수 다름)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같은 pick&amp;place 과제라 함께 학습해도 무방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왼쪽 그림: ep0/1/2 의 camera1(좌)·camera2(우) 중간 프레임 — ep0 만 좌우가 반대이고 cam2 가 블러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검증 ④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최종 학습 데이터셋 확정 (162 → 159) + 실기 주의사항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5687999" cy="17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918"/>
                <a:gridCol w="1691027"/>
                <a:gridCol w="3382054"/>
              </a:tblGrid>
              <a:tr h="342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ep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제외 사유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카메라 구성 상이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영상: cam1↔cam2 반대, 손목캠 블러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62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그리퍼 미작동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401프레임 내내 0.663 고정 (물체 안 집음)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111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운반 실패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영상: 주사위 제자리 · 이동 15mm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115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운반 실패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영상: 주사위 제자리 · 이동 15mm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2951999"/>
            <a:ext cx="5688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▪  재조립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Consolas"/>
              </a:rPr>
              <a:t>–  build_tx90_dataset.py --drop 0 62 111 115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결과: 159 에피소드 · 76,345 프레임 · lerobot 로드 재검증 통과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A9331D"/>
                </a:solidFill>
                <a:latin typeface="맑은 고딕"/>
              </a:rPr>
              <a:t>–  주의: 재조립 전 출력 폴더 삭제 필수 — 이전 빌드의 높은 번호 파일이 남으면 데이터 오염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맑은 고딕"/>
              </a:rPr>
              <a:t>–  손실 4/163 = 2.5% — 학습에 영향 없는 수준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999" y="936000"/>
            <a:ext cx="5580000" cy="5004000"/>
          </a:xfrm>
          <a:prstGeom prst="roundRect">
            <a:avLst/>
          </a:prstGeom>
          <a:solidFill>
            <a:srgbClr val="EDEFF3"/>
          </a:solidFill>
          <a:ln w="19050">
            <a:solidFill>
              <a:srgbClr val="A93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tIns="125999" wrap="square"/>
          <a:lstStyle/>
          <a:p>
            <a:pPr algn="ctr"/>
            <a:r>
              <a:rPr sz="1400" b="1">
                <a:solidFill>
                  <a:srgbClr val="A9331D"/>
                </a:solidFill>
                <a:latin typeface="맑은 고딕"/>
              </a:rPr>
              <a:t>실기 주의 — 테이블면 아래 접근 구간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전 프레임의 3.5%(2,723개)가 실측 테이블면(334.1mm)보다 낮게 지나감 — 최대 23.4mm 아래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전부 실측 사각형 밖, 로봇~사각형 사이 접근 통로 (x 539~612mm 구간)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OMX 리그에는 그 구간에 테이블이 없었다는 뜻 (HOME 접근 경로)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/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→ 실기 전 확인: TX90 실제 테이블 앞 모서리가 테이프 사각형보다 로봇 쪽으로 나와 있으면 flange 가 최대 23mm 파고듦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→ 대응: 테이블 위치 확인 후 필요 시 MoveIt 에 테이블 충돌 객체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RViz 검증에는 영향 없음(장면에 테이블 없음) — 실기·실행 단계에서만 해당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학습 이해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기존 OMX 모델과 무엇이 다른가 + 실행 구조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19998" cy="18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285"/>
                <a:gridCol w="4388571"/>
                <a:gridCol w="4937142"/>
              </a:tblGrid>
              <a:tr h="37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기존 모델 (기학습)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이번 모델 (내일)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학습 데이터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OMX joint 6차원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TX90 EE pose 7차원 (오늘 변환본)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정책 출력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"관절을 이 각도로 꺾어라"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"그리퍼 끝을 이 위치·자세로"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실행 가능 로봇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OMX 뿐 (몸에 종속된 언어)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TX90 — MoveIt IK 가 관절로 번역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카메라·시연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동일 (같은 영상 163개)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동일 (불량 4건만 제외)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51999" y="3456000"/>
            <a:ext cx="2160000" cy="129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90000"/>
          <a:lstStyle/>
          <a:p>
            <a:pPr algn="ctr"/>
            <a:r>
              <a:rPr sz="1300" b="1">
                <a:solidFill>
                  <a:srgbClr val="2F3D9E"/>
                </a:solidFill>
                <a:latin typeface="맑은 고딕"/>
              </a:rPr>
              <a:t>카메라 2대</a:t>
            </a:r>
          </a:p>
          <a:p>
            <a:pPr algn="ctr">
              <a:spcBef>
                <a:spcPts val="3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</a:rPr>
              <a:t>손목 + 측면</a:t>
            </a:r>
          </a:p>
          <a:p>
            <a:pPr algn="ctr">
              <a:spcBef>
                <a:spcPts val="3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</a:rPr>
              <a:t>30fps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19199" y="3960000"/>
            <a:ext cx="223200" cy="324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49599" y="3456000"/>
            <a:ext cx="2160000" cy="1296000"/>
          </a:xfrm>
          <a:prstGeom prst="roundRect">
            <a:avLst/>
          </a:prstGeom>
          <a:solidFill>
            <a:srgbClr val="2F3D9E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90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ACT 정책</a:t>
            </a:r>
          </a:p>
          <a:p>
            <a:pPr algn="ctr">
              <a:spcBef>
                <a:spcPts val="300"/>
              </a:spcBef>
            </a:pPr>
            <a:r>
              <a:rPr sz="1050" b="0">
                <a:solidFill>
                  <a:srgbClr val="D5DAF5"/>
                </a:solidFill>
                <a:latin typeface="맑은 고딕"/>
              </a:rPr>
              <a:t>PC·GPU 에서 실행</a:t>
            </a:r>
          </a:p>
          <a:p>
            <a:pPr algn="ctr">
              <a:spcBef>
                <a:spcPts val="300"/>
              </a:spcBef>
            </a:pPr>
            <a:r>
              <a:rPr sz="1050" b="0">
                <a:solidFill>
                  <a:srgbClr val="D5DAF5"/>
                </a:solidFill>
                <a:latin typeface="맑은 고딕"/>
              </a:rPr>
              <a:t>(로봇에 안 올라감)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16799" y="3960000"/>
            <a:ext cx="223200" cy="324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7199" y="3456000"/>
            <a:ext cx="2160000" cy="129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90000"/>
          <a:lstStyle/>
          <a:p>
            <a:pPr algn="ctr"/>
            <a:r>
              <a:rPr sz="1300" b="1">
                <a:solidFill>
                  <a:srgbClr val="2F3D9E"/>
                </a:solidFill>
                <a:latin typeface="맑은 고딕"/>
              </a:rPr>
              <a:t>목표 EE pose</a:t>
            </a:r>
          </a:p>
          <a:p>
            <a:pPr algn="ctr">
              <a:spcBef>
                <a:spcPts val="3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</a:rPr>
              <a:t>다음 3.3초</a:t>
            </a:r>
          </a:p>
          <a:p>
            <a:pPr algn="ctr">
              <a:spcBef>
                <a:spcPts val="3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</a:rPr>
              <a:t>100프레임 chunk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214399" y="3960000"/>
            <a:ext cx="223200" cy="324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44799" y="3456000"/>
            <a:ext cx="2160000" cy="129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90000"/>
          <a:lstStyle/>
          <a:p>
            <a:pPr algn="ctr"/>
            <a:r>
              <a:rPr sz="1300" b="1">
                <a:solidFill>
                  <a:srgbClr val="2F3D9E"/>
                </a:solidFill>
                <a:latin typeface="맑은 고딕"/>
              </a:rPr>
              <a:t>MoveIt2 IK</a:t>
            </a:r>
          </a:p>
          <a:p>
            <a:pPr algn="ctr">
              <a:spcBef>
                <a:spcPts val="3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</a:rPr>
              <a:t>실행 순간마다</a:t>
            </a:r>
          </a:p>
          <a:p>
            <a:pPr algn="ctr">
              <a:spcBef>
                <a:spcPts val="3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</a:rPr>
              <a:t>joint 해 계산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611999" y="3960000"/>
            <a:ext cx="223200" cy="324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42399" y="3456000"/>
            <a:ext cx="2160000" cy="129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90000"/>
          <a:lstStyle/>
          <a:p>
            <a:pPr algn="ctr"/>
            <a:r>
              <a:rPr sz="1300" b="1">
                <a:solidFill>
                  <a:srgbClr val="2F3D9E"/>
                </a:solidFill>
                <a:latin typeface="맑은 고딕"/>
              </a:rPr>
              <a:t>TX90</a:t>
            </a:r>
          </a:p>
          <a:p>
            <a:pPr algn="ctr">
              <a:spcBef>
                <a:spcPts val="3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</a:rPr>
              <a:t>joint 명령만</a:t>
            </a:r>
          </a:p>
          <a:p>
            <a:pPr algn="ctr">
              <a:spcBef>
                <a:spcPts val="3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</a:rPr>
              <a:t>받아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000" y="5004000"/>
            <a:ext cx="1152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핵심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joint 각도는 로봇 몸에 묶인 언어라 로봇 간 이식 불가 — 두 로봇이 공유하는 언어(EE pose)로 바꾼 것이 오늘 작업의 목적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모델은 로봇 컨트롤러에 올라가지 않는다. PC 에서 30fps 제어 루프로 돌며 TX90 은 joint 명령만 수신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IK 를 학습 데이터에 미리 넣지 않는 이유: 163개를 미리 풀면 branch(팔꿈치 다중해) 문제가 163배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F6B4A"/>
                </a:solidFill>
                <a:latin typeface="맑은 고딕"/>
              </a:rPr>
              <a:t>–  기존 모델의 의미: 같은 시연·카메라로 ACT 가 이 과제를 배울 수 있음을 이미 증명 — 이번엔 행동 표현만 교체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실기 추가 요건: TX90 그리퍼 장착 + 카메라 2대(손목·측면) 설치 · 영상 속 팔이 OMX 인 도메인 갭은 성능 미흡 시 파인튜닝으로 대응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