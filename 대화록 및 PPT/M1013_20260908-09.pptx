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9/8~9/9 이틀 작업 정리. 하드웨어 설계는 미검증 항목이 0이 됐고, 소프트웨어는 미착수였던 3종이 전부 코드로 존재하게 됐다. 이 과정에서 내가 만든 오판 3건과 기존 검증 도구의 버그 1건을 잡았다.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전체 흐름. OMX에서 사람이 시연한 데이터를 좌표 변환해 M1013 관절 궤적으로 만들고, 그걸로 베이스를 학습한 뒤, 실기에서 v7을 찍어 이어학습한다. 지금 베이스는 영상이 OMX 것이라 실기에서 바로는 못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계통이 툴 끝에서 만난다. 이번에 각 인터페이스의 수치가 원도면·CAD 실측으로 전부 확정됐다.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정책이 뱉는 연속값을 밸브 신호로 바꾸는 경로. 히스테리시스가 없으면 하드웨어가 상하므로 실물 연결 전에 반드시 들어가야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이틀의 흐름. 하드웨어 검증에서 소프트웨어 작성으로 무게중심이 넘어갔다.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장 요약. 하드웨어는 닫혔고 소프트웨어는 뼈대가 다 있다. 남은 건 부품 도착과 실물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밸브 CAD를 처음 확보했다. 그런데 CADENAS 모델이 작은 구멍을 생략해서, 그것만 믿고 판단하면 틀린다. 카탈로그 원도면을 같이 봐야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번째 오판. CAD에 없는 구멍을 없다고 판단해서 브래킷 좌표를 고치자고 했다. 고치기 전에 카탈로그를 봐서 막았다.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 오판. 어댑터 STEP 파일이 자체 좌표에서 Z가 뒤집혀 있는데, 그걸 플랜지 로컬로 착각해 두 가지를 잘못 판단했다.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밸브가 옆면으로 붙는 게 확정되면 하단 포트면이 어댑터 바로 위에 온다. 피팅이 어댑터와 스치므로 브래킷에 스페이서를 넣어 Y로 빼냈다.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브래킷 자체의 변경은 세 가지. 그보다 중요한 건 조립 순서 누락을 잡은 것 — 그대로 조립했으면 밸브를 못 달았다.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어댑터의 로봇 쪽 치수는 ISO 규격 텍스트 근거였는데, 두산 매뉴얼 226쪽에 치수 도면이 있었다. 전부 대조해서 미검증 항목이 0이 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사용자가 받아온 스피드컨트롤러·소음기 CAD로 추정치를 실측으로 바꿨다. 툴 외형이 +X로 23.5 커지고, 소음기를 아래로 두면 로봇 손목과 실제로 부딪힌다.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카메라 기종이 확정되면서 두 가지가 풀렸다. 08-24 정합값의 불일치가 크롭 때문이었다는 것과, 현재 방식으로는 화각이 부족하다는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번째는 내 오판이 아니라 기존 도구의 버그. 카메라 위치 출력이 자세마다 달라지는 걸 보고 잡았다. 순수 기하 검증기로 대체해 원천 차단했다.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고친 도구로 다시 보니 큐브가 3초 전부터 화면 중앙에 있고 파지 순간 하단 중앙으로 내려온다. 설계 의도 그대로.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TCP는 자유 파라미터가 아니라 툴 기하가 정하는 값. 하한에 2mm 여유를 더한 0.0725를 골랐다.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v6_staging이 가장 오래된 폐기본이었고 정식 조립 스크립트가 그걸 기본값으로 쓰고 있었다. 정리하고 재학습했다. loss가 같아서 오프셋이었음이 확인됐다.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정책 출력이 임계값 근처에서 떨리면 밸브가 초당 수십 번 켜졌다 꺼진다. 켜는 기준과 끄는 기준을 다르게 두고 최소 유지시간을 넣었다.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공압은 전기보다 느리다. ACT가 미래 액션을 청크로 주니 그 안에서 앞을 보면 된다. 값은 오토스위치로 실측한다.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가지를 비교했다. 목적이 화면 적응이라 행동은 그대로 두는 재생이 맞고, 큐브 위치 문제는 로봇이 파지 자세를 먼저 잡아주면 사라진다.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기록기가 이미 있어서 설정 파일 하나로 끝났다. 대신 리더 암 부재 문제를 재생 스크립트가 명령값을 발행하는 것으로 풀었다.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작업대는 크기보다 위치와 높이가 결정적이다. 높이 허용이 비대칭이고, 로봇을 작업대에 직접 붙이면 손목 특이점에 가까워진다.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코드 산출물. 전부 자체 테스트나 건식 실행을 통과했고, 실물에서 채울 상수만 남았다.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문서, CAD, 데이터, 모델 산출물 목록. 무엇이 무엇인지 여기서 찾으면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완료·진행·미착수 3열. 09-11에 로봇 도착일과 손목캠 위치가 바뀌었으니 그 부분은 최신 자료를 봐야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지금 당장은 발주. 부품과 로봇이 오면 벤치 → 설치 → v7 순서. 고려사항은 전부 문서에 반영돼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외부 링크와 로컬 파일 참조.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mc.partcommunity.com/" TargetMode="External"/><Relationship Id="rId3" Type="http://schemas.openxmlformats.org/officeDocument/2006/relationships/hyperlink" Target="https://content2.smcetech.com/pdf/SY5000.pdf" TargetMode="External"/><Relationship Id="rId4" Type="http://schemas.openxmlformats.org/officeDocument/2006/relationships/hyperlink" Target="https://content2.smcetech.com/pdf/AS_1F-A_EU.pdf" TargetMode="External"/><Relationship Id="rId5" Type="http://schemas.openxmlformats.org/officeDocument/2006/relationships/hyperlink" Target="https://kr.misumi-ec.com/vona2/detail/221300029672/?HissuCode=SY5120-5LOZ-01" TargetMode="External"/><Relationship Id="rId6" Type="http://schemas.openxmlformats.org/officeDocument/2006/relationships/hyperlink" Target="https://www.inno-maker.com/product/u20cam-720p/" TargetMode="External"/><Relationship Id="rId7" Type="http://schemas.openxmlformats.org/officeDocument/2006/relationships/hyperlink" Target="https://fullerfasteners.com/tech/iso-10642-specifications-hex-socket-countersunk-head-screws/" TargetMode="External"/><Relationship Id="rId8" Type="http://schemas.openxmlformats.org/officeDocument/2006/relationships/hyperlink" Target="https://us.rs-online.com/product/smc-corporation/sy5120-5loz-01t/70073782/" TargetMode="External"/><Relationship Id="rId9" Type="http://schemas.openxmlformats.org/officeDocument/2006/relationships/hyperlink" Target="https://github.com/dlcodnjs817/tx90" TargetMode="External"/><Relationship Id="rId10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2376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486000"/>
            <a:ext cx="9360000" cy="1655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M1013 그리퍼 이관 — 밸브 CAD 검증 · TCP 정정 · v7 수집 도구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8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2026-09-08 ~ 09-09  작업 정리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300" b="0">
                <a:solidFill>
                  <a:srgbClr val="B9C2F0"/>
                </a:solidFill>
                <a:latin typeface="맑은 고딕"/>
                <a:ea typeface="맑은 고딕"/>
                <a:cs typeface="맑은 고딕"/>
              </a:rPr>
              <a:t>파이프라인 · 트러블슈팅 · 알고리즘 선택 · 생성 파일 · 현재 상황 · 다음 할 것</a:t>
            </a:r>
          </a:p>
        </p:txBody>
      </p:sp>
      <p:pic>
        <p:nvPicPr>
          <p:cNvPr id="4" name="Picture 3" descr="d_gra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0000" y="2556000"/>
            <a:ext cx="4464000" cy="334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80000" y="5932800"/>
            <a:ext cx="4464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손목캠 파지 순간 (HFOV 85.6°, Isaac 재검증)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2628000"/>
            <a:ext cx="6660000" cy="34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5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이틀 요약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밸브 SY5120 CAD 확보 → 연결부 설계 미검증 항목 0 (로봇 플랜지까지 원도면 대조)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내 오판 3건을 스스로 잡아 정정 — M3 체결면 · 어댑터 STEP Z 축 · 소음기 지름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TCP 상수 0.0675 → 0.0725 정정, 데이터 3세대 정리, 베이스 재학습 (2h45m)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실기 소프트웨어 5종 선작성 — 히스테리시스 · grip-lead · DO 래퍼 · 카메라 · v7 재생수집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· 검증 도구 버그 발견 (카메라 최대 190 mm 어긋난 채 렌더) → Isaac 없는 순수기하 검증기로 대체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350" b="1">
                <a:solidFill>
                  <a:srgbClr val="1F6B4A"/>
                </a:solidFill>
                <a:latin typeface="맑은 고딕"/>
                <a:ea typeface="맑은 고딕"/>
                <a:cs typeface="맑은 고딕"/>
              </a:rPr>
              <a:t>· 절삭 외주 2건 발주 가능 · 구매목록 확정 · 설치절차서 docx 신설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6263999"/>
            <a:ext cx="72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근거: cadquery(OpenCASCADE) 커널 실측 · SMC 카탈로그 원도면 · 두산 매뉴얼 V2.12 · Isaac Sim 재검증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파이프라인 ① — OMX 시연에서 M1013 실기 추론까지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파이프라인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1026000"/>
            <a:ext cx="1638000" cy="827999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OMX 시연 데이터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v4 · 163 ep · 사람 텔레옵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016000" y="1349999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96000" y="1026000"/>
            <a:ext cx="1638000" cy="827999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TX90 변환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v5 EE → v6 joint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52000" y="1349999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32000" y="1026000"/>
            <a:ext cx="1638000" cy="827999"/>
          </a:xfrm>
          <a:prstGeom prst="roundRect">
            <a:avLst/>
          </a:prstGeom>
          <a:solidFill>
            <a:srgbClr val="5B6BD6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M1013 변환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convert_v6_m1013.py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OFFSET · TCP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688000" y="1349999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868000" y="1026000"/>
            <a:ext cx="1638000" cy="827999"/>
          </a:xfrm>
          <a:prstGeom prst="roundRect">
            <a:avLst/>
          </a:prstGeom>
          <a:solidFill>
            <a:srgbClr val="5B6BD6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데이터셋 조립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assemble_v6_m1013.py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524000" y="1349999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04000" y="1026000"/>
            <a:ext cx="1638000" cy="827999"/>
          </a:xfrm>
          <a:prstGeom prst="roundRect">
            <a:avLst/>
          </a:prstGeom>
          <a:solidFill>
            <a:srgbClr val="5B6BD6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ACT 베이스 학습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100K 스텝 · 2h45m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360000" y="1349999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40000" y="1026000"/>
            <a:ext cx="1638000" cy="827999"/>
          </a:xfrm>
          <a:prstGeom prst="roundRect">
            <a:avLst/>
          </a:prstGeom>
          <a:solidFill>
            <a:srgbClr val="9A6A00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v7 실기 수집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replay_v6_real.py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31999" y="2285999"/>
            <a:ext cx="1638000" cy="827999"/>
          </a:xfrm>
          <a:prstGeom prst="roundRect">
            <a:avLst/>
          </a:prstGeom>
          <a:solidFill>
            <a:srgbClr val="9A6A00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이어학습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v7 30~50 ep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687999" y="2609998"/>
            <a:ext cx="162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67999" y="2285999"/>
            <a:ext cx="1638000" cy="827999"/>
          </a:xfrm>
          <a:prstGeom prst="roundRect">
            <a:avLst/>
          </a:prstGeom>
          <a:solidFill>
            <a:srgbClr val="A9331D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실기 추론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gripper_ctl · dsr 래퍼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0000" y="3437998"/>
            <a:ext cx="11472119" cy="1908000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76000" y="3563998"/>
            <a:ext cx="11040119" cy="1655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4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이번 이틀이 건드린 곳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M1013 변환 — TCP 상수 0.0675 → 0.0725 (파지점 기하 하한 + 2 mm 여유). 전 궤적이 47.5 mm 밀려 있던 0.12 구본이 기본값이던 것도 정리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데이터셋 조립 · 베이스 학습 — 재조립 159 ep / 76,345 프레임 → 재학습 (loss 0.054, 이전과 동일 = 계통 오프셋이었음을 확인)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v7 실기 수집 — 수집 방식 결정(파지자세 유도 재생) + 도구 5종 전부 코드로 작성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실기 추론 — 히스테리시스 · grip-lead · DO 래퍼 (미착수였던 3종)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35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▪ 지금 학습된 것 = 「OMX 영상 + M1013 관절」. M1013 영상은 v7 이 채운다 — 그래서 v7 이 필수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회색 = 이번에 손댄 단계 · 노랑 = 로봇 도착(9/14) 후 · 빨강 = 최종 목표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파이프라인 ② — 하드웨어 3계통 (기구 · 공압 · 전기)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파이프라인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1105200"/>
            <a:ext cx="612000" cy="324000"/>
          </a:xfrm>
          <a:prstGeom prst="round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6000" y="954000"/>
            <a:ext cx="1278000" cy="630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M1013 플랜지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ISO 9409-1-50-4-M6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12000" y="1179000"/>
            <a:ext cx="126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56000" y="954000"/>
            <a:ext cx="1278000" cy="630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어댑터 AL6061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M6×10 ×4 · 9 N·m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52000" y="1179000"/>
            <a:ext cx="126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96000" y="954000"/>
            <a:ext cx="1278000" cy="630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MHF2-16D2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다월 Ø4 ×2 + M5×20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292000" y="1179000"/>
            <a:ext cx="126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36000" y="954000"/>
            <a:ext cx="1278000" cy="630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핑거 좌·우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M4×6 ×8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732000" y="1179000"/>
            <a:ext cx="126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76000" y="954000"/>
            <a:ext cx="1278000" cy="630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밸브 브래킷 PETG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M5×8 ×2 · 스페이서 6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172000" y="1179000"/>
            <a:ext cx="126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16000" y="954000"/>
            <a:ext cx="1278000" cy="630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SY5120 밸브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M3×12 접시 ×2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2113200"/>
            <a:ext cx="612000" cy="324000"/>
          </a:xfrm>
          <a:prstGeom prst="roundRect">
            <a:avLst/>
          </a:prstGeom>
          <a:solidFill>
            <a:srgbClr val="5B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16000" y="1962000"/>
            <a:ext cx="1278000" cy="630000"/>
          </a:xfrm>
          <a:prstGeom prst="roundRect">
            <a:avLst/>
          </a:prstGeom>
          <a:solidFill>
            <a:srgbClr val="5B6BD6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PL-10ST 컴프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코일호스 15 m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412000" y="2187000"/>
            <a:ext cx="126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56000" y="1962000"/>
            <a:ext cx="1278000" cy="630000"/>
          </a:xfrm>
          <a:prstGeom prst="roundRect">
            <a:avLst/>
          </a:prstGeom>
          <a:solidFill>
            <a:srgbClr val="5B6BD6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AW20 레귤레이터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0.2~0.3 MPa · 1/8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852000" y="2187000"/>
            <a:ext cx="126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996000" y="1962000"/>
            <a:ext cx="1278000" cy="630000"/>
          </a:xfrm>
          <a:prstGeom prst="roundRect">
            <a:avLst/>
          </a:prstGeom>
          <a:solidFill>
            <a:srgbClr val="5B6BD6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SY5120 P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1/8 · Ø4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292000" y="2187000"/>
            <a:ext cx="126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36000" y="1962000"/>
            <a:ext cx="1278000" cy="630000"/>
          </a:xfrm>
          <a:prstGeom prst="roundRect">
            <a:avLst/>
          </a:prstGeom>
          <a:solidFill>
            <a:srgbClr val="5B6BD6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A/B → AS1201F-M5-04A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스피드컨트롤러 ×2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732000" y="2187000"/>
            <a:ext cx="126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76000" y="1962000"/>
            <a:ext cx="1278000" cy="630000"/>
          </a:xfrm>
          <a:prstGeom prst="roundRect">
            <a:avLst/>
          </a:prstGeom>
          <a:solidFill>
            <a:srgbClr val="5B6BD6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그리퍼 「S」「O」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M5 포트 (끝면 X=+71)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172000" y="2187000"/>
            <a:ext cx="126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16000" y="1962000"/>
            <a:ext cx="1278000" cy="630000"/>
          </a:xfrm>
          <a:prstGeom prst="roundRect">
            <a:avLst/>
          </a:prstGeom>
          <a:solidFill>
            <a:srgbClr val="5B6BD6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EA/EB → AN110-01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소음기 ×2 (위로)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0000" y="3121200"/>
            <a:ext cx="612000" cy="324000"/>
          </a:xfrm>
          <a:prstGeom prst="roundRect">
            <a:avLst/>
          </a:prstGeom>
          <a:solidFill>
            <a:srgbClr val="9A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16000" y="2970000"/>
            <a:ext cx="1278000" cy="630000"/>
          </a:xfrm>
          <a:prstGeom prst="roundRect">
            <a:avLst/>
          </a:prstGeom>
          <a:solidFill>
            <a:srgbClr val="9A6A00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컨트롤러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2412000" y="3195000"/>
            <a:ext cx="126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556000" y="2970000"/>
            <a:ext cx="1278000" cy="630000"/>
          </a:xfrm>
          <a:prstGeom prst="roundRect">
            <a:avLst/>
          </a:prstGeom>
          <a:solidFill>
            <a:srgbClr val="9A6A00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팔 내부 배선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852000" y="3195000"/>
            <a:ext cx="126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996000" y="2970000"/>
            <a:ext cx="1278000" cy="630000"/>
          </a:xfrm>
          <a:prstGeom prst="roundRect">
            <a:avLst/>
          </a:prstGeom>
          <a:solidFill>
            <a:srgbClr val="9A6A00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플랜지 X1/X2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 6ch · DI 6ch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5292000" y="3195000"/>
            <a:ext cx="126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436000" y="2970000"/>
            <a:ext cx="1278000" cy="630000"/>
          </a:xfrm>
          <a:prstGeom prst="roundRect">
            <a:avLst/>
          </a:prstGeom>
          <a:solidFill>
            <a:srgbClr val="9A6A00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M8 8핀 케이블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6732000" y="3195000"/>
            <a:ext cx="126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876000" y="2970000"/>
            <a:ext cx="1278000" cy="630000"/>
          </a:xfrm>
          <a:prstGeom prst="roundRect">
            <a:avLst/>
          </a:prstGeom>
          <a:solidFill>
            <a:srgbClr val="9A6A00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 ×1 → 밸브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0=ON (반전 주의)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172000" y="3195000"/>
            <a:ext cx="126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316000" y="2970000"/>
            <a:ext cx="1278000" cy="630000"/>
          </a:xfrm>
          <a:prstGeom prst="roundRect">
            <a:avLst/>
          </a:prstGeom>
          <a:solidFill>
            <a:srgbClr val="9A6A00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DI ×2 ← D-M9N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오토스위치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0000" y="4050000"/>
            <a:ext cx="11472119" cy="1655999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76000" y="4157999"/>
            <a:ext cx="11040119" cy="151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이번에 확정된 인터페이스 값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로봇 플랜지: 4-M6 TAP DP6 @Φ50 · Φ6 H7 REAMER DP6 ×1 @0° · Φ31.5 H7 보어 · Φ63 h7 · 9 N·m  (두산 매뉴얼 p.226 원도면)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밸브: 2-M3×0.5 DP3.5 피치 22.6 「For mounting bracket」 — 넓은 옆면 (SMC 카탈로그 p.1-4-15) · 대각 ±18/±5.8 은 2-ø3.2 매니폴드용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그리퍼 M5 포트: 본체 끝면 X=+71.0, Y=±13 (간격 26.0), Z=26.6, 탭 깊이 ~5 · 스피드컨트롤러 나사부 3.0 → 바닥 안 침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툴 외형 확정: X −71.0 ~ +94.5 · Y −62.3 ~ +46.1 · Z −4 ~ +83 · J6 최대 선회 반경 ≈ 113 mm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35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▪ DO/DI 극성이 서로 다르다 — SetToolDigitalOutput 0=ON, GetToolDigitalInput 1=ON  (dsr_msgs2 srv 정의 직접 확인)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M1013 은 팔 내부 공압 배관이 없어 밸브를 툴단에 올린다 — 공기는 밖에서, 전기는 플랜지에서 와서 툴 끝에서 만난다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파이프라인 ③ — 정책 출력이 그리퍼를 움직이기까지 (gripper_ctl.py)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파이프라인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1026000"/>
            <a:ext cx="1548000" cy="864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정책 (ACT)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30 Hz · 0~1 연속값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낮을수록 닫힘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926000" y="1368000"/>
            <a:ext cx="144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88000" y="1026000"/>
            <a:ext cx="1548000" cy="864000"/>
          </a:xfrm>
          <a:prstGeom prst="roundRect">
            <a:avLst/>
          </a:prstGeom>
          <a:solidFill>
            <a:srgbClr val="5B6BD6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히스테리시스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최소유지 0.5 s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0.359 / 0.559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654000" y="1368000"/>
            <a:ext cx="144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16000" y="1026000"/>
            <a:ext cx="1548000" cy="864000"/>
          </a:xfrm>
          <a:prstGeom prst="roundRect">
            <a:avLst/>
          </a:prstGeom>
          <a:solidFill>
            <a:srgbClr val="5B6BD6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grip-lead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액션 청크 k 프레임 앞보기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(실측 후 채움)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382000" y="1368000"/>
            <a:ext cx="144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544000" y="1026000"/>
            <a:ext cx="1548000" cy="864000"/>
          </a:xfrm>
          <a:prstGeom prst="roundRect">
            <a:avLst/>
          </a:prstGeom>
          <a:solidFill>
            <a:srgbClr val="5B6BD6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ROS2 래퍼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io/set_tool_digital_output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 = 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10000" y="1368000"/>
            <a:ext cx="144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72000" y="1026000"/>
            <a:ext cx="1548000" cy="864000"/>
          </a:xfrm>
          <a:prstGeom prst="roundRect">
            <a:avLst/>
          </a:prstGeom>
          <a:solidFill>
            <a:srgbClr val="9A6A00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플랜지 DO → M8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→ SY5120 솔레노이드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838000" y="1368000"/>
            <a:ext cx="144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00000" y="1026000"/>
            <a:ext cx="1548000" cy="864000"/>
          </a:xfrm>
          <a:prstGeom prst="roundRect">
            <a:avLst/>
          </a:prstGeom>
          <a:solidFill>
            <a:srgbClr val="9A6A00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공기 방향 전환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→ MHF2 개폐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51999" y="2286000"/>
            <a:ext cx="1548000" cy="864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D-M9N 오토스위치 ×2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열림 · 닫힘 실측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417999" y="2628000"/>
            <a:ext cx="144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579999" y="2286000"/>
            <a:ext cx="1548000" cy="864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DI → gripper/closed_real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정책에 실제 상태 피드백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0000" y="3510000"/>
            <a:ext cx="5616000" cy="2160000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0000" y="3618000"/>
            <a:ext cx="5328000" cy="19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왜 3단계가 한 묶음인가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같은 신호 경로의 연속 3단계 — 따로 짜면 인터페이스를 두 번 맞춰야 함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래퍼만 있고 히스테리시스가 없으면 첫 실행에서 그리퍼가 상한다 (초당 수십 번 딸깍)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①②는 순수 로직 → ROS2 없이 지금 테스트 완료. ③은 뼈대 완료, DO 채널 번호만 실물에서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350" b="0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▪ grip-lead 값은 실측 필요 → measure_grip_lead.py 로 벤치에서 30분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2000" y="3510000"/>
            <a:ext cx="5652000" cy="216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72000" y="3618000"/>
            <a:ext cx="5328000" cy="19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50" b="1">
                <a:solidFill>
                  <a:srgbClr val="1F6B4A"/>
                </a:solidFill>
                <a:latin typeface="맑은 고딕"/>
                <a:ea typeface="맑은 고딕"/>
                <a:cs typeface="맑은 고딕"/>
              </a:rPr>
              <a:t>자체 테스트 결과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합성 채터링(±0.03): 단일 임계값 전이 83회/6s = 초당 13.8회 ★ MHF2 한계 초과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350" b="1">
                <a:solidFill>
                  <a:srgbClr val="1F6B4A"/>
                </a:solidFill>
                <a:latin typeface="맑은 고딕"/>
                <a:ea typeface="맑은 고딕"/>
                <a:cs typeface="맑은 고딕"/>
              </a:rPr>
              <a:t>▪ 히스테리시스 + 최소유지: 전이 0회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실제 에피소드 3개: 전이 2회(닫힘1+열림1) 그대로 — 정상 신호를 왜곡하지 않음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3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grip-lead: 현재값 0.69(열림)인데 3프레임 뒤 0.23(닫힘) → lead 0.1 s 로 미리 닫음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MHF2-16D2 최대 60 c.p.m. = 초당 1사이클. 과제는 에피소드당 개폐 1회라 최소유지 0.5 s 로 여유 충분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이틀 타임라인 — 무엇을 어떤 순서로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개요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918000"/>
          <a:ext cx="5687999" cy="20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692"/>
                <a:gridCol w="4922307"/>
              </a:tblGrid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9/8 (월)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오전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SY5120 CAD 확보 경로 조사 → PARTcommunity STEP AP214 + 6면도 DXF 수령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커널 실측 90.8×33×17.1 · 포트 16.2 · 대각 구멍 ±18/±5.8 발견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 「브래킷 22.6 이 틀렸다」 오판 → 카탈로그 원도면으로 정정 (22.6 맞음)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오후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TX90 밸브 사진 → 옆면 접합 추정 · 영수증에서 Ø6 피팅 발견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감사: 조립순서 누락(M3 갇힘) · 카운터싱크 Ø7.0 · CoG 낡음 · PETG 크리프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브래킷 재생성 · 발주서 4건 반영 · 설치절차서 docx 신설 (6쪽)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하단 포트면 ↔ 어댑터 간섭 제기 (전제 미확인으로 보류)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63999" y="918000"/>
          <a:ext cx="5579999" cy="20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153"/>
                <a:gridCol w="4828846"/>
              </a:tblGrid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9/9 (화)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오전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TX90 미사용 확정 → 밸브 이관 · 스피드컨트롤러 구매 확정 → 툴 외형 X +94.5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카메라 U20CAM-720P 확정(정면·손목 동일) → 640×480 은 크롭, HFOV 63.4° 발견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M3 체결면 논리 확정 → 스페이서 6 mm → ★ 어댑터 STEP Z 뒤집힘 오판 발견·정정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로봇 플랜지 원도면(p.226) 발견 → 미검증 0 · Ø6×16 핀 추가 · 리머 절차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오후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wristcam_solve 정적 DELTA 버그(190 mm) → wristcam_check.py 순수기하 검증기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TCP 0.0725 결정 → 재변환 → 데이터 3세대 정리 → 재학습 15:06~17:51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 3종 + v7 도구 5종 작성 · 작업대 40×50 · 높이 허용 −13~+2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0000" y="3222000"/>
            <a:ext cx="1147211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0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★ = 내가 낸 오판을 같은 날 스스로 잡아 정정한 지점. 셋 다 「검증되지 않은 전제로 결론을 냈다」는 같은 패턴이었다.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재학습은 백그라운드에서 돌리고 그 시간에 소프트웨어를 작성했다 — GPU 와 CPU 작업이 겹치지 않음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결론 — 지금 어디까지 왔나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개요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954000"/>
            <a:ext cx="2826000" cy="309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04000" y="1097999"/>
            <a:ext cx="2520000" cy="342000"/>
          </a:xfrm>
          <a:prstGeom prst="roundRect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하드웨어 설계 — 미검증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" y="1566000"/>
            <a:ext cx="2520000" cy="230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로봇 플랜지 · 그리퍼 · 밸브 세 인터페이스 전부 원도면/CAD 대조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간섭 0 (밸브·피팅·소음기·스피드컨트롤러 포함 16,478 삼각형 전수)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볼트 3종 길이 전부 상대 탭 깊이로 검산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어댑터·핑거 절삭 발주 가능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4000" y="954000"/>
            <a:ext cx="2826000" cy="3096000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3438000" y="1097999"/>
            <a:ext cx="2520000" cy="342000"/>
          </a:xfrm>
          <a:prstGeom prst="round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데이터·모델 — 좌표계 정정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6000" y="1566000"/>
            <a:ext cx="2520000" cy="230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TCP 0.0725 (파지점). 3세대 섞임 정리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재변환 159/159 · 재학습 loss 0.054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지금 모델 = OMX 영상 + M1013 관절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M1013 영상은 v7 이 채운다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8000" y="954000"/>
            <a:ext cx="2826000" cy="3096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372000" y="1097999"/>
            <a:ext cx="2520000" cy="342000"/>
          </a:xfrm>
          <a:prstGeom prst="roundRect">
            <a:avLst/>
          </a:prstGeom>
          <a:solidFill>
            <a:srgbClr val="5B6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소프트웨어 — 미착수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0000" y="1566000"/>
            <a:ext cx="2520000" cy="230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gripper_ctl · measure_grip_lead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camera_uvc_node · replay_v6_real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m1013_config.yaml · wristcam_check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실물에서 채울 상수 3개만 남음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62000" y="954000"/>
            <a:ext cx="2826000" cy="3096000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9306000" y="1097999"/>
            <a:ext cx="2520000" cy="342000"/>
          </a:xfrm>
          <a:prstGeom prst="roundRect">
            <a:avLst/>
          </a:prstGeom>
          <a:solidFill>
            <a:srgbClr val="9A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남은 병목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4000" y="1566000"/>
            <a:ext cx="2520000" cy="230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절삭 외주가 로봇(9/14)보다 늦음 ★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손목캠 브래킷 — 09-11 재설계됨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밸브 뗄 때 확인 4건</a:t>
            </a:r>
          </a:p>
          <a:p>
            <a:pPr>
              <a:lnSpc>
                <a:spcPct val="118000"/>
              </a:lnSpc>
              <a:spcBef>
                <a:spcPts val="7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작업대 높이·설치 방식 (도착 후)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0000" y="4230000"/>
          <a:ext cx="11472117" cy="13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675"/>
                <a:gridCol w="4871721"/>
                <a:gridCol w="4871721"/>
              </a:tblGrid>
              <a:tr h="2664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9/8 시작 시점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9/9 종료 시점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26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미검증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로봇 플랜지 4-M6 탭 (메시가 구멍 생략)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 — 매뉴얼 p.226 원도면으로 대조 완료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6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TCP 상수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0.0675 (판 3 mm 관통, 기하적 불가) · 학습된 모델은 0.12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0.0725 · 재변환 · 재학습 완료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6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dsr 래퍼 · 히스테리시스 · grip-lead 미착수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3종 + v7 도구 전부 코드 존재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664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카메라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기종 미상, HFOV 90° 가정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U20CAM-720P 확정 · 85.6° 재검증 통과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★ 로봇 도착이 9/20 → 9/14 로 앞당겨져(09-11 갱신) 절삭 외주 리드타임이 새 병목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밸브 CAD 확보 — CADENAS 모델의 한계와 카탈로그 대조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1 / 밸브</a:t>
            </a:r>
          </a:p>
        </p:txBody>
      </p:sp>
      <p:pic>
        <p:nvPicPr>
          <p:cNvPr id="4" name="Picture 3" descr="valve_6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446109"/>
            <a:ext cx="6300000" cy="23277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4330800"/>
            <a:ext cx="630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cad/2_b — CADENAS 6면도 (ezdxf 렌더). 마젠타 = 숨은선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12000" y="918000"/>
            <a:ext cx="4932000" cy="3384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092000" y="1026000"/>
            <a:ext cx="4644000" cy="32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입수 경로 (권장 순)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1. SMC PARTcommunity (CADENAS) — 형번 조립 후 STEP/DXF, 로그인 무료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2. 한국SMC CAD 다운로드 (같은 엔진)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3. MISUMI 상세페이지 — SY5120-5LOZ-01 그대로 검색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포맷: 3D는 STEP AP214a (cadquery 바로 읽음), 2D는 DXF 2013 삼각법</a:t>
            </a:r>
          </a:p>
          <a:p>
            <a:pPr>
              <a:lnSpc>
                <a:spcPct val="118000"/>
              </a:lnSpc>
              <a:spcBef>
                <a:spcPts val="900"/>
              </a:spcBef>
            </a:pPr>
            <a:r>
              <a:rPr sz="13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커널 실측 (cad/1_b/SY5120-5LOZ-01_V2.stp)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솔리드 1 · 면 85 · 90.80 × 33.00 × 17.10 mm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A/B 포트 Rc1/8 (Ø8.566 탭) 피치 16.2 · Ø14.8 보스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대각 구멍 Ø5.8 @ X±18.0 / Z±5.8 = 36 × 11.6</a:t>
            </a:r>
          </a:p>
          <a:p>
            <a:pPr>
              <a:lnSpc>
                <a:spcPct val="118000"/>
              </a:lnSpc>
              <a:spcBef>
                <a:spcPts val="900"/>
              </a:spcBef>
            </a:pPr>
            <a:r>
              <a:rPr sz="130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★ 한계 — 모델이 생략한 것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바닥면 P·EA·EB 포트 3개 (바닥 700.7 mm² 에 구멍 0)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2-M3 브래킷 탭 (카탈로그엔 있음)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→ CADENAS 모델은 작은 탭·포트를 생략한다. 치수 근거는 카탈로그 원도면을 원본으로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4517999"/>
          <a:ext cx="11472118" cy="10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0820"/>
                <a:gridCol w="2220410"/>
                <a:gridCol w="4810888"/>
              </a:tblGrid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카탈로그 SY5000 p.1-4-15 표기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의미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2-M3 x 0.5 depth 3.5 (For mounting bracket)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피치 22.6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브래킷 체결 — 우리가 쓰는 것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2-ø3.2 (For manifold mounting)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피치 36 · 오프셋 11.6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매니폴드 장착용 — CAD 에서 본 대각 구멍이 이것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1/8 (P, EA, EB port) · 2-ø2.2 die-cast hole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피치 27.2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매니폴드 접합면(바닥)의 포트 3개 + 가스켓 핀홀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SMC 카탈로그 PDF: content2.smcetech.com/pdf/SY5000.pdf (p.7~9 에 body ported 치수) · CADENAS 라이선스 CC BY-ND 4.0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트러블슈팅 ① — 「브래킷 22.6 이 틀렸다」 오판과 정정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2 / 밸브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990000"/>
            <a:ext cx="2124000" cy="936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CAD 실측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대각 Ø5.8 @ ±18/±5.8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(=36 × 11.6)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02000" y="1368000"/>
            <a:ext cx="144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64000" y="990000"/>
            <a:ext cx="2124000" cy="936000"/>
          </a:xfrm>
          <a:prstGeom prst="roundRect">
            <a:avLst/>
          </a:prstGeom>
          <a:solidFill>
            <a:srgbClr val="A9331D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오판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「이게 체결 구멍이다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브래킷 22.6 틀림」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6000" y="1368000"/>
            <a:ext cx="144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68000" y="990000"/>
            <a:ext cx="2124000" cy="936000"/>
          </a:xfrm>
          <a:prstGeom prst="roundRect">
            <a:avLst/>
          </a:prstGeom>
          <a:solidFill>
            <a:srgbClr val="9A6A00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발주서 확인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22.6 = 「카탈로그 기록값」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미확인 항목이었음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10000" y="1368000"/>
            <a:ext cx="144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72000" y="990000"/>
            <a:ext cx="2124000" cy="936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카탈로그 원도면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2-M3 DP3.5 피치 22.6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명기 발견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414000" y="1368000"/>
            <a:ext cx="144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76000" y="990000"/>
            <a:ext cx="2124000" cy="936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정정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대각은 2-ø3.2 매니폴드용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브래킷 원래 맞음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00" y="2142000"/>
            <a:ext cx="5616000" cy="3204000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0000" y="2250000"/>
            <a:ext cx="5292000" cy="30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5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왜 틀렸나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CADENAS 모델에 실재하는 유일한 체결용 구멍이 대각 ±18/±5.8 이었고, 「나머지 하나」를 브래킷용으로 오인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2-M3 탭은 모델에서 생략돼 있었다 — 「없는 것」을 「없다」고 판단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22.6 이 발주서에 「카탈로그 기록값」으로 적혀 있었는데, 그 카탈로그를 안 보고 CAD 를 우선했다</a:t>
            </a:r>
          </a:p>
          <a:p>
            <a:pPr>
              <a:lnSpc>
                <a:spcPct val="118000"/>
              </a:lnSpc>
              <a:spcBef>
                <a:spcPts val="900"/>
              </a:spcBef>
            </a:pPr>
            <a:r>
              <a:rPr sz="1350" b="1">
                <a:solidFill>
                  <a:srgbClr val="1F6B4A"/>
                </a:solidFill>
                <a:latin typeface="맑은 고딕"/>
                <a:ea typeface="맑은 고딕"/>
                <a:cs typeface="맑은 고딕"/>
              </a:rPr>
              <a:t>어떻게 잡았나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사용자가 「다시 뽑아줘」 했을 때, 좌표를 고치기 전에 SMC 카탈로그 PDF 를 받아 p.1-4-15 를 렌더해 읽음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「22.6 / 2-M3 x 0.5 depth 3.5 / (For mounting bracket)」 가 그대로 있었다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대각 구멍은 「36 / 2-ø3.2 / (For manifold mounting)」 — 완전히 다른 피처</a:t>
            </a:r>
          </a:p>
          <a:p>
            <a:pPr>
              <a:lnSpc>
                <a:spcPct val="118000"/>
              </a:lnSpc>
              <a:spcBef>
                <a:spcPts val="900"/>
              </a:spcBef>
            </a:pPr>
            <a:r>
              <a:rPr sz="13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교훈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잘못된 좌표로 브래킷을 다시 뽑았으면 못 쓰는 부품이 될 뻔했다. 「고치기 전에 원본 확인」이 맞았다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2000" y="2142000"/>
            <a:ext cx="5652000" cy="3204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72000" y="2250000"/>
            <a:ext cx="5328000" cy="30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이후 확정된 사실 (9/9)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2-M3 는 넓은 옆면(90.8×33)에 있다 — 사진 없이 논리로 확정: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   A·B 면은 Ø14.8 보스가 X 0.7~15.5 점유, P·EA·EB 면은 EA 가 X −18.45~−8.75 점유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   → M3 를 ±11.3 에 둘 자리가 두 좁은 면 어디에도 없다. 포트면으로는 붙일 수 없으니 옆면이 유일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TX90 실물 사진에서도 두 좁은 면이 전부 포트로 점유·노출 → 옆면 접합 확인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M3 탭 깊이 3.5 → M3×6 (물림 2.0) 선정도 유효했음</a:t>
            </a:r>
          </a:p>
          <a:p>
            <a:pPr>
              <a:lnSpc>
                <a:spcPct val="118000"/>
              </a:lnSpc>
              <a:spcBef>
                <a:spcPts val="900"/>
              </a:spcBef>
            </a:pPr>
            <a:r>
              <a:rPr sz="130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남은 실물 확인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옆면 어느 높이에 M3 가 있는지 (중앙 가정 ±3 mm 는 결론에 영향 없음)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발주서 「2026-09-07 §8 미확인 항목 #1: 22.6 카탈로그 기록값 → 유지」 가 이 건으로 「원도면 확인 완료」로 닫혔다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트러블슈팅 ② — 어댑터 STEP 의 Z 축이 뒤집혀 있었다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3 / 좌표계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918000"/>
          <a:ext cx="5760000" cy="159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8800"/>
                <a:gridCol w="2227200"/>
                <a:gridCol w="2304000"/>
              </a:tblGrid>
              <a:tr h="266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adapter_m1013_mhf2.step (자체 좌표)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tool_assembly_flangelocal.stl (플랜지 로컬 정본)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2664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Ø11 카운터보어 DP7.5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Z 0.0 ~ 7.5  ← 그리퍼 쪽 면이 Z=0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664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Ø31.5 스피곳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Z 12.0 ~ 16.0  ← 로봇 쪽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Z −4.0 ~ 0.0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664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Z 0 ~ 12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Z 0 ~ 12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664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그리퍼 접합면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Z = 0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Z = 12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664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매핑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Consolas"/>
                          <a:ea typeface="Consolas"/>
                          <a:cs typeface="Consolas"/>
                        </a:rPr>
                        <a:t>Z_assembly = 12 − Z_step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336000" y="918000"/>
            <a:ext cx="5508000" cy="1692000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16000" y="1026000"/>
            <a:ext cx="5184000" cy="15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5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이 착오가 만든 오판 2개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① 「어댑터 상면 Z=16, 밸브 하단 포트면 Z=15.5 → 축방향 여유 −0.5 mm」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   실제 어댑터 상면 Z=12 → 여유 +3.5 mm  (스페이서 결론은 Y 방향이라 불변)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② 「브래킷 M5 구멍 Z=32 vs 그리퍼 측면 탭 Z=16+20=36, 4 mm 어긋남」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   실제 12+20 = 32 → 브래킷과 정확히 일치. 09-07 의 「조인트 5종 일치」가 맞았다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2790000"/>
            <a:ext cx="11472119" cy="259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0000" y="2898000"/>
            <a:ext cx="11112119" cy="24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어떻게 잡았나 — 「그리퍼 로컬 Y → 플랜지 Z」 매핑을 독립 피처로 검산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그리퍼 STEP 배면 Ø4 다월 (0, −3.3, ±65.0 / −65.5·−64.5 장공) ↔ 어댑터 다월 X=±65.0  → 그리퍼 Z = 플랜지 X 확정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그리퍼 조 블록 밑면 Y=−33 + 조 38 돌출 = 플랜지 Z 83 (조립체 Z 최대) 이 되려면 접합면이 Z=12 여야 한다 — 16 이면 87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어댑터 STEP 의 카운터보어가 Z 0~7.5 에 있음 = 그리퍼 쪽 면이 Z=0 = 스피곳이 +Z 쪽 → 플랜지 로컬과 뒤집힘 확인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조립체 STL 어댑터 영역 Z 값 {−4, 0, 12, …} 로 스피곳 −4~0 · 판 0~12 재확인</a:t>
            </a:r>
          </a:p>
          <a:p>
            <a:pPr>
              <a:lnSpc>
                <a:spcPct val="118000"/>
              </a:lnSpc>
              <a:spcBef>
                <a:spcPts val="900"/>
              </a:spcBef>
            </a:pPr>
            <a:r>
              <a:rPr sz="130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교훈 — 메모리에 「함정」으로 기록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부품 STEP 의 자체 좌표를 조립 좌표로 쓰지 말 것. 플랜지 로컬 정본은 tool_assembly_flangelocal.stl 하나뿐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「기존 검증(09-07)이 틀렸다」는 결론이 나오면 먼저 내 매핑을 의심할 것 — 두 번 다 내가 틀렸다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같은 착오가 하루 사이 두 번 다른 오판을 만들었다. 좌표계 함정은 메모리 m1013-sy5120-valve-cad 에 기록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밸브 옆면 접합 확정 → 하단 포트면 피팅이 어댑터·손목과 부딪힌다 → 스페이서 6 mm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4 / 브래킷</a:t>
            </a:r>
          </a:p>
        </p:txBody>
      </p:sp>
      <p:pic>
        <p:nvPicPr>
          <p:cNvPr id="4" name="Picture 3" descr="valve_bracket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00" y="882000"/>
            <a:ext cx="6534000" cy="356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4474800"/>
            <a:ext cx="6552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플랜지 로컬 Y–Z 단면 개략도 (스페이서 반영 후)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28000" y="918000"/>
          <a:ext cx="4715998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5230"/>
                <a:gridCol w="1360384"/>
                <a:gridCol w="1360384"/>
              </a:tblGrid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Y 방향 여유 (어댑터 Y ≤ 35)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스페이서 0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스페이서 6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밸브 접합면 Y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29.0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35.0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포트 중심선 Y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37.55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43.55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1/8 피팅 Ø14 안쪽 끝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30.55 → 4.45 겹침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36.55 → +1.55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소음기 AN110-01 Ø13 안쪽 끝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31.05 → 3.95 겹침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37.05 → +2.05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28000" y="2358000"/>
            <a:ext cx="4716000" cy="21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Z 방향은 문제가 아니다 — Y 방향이 문제다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옆면 접합 → 밸브 높이 33 이 Z 방향, 브래킷 M3 Z=32 → 포트면 Z 15.5 / 48.5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하단면 피팅은 −Z 로 20 mm+ 내려가 어댑터(Z −4~12)를 관통 — 피할 길은 Y 뿐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대안 검토: 브래킷 M3 를 Z 로 올리기 → 피팅이 여전히 어댑터를 향함 ✗ / 어댑터 모서리 따내기 → 절삭 발주 지연 ✗ / 엘보 피팅 → 부분 완화만 △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스페이서(+Y)가 유일하게 완전 해결. 자체 출력물이라 비용 0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25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방향 제약 — 소음기는 위로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소음기 아래(−Z)로 두면 Z −11.4 까지 내려가 link_6 충돌 메시와 −1.91 / −4.35 mm 충돌 (두산 DAE, translate 보정 후 Z max 0.001 확인)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위(+Z)로 두면 Z 48.5→75.4, link_6 (Z≤0) 와 무관. 배기가 어댑터를 안 때리는 부수 이점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09-08 에는 「소음기 Ø17 이라 여유 0.05」 를 근거로 썼으나 CAD 실측 Ø13 — 제약 자체는 유효하되 이유가 link_6 충돌로 바뀜 (정정 ③)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밸브 브래킷 v3 — 카운터싱크 Ø7.0 · 스페이서 6 · M3×12 · 조립 순서 신설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5 / 브래킷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918000"/>
          <a:ext cx="576000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864000"/>
                <a:gridCol w="1296000"/>
                <a:gridCol w="2520000"/>
              </a:tblGrid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이전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v3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카운터싱크 (Y=25 면)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Ø6.2 깊이 1.4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Ø7.0 깊이 1.8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ISO 10642 M3 dk 이론최대 6.72 → 6.2 면 최대 0.26 돌출, 브래킷이 그리퍼에 안 밀착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스페이서 패드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X±22 · Z 21~43 · 6 mm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하단 포트 피팅 ↔ 어댑터 Y 여유 확보 (앞 장)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M3 나사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M3×6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M3×12 접시머리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통과 4→10 mm. ×6 이면 물림 0, ×14 는 4.0&gt;3.5 바닥 침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조임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0.8 N·m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0.5 N·m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물림 2.0 · 다이캐스트 암나사 스트립 여유 1.16→1.86배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질량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18.98 g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26.19 g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PETG 1.27 g/cc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간섭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 / 16,478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밸브 옆면 접합 포락 AABB 전수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336000" y="918000"/>
            <a:ext cx="5508000" cy="1908000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16000" y="1026000"/>
            <a:ext cx="5184000" cy="17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★ 조립 순서에 밸브 장착 시점이 빠져 있었다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M3 접시머리 머리는 브래킷의 「그리퍼 쪽 면」에 잠긴다. 브래킷을 그리퍼에 먼저 붙이면 머리가 그리퍼 측면과 브래킷 사이에 갇혀 렌치가 못 들어간다 → 밸브를 영영 못 단다.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→ 4번 「밸브 → 브래킷」 신설, 5번 「브래킷 서브어셈블리 → 그리퍼」, 6번 배관 으로 재번호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발주서가 스스로 경고한 「순서 틀리면 볼트에 접근 못 함」 에 정확히 해당하는데 누락돼 있었다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6000" y="2934000"/>
            <a:ext cx="5508000" cy="2484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16000" y="3024000"/>
            <a:ext cx="5184000" cy="23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5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걱정거리로 남긴 것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PETG 크리프 — M3 0.5 N·m 축력 833 N 이 Ø7 원뿔면에 ~20 MPa (압축항복의 2.5배 여유). 지속하중 크리프 → 록타이트 243 또는 0.3 N·m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무게중심 (−0.8,+3.6,+25.1) 은 09-03 값 — 브래킷 11.3→26.2 g · 밸브 +Y 6 · 공압 부속 +82 g 미반영. +Y 4~8 mm 이동 예상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Tool Weight 1.22 → ≈1.30 kg + 카메라. 소음기·피팅은 CAD 체적으로 산정 불가 → 실물 계량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밸브(Z 33)가 판(Z 28)보다 위아래 2.5 mm 오버행 — 기능 무해 · 포트 방향 180° 자유 → P·EA·EB 위 / A·B 아래 명시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cad/valve_bracket_sy5120.step / .stl — 면 12개 위상 유지, bbox 136×10×28 · 출력 가능 (구본은 git 에 보존)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로봇 플랜지 인터페이스 — 마지막 미검증 항목이 매뉴얼 안에 있었다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6 / 플랜지</a:t>
            </a:r>
          </a:p>
        </p:txBody>
      </p:sp>
      <p:pic>
        <p:nvPicPr>
          <p:cNvPr id="4" name="Picture 3" descr="flange_p2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374104"/>
            <a:ext cx="6120000" cy="24717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4366800"/>
            <a:ext cx="612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두산 User manual V2.12 p.226 「툴 출력 플랜지, ISO 9409-1-50-4-M6」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96000" y="918000"/>
          <a:ext cx="5147998" cy="18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532"/>
                <a:gridCol w="1953985"/>
                <a:gridCol w="1953985"/>
                <a:gridCol w="488496"/>
              </a:tblGrid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도면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어댑터 설계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볼트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4-M6 TAP DP6 @Φ50 90°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Ø6.6 관통 ×4 @PCD50 45°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✅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물림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탭 깊이 6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M6×10 → 5.5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✅ 0.5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위치결정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Φ6 H7 REAMER DP6 ×1 @0°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Ø5.8 하도 ×4 @0/90/180/270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✅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센터링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Φ31.5 H7 보어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Ø31.5 h7 스피곳 돌출 4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✅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접촉면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Φ63 h7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140×70 평판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✅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토크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권장 9 N·m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 N·m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✅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96000" y="2790000"/>
            <a:ext cx="5148000" cy="18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덤으로 확인된 것</a:t>
            </a:r>
          </a:p>
          <a:p>
            <a:pPr>
              <a:lnSpc>
                <a:spcPct val="118000"/>
              </a:lnSpc>
              <a:spcBef>
                <a:spcPts val="3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탭 DP6 → M6×12 면 물림 7.5 &gt; 6 바닥 침. 09-06 의 ×10 변경이 독립 근거로 재확인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메시 교차검증 — 플랜지 면 정점 반경 16.75 (Ø31.5+C1) · 30.5 (Ø63+C1). 볼트 홀만 생략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리머 핀홀 0° 1개 → 어댑터 4방향 하도로 어느 클로킹이든 1곳이 맞음 — 설계 의도 검증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Ø6×16 ISO 2338 m6 핀 추가. 리머는 가조립 상태에서 현장 가공 (DO NOT REAM 유지)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4662000"/>
          <a:ext cx="11472118" cy="77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5539"/>
                <a:gridCol w="4741809"/>
                <a:gridCol w="4894770"/>
              </a:tblGrid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메시 (dsr_description2)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매뉴얼 p.226 원도면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플랜지 면 정점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반경 16.5 · 17.0 · 30.5 뿐 — 볼트 홀 없음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4-M6 · Φ6 리머 · Φ31.5 · Φ63 전부 치수 명기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결론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불가 (09-07 「메시가 작은 구멍 생략」)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완료 → 어댑터 미검증 항목 0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「제공된 CAD 서칭 안 돼?」 라는 질문이 계기 — 메시 4종 재확인 후 로컬 PDF 매뉴얼에서 도면 발견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스피드컨트롤러 · 소음기 CAD 실측 → 툴 외형 확정 · 손목 충돌 검사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7 / 공압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918000"/>
          <a:ext cx="5687999" cy="155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4124"/>
                <a:gridCol w="1422000"/>
                <a:gridCol w="2221875"/>
              </a:tblGrid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AS1201F-M5-04A (cad/speed_2)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실측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의미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나사 착좌면 기준 돌출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23.50 mm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카탈로그 치수 A(unlock) 와 일치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나사부 길이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3.00 mm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그리퍼 M5 탭 ~5.0 → 바닥 안 침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폭 / 튜브방향 전장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9.40 / 22.00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육각 9 스펙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Ø4 튜브 축 높이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13.90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엘보 회전 자유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툴 X 최대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71.0 + 23.5 = 94.5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종전 ±71 → 비대칭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63999" y="918000"/>
          <a:ext cx="5579999" cy="155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363"/>
                <a:gridCol w="1690909"/>
                <a:gridCol w="2282727"/>
              </a:tblGrid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AN110-01 (cad/noise_2)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실측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의미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바디 Ø / 전장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Ø13.00 / 34.00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09-08 가정 Ø17 → 정정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R1/8 나사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Ø9.73 · 6.52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착좌면 기준 돌출 26.90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아래로 두면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link_6 와 −1.91 / −4.35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충돌 — 위로 둘 것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위로 두면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Z 48.5 → 75.4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툴 Z 최대 83 이내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색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소결 동합금 = 금속색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TX90 흰 원통은 수지형(AN10-01)일 가능성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0000" y="2790000"/>
            <a:ext cx="11472119" cy="2592000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0000" y="2898000"/>
            <a:ext cx="11112119" cy="24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그리퍼 M5 포트는 옆면이 아니라 끝면이었다 (MHF2 STEP 커널 실측)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Ø4.13 (M5 탭 드릴) 2개 · 축 Z · (X=±13, Y=−10.6, Z 66→70.6) → 간격 26.0 = 문서와 일치 · 본체 Z=+71.0 끝면에서 뚫림 · 깊이 ~5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플랜지 로컬 = (X=+71.0, Y=±13, Z=26.6). 밸브 A·B(X 중앙)에서 약 68 mm 튜브가 간다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매핑 검산: 그리퍼 배면 Ø4 다월 (Z=+65.0, −65.5/−64.5 장공) ↔ 어댑터 X=±65 · 측면 M5 (X=±25, Z=±61) ↔ 브래킷 X=±61 — 세 계열 자기일관</a:t>
            </a:r>
          </a:p>
          <a:p>
            <a:pPr>
              <a:lnSpc>
                <a:spcPct val="118000"/>
              </a:lnSpc>
              <a:spcBef>
                <a:spcPts val="900"/>
              </a:spcBef>
            </a:pPr>
            <a:r>
              <a:rPr sz="135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툴 외형 · 선회 반경 (Isaac 충돌 볼륨 갱신 대상)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X −71.0 ~ +94.5 · Y −62.3 ~ +46.1 · Z −4 ~ +83.  J6 최대 선회 반경 √(94.5²+62.3²) ≈ 113 mm (종전 ≈95)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스피드컨트롤러 엘보 회전 자유 포락(R 17.2) 으로 조립체 전수 → 겹침 0. 두 피팅 사이 여유 26.0−9.4 = 16.6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▪ 툴 조 완전 개방 시 핑거가 X ±75 까지 (닫힘 ±71) — 실사용 개방폭에선 무관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CADENAS STEP 은 질량 산정에 쓰지 말 것 — AN110-01 은 면 8개짜리 단순화 형상 · 링크 SMC AS 카탈로그: content2.smcetech.com/pdf/AS_1F-A_EU.pdf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카메라 — U20CAM-720P 확정, 640×480 은 크롭이라 화각이 63.4° 로 준다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8 / 카메라</a:t>
            </a:r>
          </a:p>
        </p:txBody>
      </p:sp>
      <p:pic>
        <p:nvPicPr>
          <p:cNvPr id="4" name="Picture 3" descr="hfov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903600"/>
            <a:ext cx="6192000" cy="24768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768000" y="918000"/>
            <a:ext cx="5076000" cy="2484000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948000" y="1026000"/>
            <a:ext cx="4752000" cy="2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INNOMAKER U20CAM-720P — 정면·손목 동일 기종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32×32 보드캠 · 나사구멍 Ø2.2 ×4 · M12 렌즈 마운트(교체 가능) · 고정초점 · USB 2.0 UVC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네이티브 1280×720 · FOV(D)120° / FOV(H)102°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「M12 보드캠이 M1013 에 너무 작지 않나」 → 시야는 렌즈가 정하고 캔틸레버 끝이라 가벼운 게 유리. 이미 M12 캠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「웹캠 vs 보드캠」 논쟁 → OMX 가 이미 보드캠을 쓰고 있었으니 논쟁 종료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25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★ 08-24 역산값의 불일치가 풀렸다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정면 69.9° / 손목 60.3° 가 서로 달랐던 건 정합 오차. 동일 기종·640×480 크롭이면 63.4° 가 정답 → HFOV 가 자유 파라미터에서 상수로 (7개 → 6개)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3546000"/>
          <a:ext cx="11472116" cy="10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4220"/>
                <a:gridCol w="944762"/>
                <a:gridCol w="944762"/>
                <a:gridCol w="2024491"/>
                <a:gridCol w="1349661"/>
                <a:gridCol w="3104220"/>
              </a:tblGrid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캡처 방식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HFOV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VFOV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최악 |v| (8ep 중심점)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1280×720 네이티브 (16:9)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102.0°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69.6°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0.67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4:3 데이터셋에 못 씀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v6 정책 입력이 640×480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960×720 중앙크롭 → 640×480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85.6°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69.6°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0.90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채택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센서 세로 720 전부 사용 = 4:3 최대 화각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640×480 단순 크롭 (현 OMX 파이프라인 추정)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63.4°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49.7°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1.35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불채택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ep050·ep145 에서 파지 직전 큐브 이탈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0000" y="4662000"/>
            <a:ext cx="11472119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→ v7 수집 파이프라인은 1280×720 캡처 → 960×720 중앙크롭 → 640×480 (camera_uvc_node.py). 09-04 마운트 해가 85.6° 로 그대로 유효 — 렌즈 교체 불필요.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파지 거리 114.6 mm 에서 가로 시야 212 mm, 35 mm 큐브 = 106 px. 더 광각은 왜곡만 늘고 픽셀은 줄어든다.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cameras_v6match.json 에 camera_hardware 블록 추가(참조용, fitted 값은 렌더 코드가 쓰므로 미변경) · inno-maker.com/product/u20cam-720p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트러블슈팅 ③ — 검증 도구가 카메라를 190 mm 엉뚱한 곳에 놓고 렌더하고 있었다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9 / 카메라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918000"/>
          <a:ext cx="5615999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471"/>
                <a:gridCol w="2860981"/>
                <a:gridCol w="1271547"/>
              </a:tblGrid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촬영 시점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카메라 플랜지로컬 (설계 60,−75,5)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오차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a_approach90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(54.2, −35.2, 195.4)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190.4 mm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b_approach45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(7.6, −54.0, 114.6)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109.6 mm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c_close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(39.5, −71.9, −5.4)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20.5 mm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d_grasp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(60.0, −75.0, 5.0)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0.065 mm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0000" y="2358000"/>
            <a:ext cx="561600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카메라는 플랜지에 강체로 붙어 있으니 네 값이 같아야 한다. 서보 랙을 의심해 수렴 대기를 넣었지만 값이 그대로 → 원인은 코드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DELTA(link_6 prim ↔ FK 플랜지 보정)를 J[TG] 한 자세에서만 구해 정적으로 사용. USD 아티큘레이션 운동학 ≠ m1013_kin.fk 라 다른 자세에서 어긋남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2000" y="918000"/>
            <a:ext cx="540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4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알고리즘 3안 비교 — 무엇을 왜 선택했나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92000" y="1242000"/>
          <a:ext cx="5651998" cy="13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2054"/>
                <a:gridCol w="1985837"/>
                <a:gridCol w="1756702"/>
                <a:gridCol w="687405"/>
              </a:tblGrid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채택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 정적 DELTA (기존)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파지 자세에서 1회 계산 → 고정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최대 190 mm 어긋남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✗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 자세별 DELTA 재계산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shot() 마다 place_cam(q) 로 재산정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자세 ≤ 0.008 mm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✓ 렌더용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 순수 기하 (신규)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m1013_kin.fk 만으로 투영. USD·DELTA 불필요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Isaac 렌더값 재현 · 8ep 608 프레임 수 초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✓ 검증 정본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92000" y="2718000"/>
            <a:ext cx="5652000" cy="79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C 를 정본으로 삼은 이유 — 카메라가 애초에 플랜지 로컬로 정의돼 있어 DELTA 가 필요 없다. 버그가 원천 차단되고, Isaac 없이 돌아가며, 화각을 인자로 여러 개 스윕할 수 있다. B 는 렌더 그림이 필요할 때만.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3654000"/>
            <a:ext cx="11472119" cy="1764000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0000" y="3744000"/>
            <a:ext cx="11112119" cy="1655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5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파급 — 09-04 기록의 신뢰도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「8 에피소드 최종접근 2초 21/21 통과」 도 정적 DELTA 로 돌렸다면 파지 순간 근처만 유효했을 수 있다. c_close 오차 20 mm 라 최종 2초 안에서 0~20 mm 오염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wristcam_check.py 로 8 에피소드 × 최종 2초 × 큐브 8꼭짓점 (608 프레임) 을 다시 돌려 그 기록을 대체했다 — 결과는 더 좋았다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▪ 내가 먼저 「접근 중 큐브가 잘린다」 고 보고한 것도 이 아티팩트(카메라 11 cm 어긋난 렌더)를 보고 한 오판이었다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교훈: 검증 스크립트에는 항상 기하 자기일관성 체크(카메라 플랜지로컬 == 설계값)를 넣을 것. 이번에 카메라오차(mm) 를 매 촬영에 출력하게 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wristcam_solve.py: HFOV 인자화 + place_cam(q) + RGBA 저장 비치명화 · wristcam_check.py 신규 · 메모리 m1013-step5-cameras 에 함정 기록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손목캠 시야 검증 — HFOV 85.6° 로 파지 정렬 구간 전부 가시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10 / 카메라</a:t>
            </a:r>
          </a:p>
        </p:txBody>
      </p:sp>
      <p:pic>
        <p:nvPicPr>
          <p:cNvPr id="4" name="Picture 3" descr="a_approach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882000"/>
            <a:ext cx="2736000" cy="205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2962800"/>
            <a:ext cx="2736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−3.0 s  u −0.05 / v +0.08</a:t>
            </a:r>
          </a:p>
        </p:txBody>
      </p:sp>
      <p:pic>
        <p:nvPicPr>
          <p:cNvPr id="6" name="Picture 5" descr="b_approach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1999" y="882000"/>
            <a:ext cx="2736000" cy="205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21999" y="2962800"/>
            <a:ext cx="2736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−1.5 s  u −0.00 / v +0.07</a:t>
            </a:r>
          </a:p>
        </p:txBody>
      </p:sp>
      <p:pic>
        <p:nvPicPr>
          <p:cNvPr id="8" name="Picture 7" descr="c_clo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3998" y="882000"/>
            <a:ext cx="2736000" cy="20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83998" y="2962800"/>
            <a:ext cx="2736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닫힘  u +0.04 / v +0.32</a:t>
            </a:r>
          </a:p>
        </p:txBody>
      </p:sp>
      <p:pic>
        <p:nvPicPr>
          <p:cNvPr id="10" name="Picture 9" descr="d_gras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5997" y="882000"/>
            <a:ext cx="2736000" cy="205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45997" y="2962800"/>
            <a:ext cx="2736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파지  u −0.01 / v +0.57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3222000"/>
          <a:ext cx="5615999" cy="91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610"/>
                <a:gridCol w="1903728"/>
                <a:gridCol w="2379661"/>
              </a:tblGrid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파지까지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보이는 꼭짓점 / 8 (최악 ep145)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−2.00 ~ −0.67 s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8/8 전 에피소드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정책이 정렬하는 구간 — 완전 가시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3060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−0.33 s ~ 파지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5~6/8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큐브 아랫면만 프레임 밖 — 조가 이미 감싼 뒤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60000" y="4337999"/>
            <a:ext cx="5616000" cy="10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50" b="1">
                <a:solidFill>
                  <a:srgbClr val="1F6B4A"/>
                </a:solidFill>
                <a:latin typeface="맑은 고딕"/>
                <a:ea typeface="맑은 고딕"/>
                <a:cs typeface="맑은 고딕"/>
              </a:rPr>
              <a:t>판정: 렌즈 교체 불필요. 09-04 마운트 해 (60, −75, 5) / 틸트 38.7° 그대로 유효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틸트 스윕: +5° 로 여유 10→19% 개선되나 +10° 부터 상단 이탈. 검증된 해를 건드릴 만큼은 아님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110° 광각이면 꼭짓점까지 전부 담기지만 왜곡 증가 대가 → 불필요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3222000"/>
            <a:ext cx="5652000" cy="2160000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72000" y="3330000"/>
            <a:ext cx="5328000" cy="2015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wristcam_check.py 사용법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Consolas"/>
                <a:ea typeface="Consolas"/>
                <a:cs typeface="Consolas"/>
              </a:rPr>
              <a:t>python3 wristcam_check.py 63.4 85.6 102.0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replay_ep*.npz 8개 · 최종 2초(60 프레임) + 파지 후 15 · 큐브 중심 또는 8꼭짓점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카메라 기저는 wristcam_solve.py 와 같은 규약 (USD −Z 전방 / +Y 상방, up = 파지점을 화면 아래로)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Isaac 렌더값 ep000 파지 (−0.01, +0.57) 을 정확히 재현 → 모델 검증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▪ 09-11 갱신: 손목캠 위치가 그리퍼 중앙 (0, −65, −10)·보드 세로 장착으로 바뀜. 자세 정본은 wristcam_pose.py — 이 장의 수치는 09-09 시점(60,−75,5) 기준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sim_out/wristcam_solve/*.png 은 09-09 11:29 재렌더(자세별 DELTA 적용) · 이미지 4장은 img_0909/ 에 복사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TCP 상수 — JAW_CLEAR 의 물리적 의미로 0.0725 를 정했다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11 / 데이터</a:t>
            </a:r>
          </a:p>
        </p:txBody>
      </p:sp>
      <p:pic>
        <p:nvPicPr>
          <p:cNvPr id="4" name="Picture 3" descr="tcp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917999"/>
            <a:ext cx="6480000" cy="32400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056000" y="918000"/>
          <a:ext cx="4787996" cy="125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417"/>
                <a:gridCol w="716314"/>
                <a:gridCol w="904818"/>
                <a:gridCol w="829417"/>
                <a:gridCol w="754015"/>
                <a:gridCol w="754015"/>
              </a:tblGrid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JAW_CLEAR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TCP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큐브윗면↔판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조끝↔상판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물림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2.0 (구)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0.0675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−3.0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+2.0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 관통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5.0 (하한)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0.0705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+5.0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여유 0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0.0725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+2.0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+7.0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28 (80%)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채택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10.0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0.0755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+5.0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+10.0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 (71%)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물림 얕음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056000" y="2286000"/>
            <a:ext cx="4788000" cy="2015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선택 근거</a:t>
            </a:r>
          </a:p>
          <a:p>
            <a:pPr>
              <a:lnSpc>
                <a:spcPct val="118000"/>
              </a:lnSpc>
              <a:spcBef>
                <a:spcPts val="3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하한 0.005 는 큐브 윗면이 판에 딱 닿음 → 폼 높이 편차·상판 오차·노이즈를 못 흡수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+2 mm 면 실물 변동 흡수 + 조 물림 80%. 더 키우면 큐브가 조 아래로 빠져 전도 모멘트 증가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하드웨어(조 연장)로는 못 푼다 — 판 밑면이 정하는 값이라 조를 늘려도 불변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05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⚠️ 컨트롤러 TCP 83(플랜지→조 끝)과 별개. 혼용 금지 — 83 에 큐브 중심을 두면 조가 상판 관통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000" y="4410000"/>
            <a:ext cx="11472119" cy="1007999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0000" y="4482000"/>
            <a:ext cx="11112119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50" b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실행: convert_v6_m1013.py  JAW_CLEAR 0.002 → 0.007 (근거 주석 6줄) → 재변환 6.5초 → 159/159 OK · fail 0 · FK 4.90→4.89 mm · min|q5| 45.58→45.97° (품질 저하 없음)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허용 오차(작업대 높이): 실물 상판이 설계보다 높으면 +2 mm, 낮으면 −13 mm 까지 — 비대칭. 애매하면 낮게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메모리 m1013-tcp-grasp-point 갱신 · JAW_CLEAR = 큐브가 조 끝 아래로 삐져나오는 양 = 조 끝의 상판 여유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 3세대가 섞여 있었다 — 정리 · 재변환 · 재학습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12 / 데이터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918000"/>
          <a:ext cx="5831999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7940"/>
                <a:gridCol w="696358"/>
                <a:gridCol w="696358"/>
                <a:gridCol w="2611343"/>
              </a:tblGrid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디렉터리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tcp_m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v6_staging (정리 전)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0.12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폐기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구정의 「플랜지→핑거 끝」. 09-04 이전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v6_staging_tcp0675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0.0675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폐기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 3 mm 관통 — 기하적 불가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v6_staging (정리 후)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0.0725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현행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= v6_staging_tcp0725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9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v6_staging_tcp012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0.12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보존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원래 v6_staging 이던 것을 개명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60000" y="2358000"/>
            <a:ext cx="5832000" cy="1440000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0000" y="2466000"/>
            <a:ext cx="5508000" cy="12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5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★ 기본값 지뢰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assemble_v6_m1013.py(정식 데이터셋 조립) · knn_check_m1013.py · sweep_tcp.py 가 폐기된 0.12 본을 기본값으로 가리키고 있었다. prep_replay_ep.py 만 경고 주석과 함께 _tcp0675 를 봄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→ v6_staging 을 현행본으로 재생성해 모든 기본값이 옳도록. prep_replay_ep.py 기본값·주석 갱신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8000" y="918000"/>
          <a:ext cx="5435998" cy="1763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7762"/>
                <a:gridCol w="2119118"/>
                <a:gridCol w="2119118"/>
              </a:tblGrid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재학습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08-20 (TCP 0.12)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09-09 (TCP 0.0725)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데이터셋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m1013_…_v6_joint (0.12)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재조립 159 ep / 76,345 프레임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시작 ~ 종료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13:34:48 ~ 16:19:19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15:06:40 ~ 17:51:50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소요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2h 44m 31s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2h 45m 10s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설정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 · 100K · batch 8 · RTX 5070 Ti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· 스텝당 0.099 s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loss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0.054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0.054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train_m1013_act_v6 (보존)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train_m1013_act_v6_tcp0725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8000" y="2790000"/>
            <a:ext cx="5436000" cy="1007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loss 가 같다 = TCP 오차는 학습 난이도가 아니라 좌표계 오프셋이었다. 모델은 잘못된 좌표계를 성실히 학습하고 있었다.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ep0 궤적 비교: 관절 최대 6.98° · 플랜지 위치 전 구간 정확히 47.5 mm = (0.12−0.0725)×1000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000" y="3977999"/>
            <a:ext cx="11472119" cy="1404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0000" y="4086000"/>
            <a:ext cx="11112119" cy="12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지금 학습된 것의 정체 — 「OMX 영상 + M1013 관절」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videos/…/episode_000000.mp4 → ../omx_act_pick_and_place_v4_162/… 심볼릭 링크. 영상은 OMX 원본, 관절만 변환. robot_type 도 omx_f 로 남아 있고 state/action names 가 EE 이름(x,y,z,rx,ry,rz)인 채 — 실데이터는 관절 (메타 오류, v7 설정에서 정정)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→ 실기에서 바로 못 쓴다. M1013 화면을 못 알아본다. 오늘 재학습의 목적은 「베이스를 깨끗하게」 — v7 이 47.5 mm 되돌리기와 화면 적응을 동시에 하지 않게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구 자산 전부 보존: v6_staging_tcp012 / _tcp0675 · m1013_…_v6_joint_tcp012_BAK · train_m1013_act_v6 — 언제든 되돌릴 수 있음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알고리즘 ① 히스테리시스 + 최소유지 — 대안 4개 중 선택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13 / 소프트웨어</a:t>
            </a:r>
          </a:p>
        </p:txBody>
      </p:sp>
      <p:pic>
        <p:nvPicPr>
          <p:cNvPr id="4" name="Picture 3" descr="hyster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29" y="882000"/>
            <a:ext cx="5801142" cy="33840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912000" y="918000"/>
          <a:ext cx="4931998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121"/>
                <a:gridCol w="1724195"/>
                <a:gridCol w="1924682"/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동작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문제 / 채택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단일 임계값 0.459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 &lt; th → 닫힘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경계 떨림 → 초당 13.8회 딸깍 ✗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이동평균 후 임계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 프레임 평균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지연 N/2 프레임 · 경계에선 여전히 떨림 ✗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히스테리시스 밴드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닫힘 &lt;0.359 · 열림 &gt;0.559 · 사이 유지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떨림 제거 ✓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 최소유지 0.5 s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전이 후 0.5 s 잠금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사양 60 c.p.m. 보장 ✓ 채택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12000" y="2466000"/>
            <a:ext cx="49320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규약 — 코드에 못박음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정책 채널은 낮을수록 닫힘 (닫힘 ~0.23 / 열림 ~0.69, 경계 0.459). run_policy_tx90.py 에서 승계. 처음 설명을 반대로 했다가 소스 확인으로 정정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밴드 ±0.10 — 두 군집 간격 0.46 의 절반 이내. 정상 궤적 3 ep 에서 전이 2회 그대로 (왜곡 없음)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최소유지 0.5 s = 사양 한계(초당 1사이클). 과제는 에피소드당 개폐 1회라 넉넉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GripperGate 는 상태를 들고 있으므로 에피소드마다 reset()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gripper_ctl.py — rclpy 는 run_node() 안에서만 import → 순수 로직은 ROS2 없이 import·테스트 (selftest 통과)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알고리즘 ② grip-lead (공압 지연 보상) · 두산 DO/DI 극성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14 / 소프트웨어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918000"/>
          <a:ext cx="5759999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2250000"/>
                <a:gridCol w="2069999"/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 모델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과거 출력 추세로 미래 추정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 모델 필요 · 오차 · ✗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고정 오프셋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명령을 항상 k 프레임 일찍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미래를 모르면 불가능 (실시간) ✗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액션 청크 앞보기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 가 뱉는 chunk[k] 를 본다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실시간에도 미래가 있다 ✓ 채택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0000" y="2142000"/>
            <a:ext cx="5760000" cy="1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핵심 — ACT 는 한 번에 chunk_size 개 미래 액션을 예측한다. 별도 예측이 필요 없고, k = lead_s × fps 프레임 앞을 읽으면 된다.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청크가 없으면(스칼라) 보상 없이 현재값 — 재생 모드 호환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값은 실측: measure_grip_lead.py — DO ON → 오토스위치 DI 플립까지 Δt, N 사이클, 평균+1σ 권장값 출력, 2 ms 분해능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조건: 실사용 압력 0.2~0.3 MPa · 스피드컨트롤러 최종 조임 후. 순서 거꾸로 하면 무효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안전: 열림으로 시작·종료(finally) · --dry 배선 확인 · 타임아웃 3 s · 5 프레임 초과 시 경고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「벤치 배관」 = 로봇 없이 작업대에서 공압만 연결한 상태. 압력·속도·방향 확인은 거기서, 지연 실측은 로봇 DO/DI 가 한 컴퓨터라 편함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36000" y="918000"/>
            <a:ext cx="5508000" cy="3024000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16000" y="1026000"/>
            <a:ext cx="5184000" cy="28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⚠️ 두산 플랜지 I/O 극성 — srv 정의 직접 확인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150" b="0">
                <a:solidFill>
                  <a:srgbClr val="15181D"/>
                </a:solidFill>
                <a:latin typeface="Consolas"/>
                <a:ea typeface="Consolas"/>
                <a:cs typeface="Consolas"/>
              </a:rPr>
              <a:t>SetToolDigitalOutput.value   0 = ON,  1 = OFF   ← 반전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Consolas"/>
                <a:ea typeface="Consolas"/>
                <a:cs typeface="Consolas"/>
              </a:rPr>
              <a:t>GetToolDigitalInput.value    0 = OFF, 1 = ON    ← 정상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헷갈리면 밸브가 반대로 동작. DO_ON = 0 상수로 박고 주석</a:t>
            </a:r>
          </a:p>
          <a:p>
            <a:pPr>
              <a:lnSpc>
                <a:spcPct val="118000"/>
              </a:lnSpc>
              <a:spcBef>
                <a:spcPts val="900"/>
              </a:spcBef>
            </a:pPr>
            <a:r>
              <a:rPr sz="12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배관 안전 규약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밸브 A → 그리퍼「S」닫힘 · B → 「O」열림. 솔레노이드 통전 = 닫힘, 무통전 = 스프링 복귀 = 열림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정전·비상정지 시 열려서 큐브를 놓는다. 반대로 꽂으면 쥔 채 멈춤 → 그리퍼 끝면 S/O 각인 확인 필수</a:t>
            </a:r>
          </a:p>
          <a:p>
            <a:pPr>
              <a:lnSpc>
                <a:spcPct val="118000"/>
              </a:lnSpc>
              <a:spcBef>
                <a:spcPts val="900"/>
              </a:spcBef>
            </a:pPr>
            <a:r>
              <a:rPr sz="12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래퍼 노드 (run_node)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policy/gripper (Float32) 구독 → 전이에서만 서비스 호출 → gripper/closed_cmd · closed_real 발행. DO 채널 번호는 결선 후 확정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DO 돌입전류 ≈42 mA vs 채널 한계 50 mA (여유 16%) — 불안하면 릴레이/MOSFET 개재, 매뉴얼 「전류 제한 없음, 초과 시 영구 손상」 경고 포트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v7 수집 방식 — 4안 비교 → 「파지자세 유도 재생」 선택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15 / v7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918000"/>
          <a:ext cx="11472117" cy="20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874"/>
                <a:gridCol w="3151681"/>
                <a:gridCol w="2269210"/>
                <a:gridCol w="3529882"/>
                <a:gridCol w="882470"/>
              </a:tblGrid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장점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문제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직접교시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M1013 을 손으로 끌어 시연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새 동작 다양성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두 손이 팔을 잡아 그리퍼 입력 수단(발판) 필요 · 속도 불균일을 정책이 학습 · 30~50회 시연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보류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v6 궤적 재생 (원안)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v6 궤적 실행 + 실물 영상 기록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궤적 검증 완료 · 속도 일정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큐브를 궤적이 전제한 위치에 mm 단위로 놓아야 함 — 159개 위치 재현 비현실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난점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OMX 리더 원격조종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리더 암을 M1013 에 매핑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숙련된 장치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5축 ↔ 6축 매핑, 11일 안에 불가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✗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스페이스마우스 텔레옵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6DOF 입력 장치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그리퍼 버튼 내장 · 속도 제어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10~20만원 · 배송 · 숙련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△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3420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파지자세 유도 재생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로봇이 파지 자세로 가서 「여기 놓으세요」 → 큐브 놓기 → 시작 자세 복귀 → 재생·기록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자·장비·발판 불필요 · 오차 원리적 0 · 큐브 위치 다양성 = v6 159개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사람 손이 조 사이 → 정지·무압 상태에서만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채택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60000" y="3366000"/>
            <a:ext cx="5616000" cy="2052000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40000" y="3456000"/>
            <a:ext cx="5292000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왜 재생이 목적에 더 맞나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v7 의 진짜 목적: 정책이 OMX 영상으로 학습돼 M1013 화면을 못 알아본다 → 필요한 건 「같은 행동 + 새 영상」 (도메인 적응)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직접교시는 행동까지 바꾼다 — 사람 속도·가속 ≠ 정책이 배운 것 → 이어학습에 혼란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「손목캠에 큐브가 보여야 그쪽으로 가지 않나」 → 맞다. 그래서 큐브 위치가 에피소드마다 달라야 하고, 8 ep 표본만 봐도 파지 위치 산포 93 × 87 mm — (영상, 동작) 쌍이 다양해진다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시연자가 사람이든 스크립트든 기록되는 건 (영상, 동작) 쌍이고 그 대응만 맞으면 된다 — 큐브를 로봇이 잡을 자리에 놓았으니 정확히 맞는다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3366000"/>
            <a:ext cx="5652000" cy="2052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372000" y="3456000"/>
            <a:ext cx="5328000" cy="19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0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에피소드 1개 절차 (replay_v6_real.py)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Consolas"/>
                <a:ea typeface="Consolas"/>
                <a:cs typeface="Consolas"/>
              </a:rPr>
              <a:t>[기록 OFF] ① 파지 프레임 관절로 MoveJoint (조 열림)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Consolas"/>
                <a:ea typeface="Consolas"/>
                <a:cs typeface="Consolas"/>
              </a:rPr>
              <a:t>[기록 OFF] ② 「조 사이에 큐브 놓고 Enter」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Consolas"/>
                <a:ea typeface="Consolas"/>
                <a:cs typeface="Consolas"/>
              </a:rPr>
              <a:t>[기록 OFF] ③ 시작 자세로 MoveJoint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Consolas"/>
                <a:ea typeface="Consolas"/>
                <a:cs typeface="Consolas"/>
              </a:rPr>
              <a:t>[기록 ON ] ④ 카운트다운 → MoveSplineJoint(ASYNC) + 그리퍼 시간축 구동 + 명령값 30 Hz 발행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Consolas"/>
                <a:ea typeface="Consolas"/>
                <a:cs typeface="Consolas"/>
              </a:rPr>
              <a:t>[기록 OFF] ⑤ 큐브 회수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한계는 v6 위치 분포(9×9 cm) 안. 넓히려면 궤적 워핑(파지 전 오프셋 블렌딩) 또는 그때 직접교시 보강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재생 3~5 ep 는 sim/real 영상 나란히 → 도메인 갭 정량화에도 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「더 좋은 방법 있어?」 → 재생 방식의 최대 난점(큐브 위치 재현)을 「로봇이 위치를 알려주게」 로 뒤집은 것이 채택안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v7 도구 체인 — 기록기는 새로 짜지 않았다 (physical_ai_server 재사용)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16 / v7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954000"/>
            <a:ext cx="1764000" cy="900000"/>
          </a:xfrm>
          <a:prstGeom prst="roundRect">
            <a:avLst/>
          </a:prstGeom>
          <a:solidFill>
            <a:srgbClr val="2F3D9E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camera_uvc_node.py ×2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1280×720 → 960×720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→ 640×480 compressed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42000" y="1314000"/>
            <a:ext cx="144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304000" y="954000"/>
            <a:ext cx="1764000" cy="900000"/>
          </a:xfrm>
          <a:prstGeom prst="roundRect">
            <a:avLst/>
          </a:prstGeom>
          <a:solidFill>
            <a:srgbClr val="5B6BD6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replay_v6_real.py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궤적 재생 + 그리퍼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+ /replay/joint_command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86000" y="1314000"/>
            <a:ext cx="144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248000" y="954000"/>
            <a:ext cx="1764000" cy="900000"/>
          </a:xfrm>
          <a:prstGeom prst="roundRect">
            <a:avLst/>
          </a:prstGeom>
          <a:solidFill>
            <a:srgbClr val="5B6BD6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gripper_ctl.py --node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policy/gripper → DO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30000" y="1314000"/>
            <a:ext cx="144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2000" y="954000"/>
            <a:ext cx="1764000" cy="900000"/>
          </a:xfrm>
          <a:prstGeom prst="roundRect">
            <a:avLst/>
          </a:prstGeom>
          <a:solidFill>
            <a:srgbClr val="9A6A00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physical_ai_server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m1013_config.yaml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LeRobot v2.1 기록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974000" y="1314000"/>
            <a:ext cx="144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6000" y="954000"/>
            <a:ext cx="1764000" cy="900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v7 데이터셋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action=명령 · state=실측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camera1·2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918000" y="1314000"/>
            <a:ext cx="144000" cy="180000"/>
          </a:xfrm>
          <a:prstGeom prst="rightArrow">
            <a:avLst/>
          </a:prstGeom>
          <a:solidFill>
            <a:srgbClr val="62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80000" y="954000"/>
            <a:ext cx="1764000" cy="900000"/>
          </a:xfrm>
          <a:prstGeom prst="roundRect">
            <a:avLst/>
          </a:prstGeom>
          <a:solidFill>
            <a:srgbClr val="1F6B4A"/>
          </a:solidFill>
          <a:ln w="9525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21600" bIns="21600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이어학습</a:t>
            </a:r>
          </a:p>
          <a:p>
            <a:pPr algn="ctr"/>
            <a:r>
              <a:rPr sz="8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act_v6_tcp0725 베이스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" y="2142000"/>
            <a:ext cx="5616000" cy="3240000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40000" y="2250000"/>
            <a:ext cx="5292000" cy="30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발견 — OMX 데이터도 이 기록기로 찍었다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physical_ai_server/data_processing/lerobot_dataset_wrapper.py · data_manager.py — LeRobotDataset.create 기반 기록 파이프라인 존재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로봇 타입 = config/&lt;type&gt;_config.yaml 파일명 → m1013_config.yaml 만 넣으면 UI 목록에 자동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▪ 처음에 기록기를 직접 짜려 했다가 확인 후 중단 — 헛수고 회피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25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★ M1013 엔 리더 암이 없다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OMX 는 리더-팔로워: action = 리더 관절, state = 팔로워 실측. 데이터 매니저는 leader_msgs 가 None 이면 action 을 못 만든다.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→ replay_v6_real.py 가 의도한 관절 목표를 /replay/joint_command (JointState) 로 30 Hz 발행해 리더 역할. action = 명령값 = v6 의 action 정의와 동일, state = /joint_states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   /joint_states 를 양쪽에 쓰면 action == state 가 되어 v6 규약(state[t]=action[t−1])과 어긋난다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192000" y="2142000"/>
          <a:ext cx="5651999" cy="211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4288"/>
                <a:gridCol w="3707711"/>
              </a:tblGrid>
              <a:tr h="3528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352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MoveSplineJoint 웨이포인트 100개 제한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600 프레임 → 100 다운샘플, 근사오차 측정 출력 (최대 1.12°, 2° 초과 시 경고)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352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두산 서비스는 도(deg), 데이터는 rad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변환 지점마다 ⚠️ 주석. 놓치면 57배 이동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352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v7 action 은 실측이 아니라 명령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스플라인 근사가 원본과 달라도 데이터엔 무관 (실제 동작이 그대로 남음)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352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시작·종료·예외·Ctrl+C 전부 그리퍼 열림 · MoveStop · --speed 기본 20, 처음 10 권장 · --dry 로 궤적 사전 검증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352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그리퍼 채널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joint_order 7번째 gripper = 0.0(닫힘)/1.0(열림)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카메라 노드는 컨테이너(cv2 4.13 · numpy 1.26)에서 크롭 정확도 검증 — 호스트 cv2 는 numpy 2.x 와 충돌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작업대 — 필요 크기 · 상판 높이 허용오차 · 로봇 설치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17 / 실기 준비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918000"/>
          <a:ext cx="5615999" cy="1511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915"/>
                <a:gridCol w="1808542"/>
                <a:gridCol w="1808542"/>
              </a:tblGrid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159 ep 전수 (베이스 기준)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y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파지 위치 범위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0.708 ~ 0.908 (200)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−0.325 ~ −0.200 (125)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놓기 위치 범위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0.657 ~ 0.878 (220)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−0.278 ~ +0.040 (318)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0.657 ~ 0.908 (251)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−0.325 ~ +0.040 (365)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필요 작업대 (여유 50)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351 → 40 cm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465 → 50 cm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권장 중심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 ≈ 0.78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y ≈ −0.14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92000" y="918000"/>
          <a:ext cx="5651997" cy="1511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4285"/>
                <a:gridCol w="1166285"/>
                <a:gridCol w="1166285"/>
                <a:gridCol w="1525142"/>
              </a:tblGrid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상판 Δ (실물−설계 0.4624)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큐브윗면↔판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조끝↔상판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−15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17.0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22.0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물림 13 부족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−13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15.0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20.0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OK 낮은 쪽 한계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7.0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+2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0.0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5.0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OK 높은 쪽 한계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+3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−1.0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4.0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판이 큐브를 누름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92000" y="2501999"/>
            <a:ext cx="5652000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0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허용 −13 ~ +2 mm — 비대칭. 애매하면 낮게. 측정: 조 끝(플랜지 83)을 상판에 대고 z 읽기, ±2 mm 정밀도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3114000"/>
          <a:ext cx="11472117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3308"/>
                <a:gridCol w="1223692"/>
                <a:gridCol w="7495117"/>
              </a:tblGrid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벗어났을 때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소요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작업대 조정 (최선)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10분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높으면 로봇 베이스에 심 · 낮으면 상판에 판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OFFSET 재변환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6.5초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convert_v6_m1013.py OFFSET[2] += Δ. n_ok 159/159 · min|q5| ≥ 30° 확인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베이스 재학습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2h45m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v7 수집은 재생이라 ②만으로 됨. 베이스 오차는 이어학습이 교정 → 급하지 않음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4230000"/>
          <a:ext cx="11472117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3655"/>
                <a:gridCol w="1988500"/>
                <a:gridCol w="4129962"/>
              </a:tblGrid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로봇 설치 (두산: 베이스 Ø9 ×4 M8 20 N·m, 토크 10배·중량 5배 견디는 면)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min|q5| (IK 20 ep)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상판이 베이스보다 46 cm 위 (설계값)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58.5°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F6B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 — 재변환·재학습 불필요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 cm 위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33.0°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괜찮음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베이스가 작업대에 직접 볼트 (같은 평면)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11.1°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A933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손목 특이점 — J4·J6 폭주 위험. 받침대로 20~46 cm 올릴 것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설치 방식 3안: 베이스 플레이트+클램프 / 별도 스탠드(권장, 높이를 우리가 정함) / 기존 탭 구멍 활용 — 도착 후 작업대를 보고 결정. 절차서 §7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생성 파일 ① — 코드 (전부 /home/kim/m1013/)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산출물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918000"/>
          <a:ext cx="11472117" cy="38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4423"/>
                <a:gridCol w="4048983"/>
                <a:gridCol w="2699322"/>
                <a:gridCol w="2429389"/>
              </a:tblGrid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/ 검증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Consolas"/>
                          <a:ea typeface="Consolas"/>
                          <a:cs typeface="Consolas"/>
                        </a:rPr>
                        <a:t>gripper_ctl.py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히스테리시스+최소유지 · grip-lead · ROS2 DO/DI 래퍼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python3 gripper_ctl.py (selftest) / --node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LEAD_*·DO_INDEX 는 실물에서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Consolas"/>
                          <a:ea typeface="Consolas"/>
                          <a:cs typeface="Consolas"/>
                        </a:rPr>
                        <a:t>measure_grip_lead.py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공압 개폐 지연 실측 → LEAD 권장값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--dry (배선) / -n 20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실압·조임 후 측정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Consolas"/>
                          <a:ea typeface="Consolas"/>
                          <a:cs typeface="Consolas"/>
                        </a:rPr>
                        <a:t>camera_uvc_node.py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U20CAM 1280×720 → 960×720 → 640×480 compressed 발행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--preview / --dev N --name camera1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컨테이너에서 실행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Consolas"/>
                          <a:ea typeface="Consolas"/>
                          <a:cs typeface="Consolas"/>
                        </a:rPr>
                        <a:t>replay_v6_real.py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v7 수집: 파지자세 유도 → 재생 + 그리퍼 + 명령값 30 Hz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--dry (궤적 검증) / --episodes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MoveSplineJoint 100점 · rad→deg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Consolas"/>
                          <a:ea typeface="Consolas"/>
                          <a:cs typeface="Consolas"/>
                        </a:rPr>
                        <a:t>m1013_config.yaml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physical_ai_server 기록기 설정 (leader=/replay/joint_command)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docker cp → config/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키 구조 OMX 와 일치 검증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Consolas"/>
                          <a:ea typeface="Consolas"/>
                          <a:cs typeface="Consolas"/>
                        </a:rPr>
                        <a:t>wristcam_check.py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손목캠 시야 검증 — Isaac 없이 순수 기하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python3 wristcam_check.py 63.4 85.6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★ 검증 정본 (09-11 wristcam_pose.py 와 연동)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Consolas"/>
                          <a:ea typeface="Consolas"/>
                          <a:cs typeface="Consolas"/>
                        </a:rPr>
                        <a:t>wristcam_solve.py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(수정) HFOV 인자화 · place_cam(q) 자세별 DELTA · 저장 비치명화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./python.sh … 85.6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Isaac 렌더용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Consolas"/>
                          <a:ea typeface="Consolas"/>
                          <a:cs typeface="Consolas"/>
                        </a:rPr>
                        <a:t>convert_v6_m1013.py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(수정) JAW_CLEAR 0.007 → TCP 0.0725 + 근거 주석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--out v6_staging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6.5초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Consolas"/>
                          <a:ea typeface="Consolas"/>
                          <a:cs typeface="Consolas"/>
                        </a:rPr>
                        <a:t>prep_replay_ep.py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(수정) 기본 staging → v6_staging + 폐기본 주석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Consolas"/>
                          <a:ea typeface="Consolas"/>
                          <a:cs typeface="Consolas"/>
                        </a:rPr>
                        <a:t>cameras_v6match.json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(추가) camera_hardware 블록 — 기종·크롭별 화각·불일치 기록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fitted 값 미변경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Consolas"/>
                          <a:ea typeface="Consolas"/>
                          <a:cs typeface="Consolas"/>
                        </a:rPr>
                        <a:t>make_install_docx_0908.py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설치절차서 docx 생성기 (§0~7)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python3 make_install_docx_0908.py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LibreOffice 로 PDF 검수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95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Consolas"/>
                          <a:ea typeface="Consolas"/>
                          <a:cs typeface="Consolas"/>
                        </a:rPr>
                        <a:t>make_report_pptx_0909.py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 PPT 생성기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img_0909/ 사용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09-11 갱신: wristcam_pose.py(자세 정본) · 손목캠 브래킷 CAD 생성기 · 3D 뷰어 등이 추가됨 — 본 정리 범위(9/8~9/9) 밖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생성 파일 ② — 문서 · CAD · 데이터 ·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산출물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918000"/>
          <a:ext cx="5759999" cy="18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428"/>
                <a:gridCol w="3620571"/>
              </a:tblGrid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(cad/발주/ · 대화록 및 PPT/)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Consolas"/>
                          <a:ea typeface="Consolas"/>
                          <a:cs typeface="Consolas"/>
                        </a:rPr>
                        <a:t>M1013_그리퍼_설치절차서_20260908.docx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계통도 3종 · 준비물 · 설치 6단계(+5.5 리머) · 컨트롤러 설정 · 확인 항목 · §6 간섭 해결 · §7 작업대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Consolas"/>
                          <a:ea typeface="Consolas"/>
                          <a:cs typeface="Consolas"/>
                        </a:rPr>
                        <a:t>구매목록_20260909.md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 절삭 2 · B 볼트 7 · C 공압 4 · D 전기 · E 카메라+케이블 · F 공구 · G 선택 · 안 사도 되는 것 · 체크리스트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Consolas"/>
                          <a:ea typeface="Consolas"/>
                          <a:cs typeface="Consolas"/>
                        </a:rPr>
                        <a:t>발주서.md (갱신)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볼트 표 3건 정정 · 조립 순서 4번 신설 · 플랜지 검증 블록 · ✅해결 블록 · 공압 확정 블록 · 툴 외형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Consolas"/>
                          <a:ea typeface="Consolas"/>
                          <a:cs typeface="Consolas"/>
                        </a:rPr>
                        <a:t>img_0909/ (10장)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valve_6view · flange_p226 · valve_bracket_section · hysteresis · tcp_tradeoff · hfov_compare · 손목캠 렌더 4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5181D"/>
                          </a:solidFill>
                          <a:latin typeface="Consolas"/>
                          <a:ea typeface="Consolas"/>
                          <a:cs typeface="Consolas"/>
                        </a:rPr>
                        <a:t>대화록/20260908-09_….md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 PPT 와 함께 생성한 상세 대화록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36000" y="918000"/>
          <a:ext cx="5507999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1562"/>
                <a:gridCol w="3356437"/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CAD (cad/)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Consolas"/>
                          <a:ea typeface="Consolas"/>
                          <a:cs typeface="Consolas"/>
                        </a:rPr>
                        <a:t>1_b/ · 2_b/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SY5120-5LOZ-01 STEP AP214 + 6면도 DXF (CADENAS, CC BY-ND)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Consolas"/>
                          <a:ea typeface="Consolas"/>
                          <a:cs typeface="Consolas"/>
                        </a:rPr>
                        <a:t>speed_1/ · speed_2/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AS1201F-M5-04A DXF + STEP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Consolas"/>
                          <a:ea typeface="Consolas"/>
                          <a:cs typeface="Consolas"/>
                        </a:rPr>
                        <a:t>noise_1/ · noise_2/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AN110-01 DXF + STEP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Consolas"/>
                          <a:ea typeface="Consolas"/>
                          <a:cs typeface="Consolas"/>
                        </a:rPr>
                        <a:t>valve_bracket_sy5120.step/.stl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v3 — 카운터싱크 Ø7.0 · 스페이서 6 · 26.19 g · 출력 가능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Consolas"/>
                          <a:ea typeface="Consolas"/>
                          <a:cs typeface="Consolas"/>
                        </a:rPr>
                        <a:t>wristcam_bracket.*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9A6A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09-09 시점 출력 금지 → 09-11 재설계됨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36000" y="2790000"/>
          <a:ext cx="5507999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1562"/>
                <a:gridCol w="3356437"/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· 모델 (컨테이너 physical_ai_server)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Consolas"/>
                          <a:ea typeface="Consolas"/>
                          <a:cs typeface="Consolas"/>
                        </a:rPr>
                        <a:t>v6_staging (=_tcp0725)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현행 변환본 TCP 0.0725 · _tcp0675 · _tcp012 보존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Consolas"/>
                          <a:ea typeface="Consolas"/>
                          <a:cs typeface="Consolas"/>
                        </a:rPr>
                        <a:t>m1013_act_pick_and_place_v6_joint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재조립 159 ep / 76,345 프레임 · 구본 _tcp012_BAK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Consolas"/>
                          <a:ea typeface="Consolas"/>
                          <a:cs typeface="Consolas"/>
                        </a:rPr>
                        <a:t>/root/train_m1013_act_v6_tcp0725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 100K · loss 0.054 · 체크포인트 10개 · 구 train_m1013_act_v6 보존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2808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Consolas"/>
                          <a:ea typeface="Consolas"/>
                          <a:cs typeface="Consolas"/>
                        </a:rPr>
                        <a:t>/workspace/v6_staging_m1013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조립용 반입본 (docker cp)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3222000"/>
            <a:ext cx="5760000" cy="2015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메모리 (세션 간 지식)</a:t>
            </a:r>
          </a:p>
          <a:p>
            <a:pPr>
              <a:lnSpc>
                <a:spcPct val="118000"/>
              </a:lnSpc>
              <a:spcBef>
                <a:spcPts val="3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m1013-sy5120-valve-cad — M3 옆면 확정 · 스페이서 · 어댑터 STEP Z 뒤집힘 함정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m1013-gripper-connection-verified — 로봇 플랜지까지 검증 완료, 미검증 0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m1013-step5-cameras — U20CAM 확정 · 85.6° · DELTA 버그 · wristcam_check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m1013-tcp-grasp-point — 0.0725 · 3세대 정리 · 기본값 지뢰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200" b="1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별도 세션 산출물 (같은 날, 본 대화 밖)</a:t>
            </a:r>
          </a:p>
          <a:p>
            <a:pPr>
              <a:lnSpc>
                <a:spcPct val="118000"/>
              </a:lnSpc>
              <a:spcBef>
                <a:spcPts val="300"/>
              </a:spcBef>
            </a:pPr>
            <a:r>
              <a:rPr sz="10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M1013_연구방향_20260909.docx · 업무보고_20260909.md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구본 파일은 하나도 삭제하지 않았다 — git · _BAK · _tcp012 로 전부 되돌릴 수 있음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현재 상황 — 어디까지 왔나 (09-09 종료 + 09-11 갱신 반영)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현황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0000" y="954000"/>
            <a:ext cx="3780000" cy="298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04000" y="1097999"/>
            <a:ext cx="3491999" cy="342000"/>
          </a:xfrm>
          <a:prstGeom prst="roundRect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000" y="1566000"/>
            <a:ext cx="3491999" cy="22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어댑터·핑거 설계 (미검증 0)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밸브 브래킷 v3 (출력 가능)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TCP 0.0725 · 재변환 · 재학습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카메라 기종·화각·크롭 파이프라인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소프트웨어 3종 + v7 도구 5종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구매목록 · 설치절차서 · 발주서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48000" y="954000"/>
            <a:ext cx="3780000" cy="2988000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4392000" y="1097999"/>
            <a:ext cx="3491999" cy="342000"/>
          </a:xfrm>
          <a:prstGeom prst="roundRect">
            <a:avLst/>
          </a:prstGeom>
          <a:solidFill>
            <a:srgbClr val="9A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진행 / 대기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0000" y="1566000"/>
            <a:ext cx="3491999" cy="22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절삭 외주 2건 — 발주 필요 ★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재고품 B~F 주문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밸브 뗄 때 확인 4건 (소음기 각인 · S/O 각인 · 튜브 굵기 · 코일호스 끝단)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손목캠 브래킷 — 09-11 재설계·위치 변경 (0,−65,−10)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작업대 규격·높이 (도착 후)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6000" y="954000"/>
            <a:ext cx="3780000" cy="298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280000" y="1097999"/>
            <a:ext cx="3491999" cy="342000"/>
          </a:xfrm>
          <a:prstGeom prst="roundRect">
            <a:avLst/>
          </a:prstGeom>
          <a:solidFill>
            <a:srgbClr val="A933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미착수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8000" y="1566000"/>
            <a:ext cx="3491999" cy="22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v7 수집 실행 (로봇 필요)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grip-lead 실측 (벤치)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Isaac 씬 툴 외형 갱신 (X −71~+94.5, 밸브 포함 STL)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Tool Weight·CoG 재산정 (손목캠 확정 후)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DO 릴레이 개재 결정</a:t>
            </a:r>
          </a:p>
          <a:p>
            <a:pPr>
              <a:lnSpc>
                <a:spcPct val="118000"/>
              </a:lnSpc>
              <a:spcBef>
                <a:spcPts val="6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시뮬 정면캠 재정합 — 후순위로 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00" y="4086000"/>
            <a:ext cx="11472119" cy="126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0000" y="4194000"/>
            <a:ext cx="11112119" cy="11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50" b="1">
                <a:solidFill>
                  <a:srgbClr val="A9331D"/>
                </a:solidFill>
                <a:latin typeface="맑은 고딕"/>
                <a:ea typeface="맑은 고딕"/>
                <a:cs typeface="맑은 고딕"/>
              </a:rPr>
              <a:t>★ 09-11 갱신 (이 정리 범위 밖이지만 현재 상태에 영향)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로봇 도착 9/20 → 9/14 로 앞당겨짐. 절삭 외주 금구가 로봇보다 늦는 것이 새 병목 — 발주가 급하다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손목캠 위치가 (60,−75,5) → 그리퍼 중앙 (0,−65,−10), 보드 세로 장착으로 변경. 자세 정본 wristcam_pose.py. 어댑터 clearance 확대·손목캠 브래킷 재설계·3D 뷰어 추가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5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▪ 따라서 본 PPT 의 손목캠 좌표(60,−75,5)·브래킷 「출력 금지」 서술은 09-09 시점 기록 — 최신은 git 6649bcc 이후 참조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메모리 m1013-robot-arrival-plan · m1013-step5-cameras 최신본 기준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할 것 · 고려해야 할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다음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918000"/>
          <a:ext cx="5831999" cy="18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7492"/>
                <a:gridCol w="3742925"/>
                <a:gridCol w="1131582"/>
              </a:tblGrid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할 것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막는 것</a:t>
                      </a:r>
                    </a:p>
                  </a:txBody>
                  <a:tcPr marL="64800" marR="64800" marT="10800" marB="10800" anchor="ctr">
                    <a:solidFill>
                      <a:srgbClr val="2F3D9E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지금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어댑터·핑거 절삭 발주 (cad/발주/어댑터, 핑거 STEP+DXF+발주서 본문)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 ★ 리드타임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지금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구매목록 A~F 주문 · 밸브 브래킷 PETG 출력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부품 도착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벤치 배관 → 압력·방향·스피드컨트롤러 조임 → measure_grip_lead → LEAD 값 반영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부품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로봇 도착 (9/14)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작업대 규격·높이 측정 → 허용 −13~+2 확인 → 설치 방식 결정 → 어댑터 가조립 → Ø6 현장 리머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로봇</a:t>
                      </a:r>
                    </a:p>
                  </a:txBody>
                  <a:tcPr marL="64800" marR="64800" marT="10800" marB="10800" anchor="ctr">
                    <a:solidFill>
                      <a:srgbClr val="EDEFF3"/>
                    </a:solidFill>
                  </a:tcPr>
                </a:tc>
              </a:tr>
              <a:tr h="3096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도착 후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저속 1 ep 재생(--speed 10) → v7 30~50 ep → 이어학습 → 실기 추론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5181D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 전부</a:t>
                      </a:r>
                    </a:p>
                  </a:txBody>
                  <a:tcPr marL="64800" marR="64800" marT="10800" marB="1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8000" y="918000"/>
            <a:ext cx="5436000" cy="4428000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8000" y="1026000"/>
            <a:ext cx="5112000" cy="428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300" b="1">
                <a:solidFill>
                  <a:srgbClr val="9A6A00"/>
                </a:solidFill>
                <a:latin typeface="맑은 고딕"/>
                <a:ea typeface="맑은 고딕"/>
                <a:cs typeface="맑은 고딕"/>
              </a:rPr>
              <a:t>고려해야 할 것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절삭 외주가 로봇보다 늦으면 → 핑거는 PETG 시제품으로 먼저 끼워 v7 을 찍을 수 있는지 검토 (강성·마모 리스크). 어댑터는 대체 불가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클로킹은 X1/X2 커넥터가 어댑터 짧은 변(±Y)으로 오게 — 긴 변 쪽이면 반경 41.5 커넥터가 판 밑 28 mm 에 묻혀 M8 케이블 굽힘이 빠듯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작업대 높이가 설계보다 높으면 +2 mm 밖에 여유가 없다 — 애매하면 낮게. 로봇을 작업대에 직접 볼트하면 min|q5| 11° 로 손목 폭주 위험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v7 ② 단계에서 사람 손이 조 사이 — 정지 확인·무압·원격 시작. 처음엔 --speed 10 한 에피소드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PETG 브래킷 크리프 → 록타이트 243 또는 M3 0.3 N·m. 인쇄 방향은 축력이 압축이 되는 쪽(문제 없음)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DO 돌입 42 mA/50 mA — 릴레이 개재 여부를 결선 전에 결정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손목캠은 09-11 위치 기준으로 wristcam_check 재실행 필요 (본 PPT 수치는 09-09 위치)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Tool Weight ≈1.30 kg + 카메라, CoG +Y 이동 — 조립 후 실측·컨트롤러 갱신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데이터셋 메타(robot_type omx_f, state names EE) 는 v7 설정에서 정정 — 학습엔 무해하나 오독 유발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1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▪ 이어학습 베이스는 train_m1013_act_v6_tcp0725. 구 train_m1013_act_v6 (0.12) 를 쓰면 47.5 mm 편향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진짜 병목 순서: 절삭 발주 → 로봇 도착 → 작업대 확정 → v7. 소프트웨어는 더 이상 병목이 아니다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30000"/>
          </a:xfrm>
          <a:prstGeom prst="rect">
            <a:avLst/>
          </a:prstGeom>
          <a:solidFill>
            <a:srgbClr val="2F3D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42000"/>
          <a:lstStyle/>
          <a:p>
            <a:pPr algn="ctr"/>
            <a:r>
              <a:rPr sz="1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링크 · 참조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08119" y="151200"/>
            <a:ext cx="3060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>
                <a:solidFill>
                  <a:srgbClr val="C5CCF2"/>
                </a:solidFill>
                <a:latin typeface="맑은 고딕"/>
                <a:ea typeface="맑은 고딕"/>
                <a:cs typeface="맑은 고딕"/>
              </a:rPr>
              <a:t>참조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954000"/>
            <a:ext cx="11472119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SMC PARTcommunity (CADENAS) — SY5120·AS1201F·AN110 CAD 입수처</a:t>
            </a:r>
          </a:p>
          <a:p>
            <a:pPr>
              <a:lnSpc>
                <a:spcPct val="118000"/>
              </a:lnSpc>
              <a:spcBef>
                <a:spcPts val="100"/>
              </a:spcBef>
            </a:pPr>
            <a:r>
              <a:rPr sz="1000" b="0">
                <a:solidFill>
                  <a:srgbClr val="5B6BD6"/>
                </a:solidFill>
                <a:latin typeface="Consolas"/>
                <a:ea typeface="Consolas"/>
                <a:cs typeface="Consolas"/>
                <a:hlinkClick r:id="rId2"/>
              </a:rPr>
              <a:t>https://smc.partcommunity.com/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296000"/>
            <a:ext cx="11472119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SMC SY3000/5000/7000/9000 Body Ported 카탈로그 PDF — p.7~9 SY5000 치수, 2-M3 22.6 · 2-ø3.2 36×11.6</a:t>
            </a:r>
          </a:p>
          <a:p>
            <a:pPr>
              <a:lnSpc>
                <a:spcPct val="118000"/>
              </a:lnSpc>
              <a:spcBef>
                <a:spcPts val="100"/>
              </a:spcBef>
            </a:pPr>
            <a:r>
              <a:rPr sz="1000" b="0">
                <a:solidFill>
                  <a:srgbClr val="5B6BD6"/>
                </a:solidFill>
                <a:latin typeface="Consolas"/>
                <a:ea typeface="Consolas"/>
                <a:cs typeface="Consolas"/>
                <a:hlinkClick r:id="rId3"/>
              </a:rPr>
              <a:t>https://content2.smcetech.com/pdf/SY5000.pdf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638000"/>
            <a:ext cx="11472119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SMC AS 시리즈 엘보 스피드컨트롤러 카탈로그 — AS1201F-M5-04A 치수 A 23.5</a:t>
            </a:r>
          </a:p>
          <a:p>
            <a:pPr>
              <a:lnSpc>
                <a:spcPct val="118000"/>
              </a:lnSpc>
              <a:spcBef>
                <a:spcPts val="100"/>
              </a:spcBef>
            </a:pPr>
            <a:r>
              <a:rPr sz="1000" b="0">
                <a:solidFill>
                  <a:srgbClr val="5B6BD6"/>
                </a:solidFill>
                <a:latin typeface="Consolas"/>
                <a:ea typeface="Consolas"/>
                <a:cs typeface="Consolas"/>
                <a:hlinkClick r:id="rId4"/>
              </a:rPr>
              <a:t>https://content2.smcetech.com/pdf/AS_1F-A_EU.pdf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980000"/>
            <a:ext cx="11472119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MISUMI SY5120-5LOZ-01 (한국) — CAD 다운로드 대안</a:t>
            </a:r>
          </a:p>
          <a:p>
            <a:pPr>
              <a:lnSpc>
                <a:spcPct val="118000"/>
              </a:lnSpc>
              <a:spcBef>
                <a:spcPts val="100"/>
              </a:spcBef>
            </a:pPr>
            <a:r>
              <a:rPr sz="1000" b="0">
                <a:solidFill>
                  <a:srgbClr val="5B6BD6"/>
                </a:solidFill>
                <a:latin typeface="Consolas"/>
                <a:ea typeface="Consolas"/>
                <a:cs typeface="Consolas"/>
                <a:hlinkClick r:id="rId5"/>
              </a:rPr>
              <a:t>https://kr.misumi-ec.com/vona2/detail/221300029672/?HissuCode=SY5120-5LOZ-01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2322000"/>
            <a:ext cx="11472119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INNOMAKER U20CAM-720P — 32×32 · Ø2.2 ×4 · M12 · FOV D120/H102</a:t>
            </a:r>
          </a:p>
          <a:p>
            <a:pPr>
              <a:lnSpc>
                <a:spcPct val="118000"/>
              </a:lnSpc>
              <a:spcBef>
                <a:spcPts val="100"/>
              </a:spcBef>
            </a:pPr>
            <a:r>
              <a:rPr sz="1000" b="0">
                <a:solidFill>
                  <a:srgbClr val="5B6BD6"/>
                </a:solidFill>
                <a:latin typeface="Consolas"/>
                <a:ea typeface="Consolas"/>
                <a:cs typeface="Consolas"/>
                <a:hlinkClick r:id="rId6"/>
              </a:rPr>
              <a:t>https://www.inno-maker.com/product/u20cam-720p/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2664000"/>
            <a:ext cx="11472119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ISO 10642 M3 접시머리 치수 (dk 이론최대 6.72) — 카운터싱크 Ø7.0 근거</a:t>
            </a:r>
          </a:p>
          <a:p>
            <a:pPr>
              <a:lnSpc>
                <a:spcPct val="118000"/>
              </a:lnSpc>
              <a:spcBef>
                <a:spcPts val="100"/>
              </a:spcBef>
            </a:pPr>
            <a:r>
              <a:rPr sz="1000" b="0">
                <a:solidFill>
                  <a:srgbClr val="5B6BD6"/>
                </a:solidFill>
                <a:latin typeface="Consolas"/>
                <a:ea typeface="Consolas"/>
                <a:cs typeface="Consolas"/>
                <a:hlinkClick r:id="rId7"/>
              </a:rPr>
              <a:t>https://fullerfasteners.com/tech/iso-10642-specifications-hex-socket-countersunk-head-screws/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3006000"/>
            <a:ext cx="11472119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AS1201F-M5-04 가격 — RS Korea ₩16,394/개</a:t>
            </a:r>
          </a:p>
          <a:p>
            <a:pPr>
              <a:lnSpc>
                <a:spcPct val="118000"/>
              </a:lnSpc>
              <a:spcBef>
                <a:spcPts val="100"/>
              </a:spcBef>
            </a:pPr>
            <a:r>
              <a:rPr sz="1000" b="0">
                <a:solidFill>
                  <a:srgbClr val="5B6BD6"/>
                </a:solidFill>
                <a:latin typeface="Consolas"/>
                <a:ea typeface="Consolas"/>
                <a:cs typeface="Consolas"/>
                <a:hlinkClick r:id="rId8"/>
              </a:rPr>
              <a:t>https://us.rs-online.com/product/smc-corporation/sy5120-5loz-01t/70073782/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3348000"/>
            <a:ext cx="11472119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150" b="0">
                <a:solidFill>
                  <a:srgbClr val="15181D"/>
                </a:solidFill>
                <a:latin typeface="맑은 고딕"/>
                <a:ea typeface="맑은 고딕"/>
                <a:cs typeface="맑은 고딕"/>
              </a:rPr>
              <a:t>tx90 GitHub (비공개) — run_policy_tx90.py 그리퍼 규약 원본</a:t>
            </a:r>
          </a:p>
          <a:p>
            <a:pPr>
              <a:lnSpc>
                <a:spcPct val="118000"/>
              </a:lnSpc>
              <a:spcBef>
                <a:spcPts val="100"/>
              </a:spcBef>
            </a:pPr>
            <a:r>
              <a:rPr sz="1000" b="0">
                <a:solidFill>
                  <a:srgbClr val="5B6BD6"/>
                </a:solidFill>
                <a:latin typeface="Consolas"/>
                <a:ea typeface="Consolas"/>
                <a:cs typeface="Consolas"/>
                <a:hlinkClick r:id="rId9"/>
              </a:rPr>
              <a:t>https://github.com/dlcodnjs817/tx90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0000" y="3797999"/>
            <a:ext cx="11472119" cy="1548000"/>
          </a:xfrm>
          <a:prstGeom prst="roundRect">
            <a:avLst>
              <a:gd name="adj" fmla="val 3000"/>
            </a:avLst>
          </a:prstGeom>
          <a:solidFill>
            <a:srgbClr val="EDEFF3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0000" y="3906000"/>
            <a:ext cx="11112119" cy="140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Bef>
                <a:spcPts val="0"/>
              </a:spcBef>
            </a:pPr>
            <a:r>
              <a:rPr sz="1250" b="1">
                <a:solidFill>
                  <a:srgbClr val="2F3D9E"/>
                </a:solidFill>
                <a:latin typeface="맑은 고딕"/>
                <a:ea typeface="맑은 고딕"/>
                <a:cs typeface="맑은 고딕"/>
              </a:rPr>
              <a:t>로컬 참조 (/home/kim/m1013/)</a:t>
            </a:r>
          </a:p>
          <a:p>
            <a:pPr>
              <a:lnSpc>
                <a:spcPct val="118000"/>
              </a:lnSpc>
              <a:spcBef>
                <a:spcPts val="400"/>
              </a:spcBef>
            </a:pPr>
            <a:r>
              <a:rPr sz="1100" b="0">
                <a:solidFill>
                  <a:srgbClr val="15181D"/>
                </a:solidFill>
                <a:latin typeface="Consolas"/>
                <a:ea typeface="Consolas"/>
                <a:cs typeface="Consolas"/>
              </a:rPr>
              <a:t>Doosan_Robotics_User_Manual_V2.12_v2.12_KR(MH-Series).pdf — p.100 베이스 고정 · p.217 로봇 고정·베이스 도면 · p.226 툴 플랜지 치수 도면 ★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Consolas"/>
                <a:ea typeface="Consolas"/>
                <a:cs typeface="Consolas"/>
              </a:rPr>
              <a:t>doosan-robot2/dsr_msgs2/srv/io/SetToolDigitalOutput.srv · GetToolDigitalInput.srv — DO/DI 극성 원본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Consolas"/>
                <a:ea typeface="Consolas"/>
                <a:cs typeface="Consolas"/>
              </a:rPr>
              <a:t>doosan-robot2/dsr_description2/meshes/m1013_collision/MF1013_6_0.dae — link_6 (translate −0.712,−1.363,−26.185 적용 시 Z max = 0 = 플랜지 면)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Consolas"/>
                <a:ea typeface="Consolas"/>
                <a:cs typeface="Consolas"/>
              </a:rPr>
              <a:t>physical_ai_tools/physical_ai_server/config/omx_f_config.yaml — 기록기 설정 원형 · data_processing/data_manager.py — state/action 조립 로직</a:t>
            </a:r>
          </a:p>
          <a:p>
            <a:pPr>
              <a:lnSpc>
                <a:spcPct val="118000"/>
              </a:lnSpc>
              <a:spcBef>
                <a:spcPts val="500"/>
              </a:spcBef>
            </a:pPr>
            <a:r>
              <a:rPr sz="1100" b="0">
                <a:solidFill>
                  <a:srgbClr val="15181D"/>
                </a:solidFill>
                <a:latin typeface="Consolas"/>
                <a:ea typeface="Consolas"/>
                <a:cs typeface="Consolas"/>
              </a:rPr>
              <a:t>대화록: 대화록 및 PPT/대화록/20260908-09_*.md · 이전: 20260906_*.md · 20260907_*.md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6562800"/>
            <a:ext cx="1147211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26B78"/>
                </a:solidFill>
                <a:latin typeface="맑은 고딕"/>
                <a:ea typeface="맑은 고딕"/>
                <a:cs typeface="맑은 고딕"/>
              </a:rPr>
              <a:t>PPT 생성: make_report_pptx_0909.py · 이미지: 대화록 및 PPT/img_0909/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